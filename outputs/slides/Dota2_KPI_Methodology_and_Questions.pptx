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6.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slides/charts/chart7.xml" ContentType="application/vnd.openxmlformats-officedocument.drawingml.chart+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slides/charts/chart8.xml" ContentType="application/vnd.openxmlformats-officedocument.drawingml.chart+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slides/charts/chart9.xml" ContentType="application/vnd.openxmlformats-officedocument.drawingml.chart+xml"/>
  <Override PartName="/ppt/notesSlides/notesSlide42.xml" ContentType="application/vnd.openxmlformats-officedocument.presentationml.notesSlide+xml"/>
  <Override PartName="/ppt/slides/slide43.xml" ContentType="application/vnd.openxmlformats-officedocument.presentationml.slide+xml"/>
  <Override PartName="/ppt/slides/charts/chart10.xml" ContentType="application/vnd.openxmlformats-officedocument.drawingml.chart+xml"/>
  <Override PartName="/ppt/notesSlides/notesSlide43.xml" ContentType="application/vnd.openxmlformats-officedocument.presentationml.notesSlide+xml"/>
  <Override PartName="/ppt/slides/slide44.xml" ContentType="application/vnd.openxmlformats-officedocument.presentationml.slide+xml"/>
  <Override PartName="/ppt/slides/charts/chart11.xml" ContentType="application/vnd.openxmlformats-officedocument.drawingml.chart+xml"/>
  <Override PartName="/ppt/notesSlides/notesSlide44.xml" ContentType="application/vnd.openxmlformats-officedocument.presentationml.notesSlide+xml"/>
  <Override PartName="/ppt/slides/slide45.xml" ContentType="application/vnd.openxmlformats-officedocument.presentationml.slide+xml"/>
  <Override PartName="/ppt/slides/charts/chart12.xml" ContentType="application/vnd.openxmlformats-officedocument.drawingml.chart+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slides/charts/chart13.xml" ContentType="application/vnd.openxmlformats-officedocument.drawingml.chart+xml"/>
  <Override PartName="/ppt/notesSlides/notesSlide47.xml" ContentType="application/vnd.openxmlformats-officedocument.presentationml.notesSlide+xml"/>
  <Override PartName="/ppt/slides/slide48.xml" ContentType="application/vnd.openxmlformats-officedocument.presentationml.slide+xml"/>
  <Override PartName="/ppt/slides/charts/chart14.xml" ContentType="application/vnd.openxmlformats-officedocument.drawingml.chart+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slides/charts/chart15.xml" ContentType="application/vnd.openxmlformats-officedocument.drawingml.chart+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slides/charts/chart16.xml" ContentType="application/vnd.openxmlformats-officedocument.drawingml.chart+xml"/>
  <Override PartName="/ppt/notesSlides/notesSlide54.xml" ContentType="application/vnd.openxmlformats-officedocument.presentationml.notesSlide+xml"/>
  <Override PartName="/ppt/slides/slide55.xml" ContentType="application/vnd.openxmlformats-officedocument.presentationml.slide+xml"/>
  <Override PartName="/ppt/slides/charts/chart17.xml" ContentType="application/vnd.openxmlformats-officedocument.drawingml.chart+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slides/charts/chart18.xml" ContentType="application/vnd.openxmlformats-officedocument.drawingml.chart+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slides/charts/chart19.xml" ContentType="application/vnd.openxmlformats-officedocument.drawingml.chart+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5e85c4dc147483b" /><Relationship Type="http://schemas.openxmlformats.org/officeDocument/2006/relationships/extended-properties" Target="/docProps/app.xml" Id="R53849d8bf3d6403e" /><Relationship Type="http://schemas.openxmlformats.org/officeDocument/2006/relationships/officeDocument" Target="/ppt/presentation.xml" Id="Rfb2a715533344c87" /></Relationships>
</file>

<file path=ppt/presentation.xml><?xml version="1.0" encoding="utf-8"?>
<p:presentation xmlns:p="http://schemas.openxmlformats.org/presentationml/2006/main">
  <p:sldMasterIdLst>
    <p:sldMasterId xmlns:r="http://schemas.openxmlformats.org/officeDocument/2006/relationships" id="2147483648" r:id="R3b8a4f02ba4448f6"/>
  </p:sldMasterIdLst>
  <p:notesMasterIdLst>
    <p:notesMasterId xmlns:r="http://schemas.openxmlformats.org/officeDocument/2006/relationships" r:id="R015c6e2393f84658"/>
  </p:notesMasterIdLst>
  <p:sldIdLst>
    <p:sldId xmlns:r="http://schemas.openxmlformats.org/officeDocument/2006/relationships" id="256" r:id="Rf8011bfdf5a44fd7"/>
    <p:sldId xmlns:r="http://schemas.openxmlformats.org/officeDocument/2006/relationships" id="257" r:id="R319da7ddb4f847b1"/>
    <p:sldId xmlns:r="http://schemas.openxmlformats.org/officeDocument/2006/relationships" id="258" r:id="R40ec110521ff4e74"/>
    <p:sldId xmlns:r="http://schemas.openxmlformats.org/officeDocument/2006/relationships" id="259" r:id="R65824541dc634cfb"/>
    <p:sldId xmlns:r="http://schemas.openxmlformats.org/officeDocument/2006/relationships" id="260" r:id="R53f5a20fc7a8453f"/>
    <p:sldId xmlns:r="http://schemas.openxmlformats.org/officeDocument/2006/relationships" id="261" r:id="Red861381b19646e4"/>
    <p:sldId xmlns:r="http://schemas.openxmlformats.org/officeDocument/2006/relationships" id="262" r:id="R471c01df492b434a"/>
    <p:sldId xmlns:r="http://schemas.openxmlformats.org/officeDocument/2006/relationships" id="263" r:id="Rbe5efeed9d5f43df"/>
    <p:sldId xmlns:r="http://schemas.openxmlformats.org/officeDocument/2006/relationships" id="264" r:id="Ra892f5375fcd4a59"/>
    <p:sldId xmlns:r="http://schemas.openxmlformats.org/officeDocument/2006/relationships" id="265" r:id="R6b83d89cae784d05"/>
    <p:sldId xmlns:r="http://schemas.openxmlformats.org/officeDocument/2006/relationships" id="266" r:id="Rabeaf73cde034dd0"/>
    <p:sldId xmlns:r="http://schemas.openxmlformats.org/officeDocument/2006/relationships" id="267" r:id="R4f2bc3276ce943b3"/>
    <p:sldId xmlns:r="http://schemas.openxmlformats.org/officeDocument/2006/relationships" id="268" r:id="Rcebd915580f74598"/>
    <p:sldId xmlns:r="http://schemas.openxmlformats.org/officeDocument/2006/relationships" id="269" r:id="Ra1c2c38195964dfa"/>
    <p:sldId xmlns:r="http://schemas.openxmlformats.org/officeDocument/2006/relationships" id="270" r:id="R72d8583ea9874e8e"/>
    <p:sldId xmlns:r="http://schemas.openxmlformats.org/officeDocument/2006/relationships" id="271" r:id="Rbf210e925d074ac8"/>
    <p:sldId xmlns:r="http://schemas.openxmlformats.org/officeDocument/2006/relationships" id="272" r:id="R64eab4ac339143d6"/>
    <p:sldId xmlns:r="http://schemas.openxmlformats.org/officeDocument/2006/relationships" id="273" r:id="R3ca56066f9ee4654"/>
    <p:sldId xmlns:r="http://schemas.openxmlformats.org/officeDocument/2006/relationships" id="274" r:id="R21e63afaba35425c"/>
    <p:sldId xmlns:r="http://schemas.openxmlformats.org/officeDocument/2006/relationships" id="275" r:id="Rea3174769ae84560"/>
    <p:sldId xmlns:r="http://schemas.openxmlformats.org/officeDocument/2006/relationships" id="276" r:id="R4f81d5a56c8644a9"/>
    <p:sldId xmlns:r="http://schemas.openxmlformats.org/officeDocument/2006/relationships" id="277" r:id="Raeba41c73bbe454e"/>
    <p:sldId xmlns:r="http://schemas.openxmlformats.org/officeDocument/2006/relationships" id="278" r:id="Ra18f1d6c6a044e48"/>
    <p:sldId xmlns:r="http://schemas.openxmlformats.org/officeDocument/2006/relationships" id="279" r:id="R449a88521d3748cd"/>
    <p:sldId xmlns:r="http://schemas.openxmlformats.org/officeDocument/2006/relationships" id="280" r:id="R27ff189fdb874967"/>
    <p:sldId xmlns:r="http://schemas.openxmlformats.org/officeDocument/2006/relationships" id="281" r:id="Rd94d4cca51f24a5b"/>
    <p:sldId xmlns:r="http://schemas.openxmlformats.org/officeDocument/2006/relationships" id="282" r:id="R42889ed572454089"/>
    <p:sldId xmlns:r="http://schemas.openxmlformats.org/officeDocument/2006/relationships" id="283" r:id="R925cc4203a714054"/>
    <p:sldId xmlns:r="http://schemas.openxmlformats.org/officeDocument/2006/relationships" id="284" r:id="R067bcc83282c4a25"/>
    <p:sldId xmlns:r="http://schemas.openxmlformats.org/officeDocument/2006/relationships" id="285" r:id="Rc302ec3b0c8d48a7"/>
    <p:sldId xmlns:r="http://schemas.openxmlformats.org/officeDocument/2006/relationships" id="286" r:id="R8aa186c7e76249cb"/>
    <p:sldId xmlns:r="http://schemas.openxmlformats.org/officeDocument/2006/relationships" id="287" r:id="R51dacba862bf4308"/>
    <p:sldId xmlns:r="http://schemas.openxmlformats.org/officeDocument/2006/relationships" id="288" r:id="R10b121fcb7c940e2"/>
    <p:sldId xmlns:r="http://schemas.openxmlformats.org/officeDocument/2006/relationships" id="289" r:id="R66d7c603643d4dcf"/>
    <p:sldId xmlns:r="http://schemas.openxmlformats.org/officeDocument/2006/relationships" id="290" r:id="R607d7fb2f6fb4da1"/>
    <p:sldId xmlns:r="http://schemas.openxmlformats.org/officeDocument/2006/relationships" id="291" r:id="R107a5800b0874684"/>
    <p:sldId xmlns:r="http://schemas.openxmlformats.org/officeDocument/2006/relationships" id="292" r:id="Ra2c2bf256d9a4d94"/>
    <p:sldId xmlns:r="http://schemas.openxmlformats.org/officeDocument/2006/relationships" id="293" r:id="R272d9d10bf22421c"/>
    <p:sldId xmlns:r="http://schemas.openxmlformats.org/officeDocument/2006/relationships" id="294" r:id="Re9a022e707624798"/>
    <p:sldId xmlns:r="http://schemas.openxmlformats.org/officeDocument/2006/relationships" id="295" r:id="R66427fe6d3904eb2"/>
    <p:sldId xmlns:r="http://schemas.openxmlformats.org/officeDocument/2006/relationships" id="296" r:id="Ree4e275d03e845b1"/>
    <p:sldId xmlns:r="http://schemas.openxmlformats.org/officeDocument/2006/relationships" id="297" r:id="R9c542a17714f4432"/>
    <p:sldId xmlns:r="http://schemas.openxmlformats.org/officeDocument/2006/relationships" id="298" r:id="R925283743e7e4e11"/>
    <p:sldId xmlns:r="http://schemas.openxmlformats.org/officeDocument/2006/relationships" id="299" r:id="R26f9f0a7c6c9494a"/>
    <p:sldId xmlns:r="http://schemas.openxmlformats.org/officeDocument/2006/relationships" id="300" r:id="R6be56a2d83804683"/>
    <p:sldId xmlns:r="http://schemas.openxmlformats.org/officeDocument/2006/relationships" id="301" r:id="R872015f28ced43b3"/>
    <p:sldId xmlns:r="http://schemas.openxmlformats.org/officeDocument/2006/relationships" id="302" r:id="Rfa8131fb706e4b03"/>
    <p:sldId xmlns:r="http://schemas.openxmlformats.org/officeDocument/2006/relationships" id="303" r:id="Rdcfb14ca26f14175"/>
    <p:sldId xmlns:r="http://schemas.openxmlformats.org/officeDocument/2006/relationships" id="304" r:id="R0c6b3ae4dd59485f"/>
    <p:sldId xmlns:r="http://schemas.openxmlformats.org/officeDocument/2006/relationships" id="305" r:id="R56c3cc7b0ad14615"/>
    <p:sldId xmlns:r="http://schemas.openxmlformats.org/officeDocument/2006/relationships" id="306" r:id="R9c6dabe335e04d74"/>
    <p:sldId xmlns:r="http://schemas.openxmlformats.org/officeDocument/2006/relationships" id="307" r:id="Rc97d98415db144e1"/>
    <p:sldId xmlns:r="http://schemas.openxmlformats.org/officeDocument/2006/relationships" id="308" r:id="R0d492fa88b4a40c1"/>
    <p:sldId xmlns:r="http://schemas.openxmlformats.org/officeDocument/2006/relationships" id="309" r:id="Rabc0e8f087ff4088"/>
    <p:sldId xmlns:r="http://schemas.openxmlformats.org/officeDocument/2006/relationships" id="310" r:id="R865835f53eba4b15"/>
    <p:sldId xmlns:r="http://schemas.openxmlformats.org/officeDocument/2006/relationships" id="311" r:id="Rc2e3bddefa144232"/>
    <p:sldId xmlns:r="http://schemas.openxmlformats.org/officeDocument/2006/relationships" id="312" r:id="R3ecf8834f8874dda"/>
    <p:sldId xmlns:r="http://schemas.openxmlformats.org/officeDocument/2006/relationships" id="313" r:id="Rd7284fa0c7ff4e3a"/>
    <p:sldId xmlns:r="http://schemas.openxmlformats.org/officeDocument/2006/relationships" id="314" r:id="R0db5157645ce4ad1"/>
    <p:sldId xmlns:r="http://schemas.openxmlformats.org/officeDocument/2006/relationships" id="315" r:id="Rac123fc6664042a1"/>
    <p:sldId xmlns:r="http://schemas.openxmlformats.org/officeDocument/2006/relationships" id="316" r:id="Rf6132ea8e750481a"/>
    <p:sldId xmlns:r="http://schemas.openxmlformats.org/officeDocument/2006/relationships" id="317" r:id="R5222ada566514f15"/>
    <p:sldId xmlns:r="http://schemas.openxmlformats.org/officeDocument/2006/relationships" id="318" r:id="R2f07af20aead474b"/>
    <p:sldId xmlns:r="http://schemas.openxmlformats.org/officeDocument/2006/relationships" id="319" r:id="R15f9ca0084a945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9223fa55444dc8" /><Relationship Type="http://schemas.openxmlformats.org/officeDocument/2006/relationships/slideMaster" Target="/ppt/slideMasters/slideMaster1.xml" Id="R3b8a4f02ba4448f6" /><Relationship Type="http://schemas.openxmlformats.org/officeDocument/2006/relationships/notesMaster" Target="/ppt/notesMasters/notesMaster1.xml" Id="R015c6e2393f84658" /><Relationship Type="http://schemas.openxmlformats.org/officeDocument/2006/relationships/presProps" Target="/ppt/presProps.xml" Id="R54df2fbcc70e4432" /><Relationship Type="http://schemas.openxmlformats.org/officeDocument/2006/relationships/tableStyles" Target="/ppt/tableStyles.xml" Id="R427d820ac4df4f4f" /><Relationship Type="http://schemas.openxmlformats.org/officeDocument/2006/relationships/slide" Target="/ppt/slides/slide1.xml" Id="Rf8011bfdf5a44fd7" /><Relationship Type="http://schemas.openxmlformats.org/officeDocument/2006/relationships/slide" Target="/ppt/slides/slide2.xml" Id="R319da7ddb4f847b1" /><Relationship Type="http://schemas.openxmlformats.org/officeDocument/2006/relationships/slide" Target="/ppt/slides/slide3.xml" Id="R40ec110521ff4e74" /><Relationship Type="http://schemas.openxmlformats.org/officeDocument/2006/relationships/slide" Target="/ppt/slides/slide4.xml" Id="R65824541dc634cfb" /><Relationship Type="http://schemas.openxmlformats.org/officeDocument/2006/relationships/slide" Target="/ppt/slides/slide5.xml" Id="R53f5a20fc7a8453f" /><Relationship Type="http://schemas.openxmlformats.org/officeDocument/2006/relationships/slide" Target="/ppt/slides/slide6.xml" Id="Red861381b19646e4" /><Relationship Type="http://schemas.openxmlformats.org/officeDocument/2006/relationships/slide" Target="/ppt/slides/slide7.xml" Id="R471c01df492b434a" /><Relationship Type="http://schemas.openxmlformats.org/officeDocument/2006/relationships/slide" Target="/ppt/slides/slide8.xml" Id="Rbe5efeed9d5f43df" /><Relationship Type="http://schemas.openxmlformats.org/officeDocument/2006/relationships/slide" Target="/ppt/slides/slide9.xml" Id="Ra892f5375fcd4a59" /><Relationship Type="http://schemas.openxmlformats.org/officeDocument/2006/relationships/slide" Target="/ppt/slides/slide10.xml" Id="R6b83d89cae784d05" /><Relationship Type="http://schemas.openxmlformats.org/officeDocument/2006/relationships/slide" Target="/ppt/slides/slide11.xml" Id="Rabeaf73cde034dd0" /><Relationship Type="http://schemas.openxmlformats.org/officeDocument/2006/relationships/slide" Target="/ppt/slides/slide12.xml" Id="R4f2bc3276ce943b3" /><Relationship Type="http://schemas.openxmlformats.org/officeDocument/2006/relationships/slide" Target="/ppt/slides/slide13.xml" Id="Rcebd915580f74598" /><Relationship Type="http://schemas.openxmlformats.org/officeDocument/2006/relationships/slide" Target="/ppt/slides/slide14.xml" Id="Ra1c2c38195964dfa" /><Relationship Type="http://schemas.openxmlformats.org/officeDocument/2006/relationships/slide" Target="/ppt/slides/slide15.xml" Id="R72d8583ea9874e8e" /><Relationship Type="http://schemas.openxmlformats.org/officeDocument/2006/relationships/slide" Target="/ppt/slides/slide16.xml" Id="Rbf210e925d074ac8" /><Relationship Type="http://schemas.openxmlformats.org/officeDocument/2006/relationships/slide" Target="/ppt/slides/slide17.xml" Id="R64eab4ac339143d6" /><Relationship Type="http://schemas.openxmlformats.org/officeDocument/2006/relationships/slide" Target="/ppt/slides/slide18.xml" Id="R3ca56066f9ee4654" /><Relationship Type="http://schemas.openxmlformats.org/officeDocument/2006/relationships/slide" Target="/ppt/slides/slide19.xml" Id="R21e63afaba35425c" /><Relationship Type="http://schemas.openxmlformats.org/officeDocument/2006/relationships/slide" Target="/ppt/slides/slide20.xml" Id="Rea3174769ae84560" /><Relationship Type="http://schemas.openxmlformats.org/officeDocument/2006/relationships/slide" Target="/ppt/slides/slide21.xml" Id="R4f81d5a56c8644a9" /><Relationship Type="http://schemas.openxmlformats.org/officeDocument/2006/relationships/slide" Target="/ppt/slides/slide22.xml" Id="Raeba41c73bbe454e" /><Relationship Type="http://schemas.openxmlformats.org/officeDocument/2006/relationships/slide" Target="/ppt/slides/slide23.xml" Id="Ra18f1d6c6a044e48" /><Relationship Type="http://schemas.openxmlformats.org/officeDocument/2006/relationships/slide" Target="/ppt/slides/slide24.xml" Id="R449a88521d3748cd" /><Relationship Type="http://schemas.openxmlformats.org/officeDocument/2006/relationships/slide" Target="/ppt/slides/slide25.xml" Id="R27ff189fdb874967" /><Relationship Type="http://schemas.openxmlformats.org/officeDocument/2006/relationships/slide" Target="/ppt/slides/slide26.xml" Id="Rd94d4cca51f24a5b" /><Relationship Type="http://schemas.openxmlformats.org/officeDocument/2006/relationships/slide" Target="/ppt/slides/slide27.xml" Id="R42889ed572454089" /><Relationship Type="http://schemas.openxmlformats.org/officeDocument/2006/relationships/slide" Target="/ppt/slides/slide28.xml" Id="R925cc4203a714054" /><Relationship Type="http://schemas.openxmlformats.org/officeDocument/2006/relationships/slide" Target="/ppt/slides/slide29.xml" Id="R067bcc83282c4a25" /><Relationship Type="http://schemas.openxmlformats.org/officeDocument/2006/relationships/slide" Target="/ppt/slides/slide30.xml" Id="Rc302ec3b0c8d48a7" /><Relationship Type="http://schemas.openxmlformats.org/officeDocument/2006/relationships/slide" Target="/ppt/slides/slide31.xml" Id="R8aa186c7e76249cb" /><Relationship Type="http://schemas.openxmlformats.org/officeDocument/2006/relationships/slide" Target="/ppt/slides/slide32.xml" Id="R51dacba862bf4308" /><Relationship Type="http://schemas.openxmlformats.org/officeDocument/2006/relationships/slide" Target="/ppt/slides/slide33.xml" Id="R10b121fcb7c940e2" /><Relationship Type="http://schemas.openxmlformats.org/officeDocument/2006/relationships/slide" Target="/ppt/slides/slide34.xml" Id="R66d7c603643d4dcf" /><Relationship Type="http://schemas.openxmlformats.org/officeDocument/2006/relationships/slide" Target="/ppt/slides/slide35.xml" Id="R607d7fb2f6fb4da1" /><Relationship Type="http://schemas.openxmlformats.org/officeDocument/2006/relationships/slide" Target="/ppt/slides/slide36.xml" Id="R107a5800b0874684" /><Relationship Type="http://schemas.openxmlformats.org/officeDocument/2006/relationships/slide" Target="/ppt/slides/slide37.xml" Id="Ra2c2bf256d9a4d94" /><Relationship Type="http://schemas.openxmlformats.org/officeDocument/2006/relationships/slide" Target="/ppt/slides/slide38.xml" Id="R272d9d10bf22421c" /><Relationship Type="http://schemas.openxmlformats.org/officeDocument/2006/relationships/slide" Target="/ppt/slides/slide39.xml" Id="Re9a022e707624798" /><Relationship Type="http://schemas.openxmlformats.org/officeDocument/2006/relationships/slide" Target="/ppt/slides/slide40.xml" Id="R66427fe6d3904eb2" /><Relationship Type="http://schemas.openxmlformats.org/officeDocument/2006/relationships/slide" Target="/ppt/slides/slide41.xml" Id="Ree4e275d03e845b1" /><Relationship Type="http://schemas.openxmlformats.org/officeDocument/2006/relationships/slide" Target="/ppt/slides/slide42.xml" Id="R9c542a17714f4432" /><Relationship Type="http://schemas.openxmlformats.org/officeDocument/2006/relationships/slide" Target="/ppt/slides/slide43.xml" Id="R925283743e7e4e11" /><Relationship Type="http://schemas.openxmlformats.org/officeDocument/2006/relationships/slide" Target="/ppt/slides/slide44.xml" Id="R26f9f0a7c6c9494a" /><Relationship Type="http://schemas.openxmlformats.org/officeDocument/2006/relationships/slide" Target="/ppt/slides/slide45.xml" Id="R6be56a2d83804683" /><Relationship Type="http://schemas.openxmlformats.org/officeDocument/2006/relationships/slide" Target="/ppt/slides/slide46.xml" Id="R872015f28ced43b3" /><Relationship Type="http://schemas.openxmlformats.org/officeDocument/2006/relationships/slide" Target="/ppt/slides/slide47.xml" Id="Rfa8131fb706e4b03" /><Relationship Type="http://schemas.openxmlformats.org/officeDocument/2006/relationships/slide" Target="/ppt/slides/slide48.xml" Id="Rdcfb14ca26f14175" /><Relationship Type="http://schemas.openxmlformats.org/officeDocument/2006/relationships/slide" Target="/ppt/slides/slide49.xml" Id="R0c6b3ae4dd59485f" /><Relationship Type="http://schemas.openxmlformats.org/officeDocument/2006/relationships/slide" Target="/ppt/slides/slide50.xml" Id="R56c3cc7b0ad14615" /><Relationship Type="http://schemas.openxmlformats.org/officeDocument/2006/relationships/slide" Target="/ppt/slides/slide51.xml" Id="R9c6dabe335e04d74" /><Relationship Type="http://schemas.openxmlformats.org/officeDocument/2006/relationships/slide" Target="/ppt/slides/slide52.xml" Id="Rc97d98415db144e1" /><Relationship Type="http://schemas.openxmlformats.org/officeDocument/2006/relationships/slide" Target="/ppt/slides/slide53.xml" Id="R0d492fa88b4a40c1" /><Relationship Type="http://schemas.openxmlformats.org/officeDocument/2006/relationships/slide" Target="/ppt/slides/slide54.xml" Id="Rabc0e8f087ff4088" /><Relationship Type="http://schemas.openxmlformats.org/officeDocument/2006/relationships/slide" Target="/ppt/slides/slide55.xml" Id="R865835f53eba4b15" /><Relationship Type="http://schemas.openxmlformats.org/officeDocument/2006/relationships/slide" Target="/ppt/slides/slide56.xml" Id="Rc2e3bddefa144232" /><Relationship Type="http://schemas.openxmlformats.org/officeDocument/2006/relationships/slide" Target="/ppt/slides/slide57.xml" Id="R3ecf8834f8874dda" /><Relationship Type="http://schemas.openxmlformats.org/officeDocument/2006/relationships/slide" Target="/ppt/slides/slide58.xml" Id="Rd7284fa0c7ff4e3a" /><Relationship Type="http://schemas.openxmlformats.org/officeDocument/2006/relationships/slide" Target="/ppt/slides/slide59.xml" Id="R0db5157645ce4ad1" /><Relationship Type="http://schemas.openxmlformats.org/officeDocument/2006/relationships/slide" Target="/ppt/slides/slide60.xml" Id="Rac123fc6664042a1" /><Relationship Type="http://schemas.openxmlformats.org/officeDocument/2006/relationships/slide" Target="/ppt/slides/slide61.xml" Id="Rf6132ea8e750481a" /><Relationship Type="http://schemas.openxmlformats.org/officeDocument/2006/relationships/slide" Target="/ppt/slides/slide62.xml" Id="R5222ada566514f15" /><Relationship Type="http://schemas.openxmlformats.org/officeDocument/2006/relationships/slide" Target="/ppt/slides/slide63.xml" Id="R2f07af20aead474b" /><Relationship Type="http://schemas.openxmlformats.org/officeDocument/2006/relationships/slide" Target="/ppt/slides/slide64.xml" Id="R15f9ca0084a945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c845c351db43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a84eb1b5fb4e6f" /><Relationship Type="http://schemas.openxmlformats.org/officeDocument/2006/relationships/notesMaster" Target="/ppt/notesMasters/notesMaster1.xml" Id="R1b25322addd64c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83f463d50246d2" /><Relationship Type="http://schemas.openxmlformats.org/officeDocument/2006/relationships/notesMaster" Target="/ppt/notesMasters/notesMaster1.xml" Id="R9c87df047a5249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f7044a95b04218" /><Relationship Type="http://schemas.openxmlformats.org/officeDocument/2006/relationships/notesMaster" Target="/ppt/notesMasters/notesMaster1.xml" Id="R5eb4f4a43a5148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99b7cf645f465d" /><Relationship Type="http://schemas.openxmlformats.org/officeDocument/2006/relationships/notesMaster" Target="/ppt/notesMasters/notesMaster1.xml" Id="R8092cf58015f4a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82ce14925d49c9" /><Relationship Type="http://schemas.openxmlformats.org/officeDocument/2006/relationships/notesMaster" Target="/ppt/notesMasters/notesMaster1.xml" Id="R0c8008b762034e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97b4014cd14567" /><Relationship Type="http://schemas.openxmlformats.org/officeDocument/2006/relationships/notesMaster" Target="/ppt/notesMasters/notesMaster1.xml" Id="R2826378fc27f4e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536c12f4e14904" /><Relationship Type="http://schemas.openxmlformats.org/officeDocument/2006/relationships/notesMaster" Target="/ppt/notesMasters/notesMaster1.xml" Id="R2b2f86de0d7144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9d55a842bc49d5" /><Relationship Type="http://schemas.openxmlformats.org/officeDocument/2006/relationships/notesMaster" Target="/ppt/notesMasters/notesMaster1.xml" Id="R6127d88febd748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ede7556a514cdb" /><Relationship Type="http://schemas.openxmlformats.org/officeDocument/2006/relationships/notesMaster" Target="/ppt/notesMasters/notesMaster1.xml" Id="Rb3c7a260d3d6408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5d10f864dd74e11" /><Relationship Type="http://schemas.openxmlformats.org/officeDocument/2006/relationships/notesMaster" Target="/ppt/notesMasters/notesMaster1.xml" Id="R4bfb6954ff4143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511db6f91a14bf9" /><Relationship Type="http://schemas.openxmlformats.org/officeDocument/2006/relationships/notesMaster" Target="/ppt/notesMasters/notesMaster1.xml" Id="R1e0d291c936e4a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bd679d941634f61" /><Relationship Type="http://schemas.openxmlformats.org/officeDocument/2006/relationships/notesMaster" Target="/ppt/notesMasters/notesMaster1.xml" Id="Rc4c8346216af46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77f92b7765465f" /><Relationship Type="http://schemas.openxmlformats.org/officeDocument/2006/relationships/notesMaster" Target="/ppt/notesMasters/notesMaster1.xml" Id="Rfae374b936c5481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31f2023743b4546" /><Relationship Type="http://schemas.openxmlformats.org/officeDocument/2006/relationships/notesMaster" Target="/ppt/notesMasters/notesMaster1.xml" Id="R45d2354d460746b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892564b21234c40" /><Relationship Type="http://schemas.openxmlformats.org/officeDocument/2006/relationships/notesMaster" Target="/ppt/notesMasters/notesMaster1.xml" Id="Rd54bbc713ef94b7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1d050f1cbb54f16" /><Relationship Type="http://schemas.openxmlformats.org/officeDocument/2006/relationships/notesMaster" Target="/ppt/notesMasters/notesMaster1.xml" Id="Reced703715a5465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2958427b45c4e4d" /><Relationship Type="http://schemas.openxmlformats.org/officeDocument/2006/relationships/notesMaster" Target="/ppt/notesMasters/notesMaster1.xml" Id="R0f02b284e1c940c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f6a4bcb829b492f" /><Relationship Type="http://schemas.openxmlformats.org/officeDocument/2006/relationships/notesMaster" Target="/ppt/notesMasters/notesMaster1.xml" Id="Rba0e20821f19484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e4e668d4b43442f" /><Relationship Type="http://schemas.openxmlformats.org/officeDocument/2006/relationships/notesMaster" Target="/ppt/notesMasters/notesMaster1.xml" Id="R69674fc3ff3940c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c29fd3fdd3d43d7" /><Relationship Type="http://schemas.openxmlformats.org/officeDocument/2006/relationships/notesMaster" Target="/ppt/notesMasters/notesMaster1.xml" Id="R1fb7e08934c7488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4e983bd79e14e1f" /><Relationship Type="http://schemas.openxmlformats.org/officeDocument/2006/relationships/notesMaster" Target="/ppt/notesMasters/notesMaster1.xml" Id="R51a87a664df042c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5736ddc88ac43fb" /><Relationship Type="http://schemas.openxmlformats.org/officeDocument/2006/relationships/notesMaster" Target="/ppt/notesMasters/notesMaster1.xml" Id="R2573f24b07e4427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96ba621154d497d" /><Relationship Type="http://schemas.openxmlformats.org/officeDocument/2006/relationships/notesMaster" Target="/ppt/notesMasters/notesMaster1.xml" Id="R29bba82a897049c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69ab72aad8f489e" /><Relationship Type="http://schemas.openxmlformats.org/officeDocument/2006/relationships/notesMaster" Target="/ppt/notesMasters/notesMaster1.xml" Id="R9bcb760d000949a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d9b98f14b1545d3" /><Relationship Type="http://schemas.openxmlformats.org/officeDocument/2006/relationships/notesMaster" Target="/ppt/notesMasters/notesMaster1.xml" Id="Rd07601206e484f3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0aaca9d2e854e4f" /><Relationship Type="http://schemas.openxmlformats.org/officeDocument/2006/relationships/notesMaster" Target="/ppt/notesMasters/notesMaster1.xml" Id="R602f1083dd3a4e0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cb86101492b4405" /><Relationship Type="http://schemas.openxmlformats.org/officeDocument/2006/relationships/notesMaster" Target="/ppt/notesMasters/notesMaster1.xml" Id="R9d39e3e98b3145b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572904b7e5c436b" /><Relationship Type="http://schemas.openxmlformats.org/officeDocument/2006/relationships/notesMaster" Target="/ppt/notesMasters/notesMaster1.xml" Id="R2f3a3b37390f478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a6b0199570f433e" /><Relationship Type="http://schemas.openxmlformats.org/officeDocument/2006/relationships/notesMaster" Target="/ppt/notesMasters/notesMaster1.xml" Id="R0c76b7367ed243d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9c94260890d4c09" /><Relationship Type="http://schemas.openxmlformats.org/officeDocument/2006/relationships/notesMaster" Target="/ppt/notesMasters/notesMaster1.xml" Id="Rb8d421697389489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7a468895f3b4579" /><Relationship Type="http://schemas.openxmlformats.org/officeDocument/2006/relationships/notesMaster" Target="/ppt/notesMasters/notesMaster1.xml" Id="R5affd91ef0f74aa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0d9e81526524d80" /><Relationship Type="http://schemas.openxmlformats.org/officeDocument/2006/relationships/notesMaster" Target="/ppt/notesMasters/notesMaster1.xml" Id="Rf4a60da9cdf04a1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43c0340304e4acf" /><Relationship Type="http://schemas.openxmlformats.org/officeDocument/2006/relationships/notesMaster" Target="/ppt/notesMasters/notesMaster1.xml" Id="R078eef36c61f4bd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502522d317e4fc9" /><Relationship Type="http://schemas.openxmlformats.org/officeDocument/2006/relationships/notesMaster" Target="/ppt/notesMasters/notesMaster1.xml" Id="Rbb41fb8252f64e3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131b5c6ff214502" /><Relationship Type="http://schemas.openxmlformats.org/officeDocument/2006/relationships/notesMaster" Target="/ppt/notesMasters/notesMaster1.xml" Id="Ra2f846b817db43b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061dc19ed944f78" /><Relationship Type="http://schemas.openxmlformats.org/officeDocument/2006/relationships/notesMaster" Target="/ppt/notesMasters/notesMaster1.xml" Id="R0461f2568dd9453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d033648d0d04553" /><Relationship Type="http://schemas.openxmlformats.org/officeDocument/2006/relationships/notesMaster" Target="/ppt/notesMasters/notesMaster1.xml" Id="R547985fcc9d94ca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39a66aa2fcb4124" /><Relationship Type="http://schemas.openxmlformats.org/officeDocument/2006/relationships/notesMaster" Target="/ppt/notesMasters/notesMaster1.xml" Id="R88aafdaf2b164e6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f17235117b044a6" /><Relationship Type="http://schemas.openxmlformats.org/officeDocument/2006/relationships/notesMaster" Target="/ppt/notesMasters/notesMaster1.xml" Id="Rdadb4489af2e494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6e6c865aaad46f5" /><Relationship Type="http://schemas.openxmlformats.org/officeDocument/2006/relationships/notesMaster" Target="/ppt/notesMasters/notesMaster1.xml" Id="R47c898864c744e0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db4a694ae1d44c3" /><Relationship Type="http://schemas.openxmlformats.org/officeDocument/2006/relationships/notesMaster" Target="/ppt/notesMasters/notesMaster1.xml" Id="R6fcb6aee4dbd472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1b0c961766c4e2a" /><Relationship Type="http://schemas.openxmlformats.org/officeDocument/2006/relationships/notesMaster" Target="/ppt/notesMasters/notesMaster1.xml" Id="R13e5a1e805b1428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07149c513fbd4c2e" /><Relationship Type="http://schemas.openxmlformats.org/officeDocument/2006/relationships/notesMaster" Target="/ppt/notesMasters/notesMaster1.xml" Id="R55d9cfa7b00b418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bf1747ba8824ca9" /><Relationship Type="http://schemas.openxmlformats.org/officeDocument/2006/relationships/notesMaster" Target="/ppt/notesMasters/notesMaster1.xml" Id="R94d439520d294ab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082849a87de423d" /><Relationship Type="http://schemas.openxmlformats.org/officeDocument/2006/relationships/notesMaster" Target="/ppt/notesMasters/notesMaster1.xml" Id="R9aa504bc308a4df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d31572e97004155" /><Relationship Type="http://schemas.openxmlformats.org/officeDocument/2006/relationships/notesMaster" Target="/ppt/notesMasters/notesMaster1.xml" Id="R9bb40c9b133046e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4a60711d1614aeb" /><Relationship Type="http://schemas.openxmlformats.org/officeDocument/2006/relationships/notesMaster" Target="/ppt/notesMasters/notesMaster1.xml" Id="Rbeb2b57c375a4c6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4c5f72662804ef0" /><Relationship Type="http://schemas.openxmlformats.org/officeDocument/2006/relationships/notesMaster" Target="/ppt/notesMasters/notesMaster1.xml" Id="Refc160c38735401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8eaeda111364148" /><Relationship Type="http://schemas.openxmlformats.org/officeDocument/2006/relationships/notesMaster" Target="/ppt/notesMasters/notesMaster1.xml" Id="R1dc9edb05db44ce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e3506c8cb8d4849" /><Relationship Type="http://schemas.openxmlformats.org/officeDocument/2006/relationships/notesMaster" Target="/ppt/notesMasters/notesMaster1.xml" Id="R3aace39504c14e8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01642415ae54916" /><Relationship Type="http://schemas.openxmlformats.org/officeDocument/2006/relationships/notesMaster" Target="/ppt/notesMasters/notesMaster1.xml" Id="R56017a243b8544c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d682a20287b4541" /><Relationship Type="http://schemas.openxmlformats.org/officeDocument/2006/relationships/notesMaster" Target="/ppt/notesMasters/notesMaster1.xml" Id="Ra8fe6ac03665431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09da77facfe4f52" /><Relationship Type="http://schemas.openxmlformats.org/officeDocument/2006/relationships/notesMaster" Target="/ppt/notesMasters/notesMaster1.xml" Id="R49420835111f40b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196479a65f04441" /><Relationship Type="http://schemas.openxmlformats.org/officeDocument/2006/relationships/notesMaster" Target="/ppt/notesMasters/notesMaster1.xml" Id="Rac5128c8da2f4078"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80f4b0bd1e44c2b" /><Relationship Type="http://schemas.openxmlformats.org/officeDocument/2006/relationships/notesMaster" Target="/ppt/notesMasters/notesMaster1.xml" Id="R1ed025ca8d184ff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f8ee52ac81334e67" /><Relationship Type="http://schemas.openxmlformats.org/officeDocument/2006/relationships/notesMaster" Target="/ppt/notesMasters/notesMaster1.xml" Id="R145b74a9cab444db"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96d3d724dc2746b2" /><Relationship Type="http://schemas.openxmlformats.org/officeDocument/2006/relationships/notesMaster" Target="/ppt/notesMasters/notesMaster1.xml" Id="R46d9e96a1b7a4923"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d1f25b31f0b44454" /><Relationship Type="http://schemas.openxmlformats.org/officeDocument/2006/relationships/notesMaster" Target="/ppt/notesMasters/notesMaster1.xml" Id="R23e7e461f06c4ac3"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c85f980ab21345ab" /><Relationship Type="http://schemas.openxmlformats.org/officeDocument/2006/relationships/notesMaster" Target="/ppt/notesMasters/notesMaster1.xml" Id="Rd3544a530d1a45ac"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20054f9cbb8e4b53" /><Relationship Type="http://schemas.openxmlformats.org/officeDocument/2006/relationships/notesMaster" Target="/ppt/notesMasters/notesMaster1.xml" Id="R59afd4747bb747a6"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7a3be36726444e4f" /><Relationship Type="http://schemas.openxmlformats.org/officeDocument/2006/relationships/notesMaster" Target="/ppt/notesMasters/notesMaster1.xml" Id="Re8c887a85b334953"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e1a5b725bfa34f73" /><Relationship Type="http://schemas.openxmlformats.org/officeDocument/2006/relationships/notesMaster" Target="/ppt/notesMasters/notesMaster1.xml" Id="R22c8192282104da4"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c2f8157f2fe14bf3" /><Relationship Type="http://schemas.openxmlformats.org/officeDocument/2006/relationships/notesMaster" Target="/ppt/notesMasters/notesMaster1.xml" Id="R5a714993c6c845d4"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468407c00d384a51" /><Relationship Type="http://schemas.openxmlformats.org/officeDocument/2006/relationships/notesMaster" Target="/ppt/notesMasters/notesMaster1.xml" Id="Rf1befef2157e45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Hojaji, McIlroy, Dupuy, Pedroni, Toth and Campbell (2025). https://doi.org/10.1016/j.chbr.2025.100718</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Hojaji, McIlroy, Dupuy, Pedroni, Toth and Campbell (2025). https://doi.org/10.1016/j.chbr.2025.100718; docs/PAPER_NOTES.md; archive/original_plan/A_data_feasibility.json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Hojaji, McIlroy, Dupuy, Pedroni, Toth and Campbell (2025). https://doi.org/10.1016/j.chbr.2025.100718; docs/PAPER_NOTES.md; docs/STUDY_ROADMAP.md</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docs/LITERATURE_REVIEW.md; outputs/results/D_literature_sources.json; outputs/results/D_literature_tracker_validation.json</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docs/PAPER_NOTES.md; docs/LITERATURE_REVIEW.md; outputs/results/D_literature_sources.json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outputs/results/D_download_manifest.json; docs/DATA_SOURCES.md; https://huggingface.co/datasets/wolframko/betty-dota2</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src/download_dota2.py; outputs/results/D_download_manifest.json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outputs/results/D_data_audit.json; docs/DATA_SOURCES.md</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outputs/results/D_data_audit.json; docs/DATA_SOURCES.md; outputs/results/D_literature_sources.json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src/audit_dota2.py; src/dota_data.py; outputs/results/D_data_audit.json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src/audit_dota2.py; src/dota_data.py; outputs/results/D_preparation.json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outputs/results/D_poststudy_missingness_audit.json; src/audit_dota_missingness.py</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outputs/results/D_clock_alignment.json; src/dota_data.py; outputs/results/D_protocol.json</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src/dota_data.py: prepare_clocks and latest_rows; outputs/results/D_clock_alignment.json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outputs/results/D_identity_audit.json; outputs/results/D_integrity_validation.json; https://github.com/odota/dotaconstants</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src/dota_data.py: prepare; outputs/results/D_identity_audit.json; outputs/results/D_hero_constants_source.json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outputs/results/D_preparation.json; outputs/results/D_protocol.json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src/dota_data.py: prepare; outputs/results/D_preparation.json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outputs/results/D_identity_audit.json; outputs/results/D_preparation.json</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outputs/results/D_protocol.json; outputs/results/D_integrity_validation.json</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src/dota_models.py: NeuralPredictor.fit and fit_model</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outputs/results/D_runtime.json; outputs/results/D_environment_versions.json; outputs/results/D_protocol.json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Setup issue recorded during the working session; .conda/conda-meta/history; outputs/results/D_runtime.json; environment.yml</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docs/REPRODUCIBILITY.md; scripts/start_jupyter.ps1; src/dota_models.py; outputs/results/D_runtime.json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docs/STUDY_ROADMAP.md; outputs/results/D_clock_alignment.json; outputs/results/D_identity_audit.json; outputs/results/D_protocol.json; private diagnostic archives</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src/audit_dota2.py; src/summarise_dota.py; src/dota_movement.py</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src/dota_models.py: metrics; outputs/results/D_final_metrics.json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src/dota_models.py: metrics; outputs/results/D_final_metrics.json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src/dota_models.py: fit_model; outputs/results/D_protocol.json; outputs/results/D_summary.json; Fabian Pedregosa and Gaël Varoquaux and Alexandre Gramfort and Vincent Michel and Bertrand Thirion and Olivier Grisel and Mathieu Blondel and Peter Prettenhofer and Ron Weiss and Vincent Dubourg and Jake Vanderplas and Alexandre Passos and David Cournapeau and Matthieu Brucher and Matthieu Perrot and Édouard Duchesnay; Scikit-learn: Machine Learning in Python; https://jmlr.org/papers/v12/pedregosa11a.html</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src/dota_models.py: fit_model; outputs/results/D_protocol.json; https://doi.org/10.1023/A:1010933404324; Fabian Pedregosa and Gaël Varoquaux and Alexandre Gramfort and Vincent Michel and Bertrand Thirion and Olivier Grisel and Mathieu Blondel and Peter Prettenhofer and Ron Weiss and Vincent Dubourg and Jake Vanderplas and Alexandre Passos and David Cournapeau and Matthieu Brucher and Matthieu Perrot and Édouard Duchesnay; Scikit-learn: Machine Learning in Python; https://jmlr.org/papers/v12/pedregosa11a.html</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src/dota_models.py: fit_model; outputs/results/D_protocol.json; https://arxiv.org/abs/1603.02754</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outputs/results/D_neural_architecture_audit.json; src/dota_models.py; Hojaji, McIlroy, Dupuy, Pedroni, Toth and Campbell (2025). https://doi.org/10.1016/j.chbr.2025.100718; Adam Paszke and Sam Gross and Francisco Massa and Adam Lerer and James Bradbury and Gregory Chanan and Trevor Killeen and Zeming Lin and Natalia Gimelshein and Luca Antiga and Alban Desmaison and Andreas Kopf and Edward Yang and Zachary DeVito and Martin Raison and Alykhan Tejani and Sasank Chilamkurthy and Benoit Steiner and Lu Fang and Junjie Bai and Soumith Chintala; PyTorch: An Imperative Style, High-Performance Deep Learning Library; https://proceedings.neurips.cc/paper_files/paper/2019/hash/bdbca288fee7f92f2bfa9f7012727740-Abstract.html</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a:p xmlns:a="http://schemas.openxmlformats.org/drawingml/2006/main">
            <a:br/>
            <a:r>
              <a:t>Parameter count: (10 × 64 + 64) + (64 × 64 + 64) + (64 × 1 + 1) = 4,929. Input values are not trainable neurons. The audit reads an existing fitted model; it does not retrain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src/dota_models.py; outputs/results/D_neural_architecture_audit.json; outputs/results/D_protocol.json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src/dota_models.py: NeuralPredictor.fit; outputs/results/D_protocol.json; Adam Paszke and Sam Gross and Francisco Massa and Adam Lerer and James Bradbury and Gregory Chanan and Trevor Killeen and Zeming Lin and Natalia Gimelshein and Luca Antiga and Alban Desmaison and Andreas Kopf and Edward Yang and Zachary DeVito and Martin Raison and Alykhan Tejani and Sasank Chilamkurthy and Benoit Steiner and Lu Fang and Junjie Bai and Soumith Chintala; PyTorch: An Imperative Style, High-Performance Deep Learning Library; https://proceedings.neurips.cc/paper_files/paper/2019/hash/bdbca288fee7f92f2bfa9f7012727740-Abstract.html</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outputs/results/D_neural_architecture_audit.json; src/dota_models.py: NeuralPredictor.fit; outputs/figures/D_learning_curve.png; Adam Paszke and Sam Gross and Francisco Massa and Adam Lerer and James Bradbury and Gregory Chanan and Trevor Killeen and Zeming Lin and Natalia Gimelshein and Luca Antiga and Alban Desmaison and Andreas Kopf and Edward Yang and Zachary DeVito and Martin Raison and Alykhan Tejani and Sasank Chilamkurthy and Benoit Steiner and Lu Fang and Junjie Bai and Soumith Chintala; PyTorch: An Imperative Style, High-Performance Deep Learning Library; https://proceedings.neurips.cc/paper_files/paper/2019/hash/bdbca288fee7f92f2bfa9f7012727740-Abstract.html</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tests/test_temporal_integrity.py; src/validate_dota_data.py; outputs/results/D_integrity_validation.json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outputs/results/D_protocol.json; outputs/results/D_integrity_validation.json; src/run_dota_study.py</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Hojaji, McIlroy, Dupuy, Pedroni, Toth and Campbell (2025). https://doi.org/10.1016/j.chbr.2025.100718; outputs/results/D_protocol.json; outputs/results/D_summary.json; outputs/figures/D_learning_curve.png</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outputs/results/D_explanations.json; outputs/results/D_summary.json; https://arxiv.org/abs/1705.07874</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src/dota_explanations.py: explain and ranking_summary; outputs/results/D_explanations.json; https://arxiv.org/abs/1705.07874; Scott M. Lundberg and Su-In Lee; A Unified Approach to Interpreting Model Predictions; https://arxiv.org/abs/1705.07874; Scott M. Lundberg and Gabriel G. Erion and Su-In Lee; Consistent Individualized Feature Attribution for Tree Ensembles; https://arxiv.org/abs/1802.03888</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outputs/results/D_explanations.json: output_units and assumptions; docs/LITERATURE_REVIEW.md; Kjersti Aas and Martin Jullum and Anders Løland; Explaining individual predictions when features are dependent: More accurate approximations to Shapley values; https://arxiv.org/abs/1903.10464</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outputs/results/D_summary.json: development_rank_summary; outputs/results/D_explanations.json</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outputs/results/D_final_metrics.json; outputs/results/D_summary.json</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outputs/results/D_summary.json: common_cohort_neural</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outputs/results/D_summary.json: test_table; outputs/results/D_calibration_bins.json; https://proceedings.mlr.press/v70/guo17a.html</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src/dota_models.py: temperature_fit and apply_temperature; outputs/results/D_protocol.json; https://proceedings.mlr.press/v70/guo17a.html</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outputs/results/D_calibration_bins.json; src/plot_dota_results.py</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outputs/results/D_summary.json: primary_paired_comparison; fixed seed averaged predictions</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src/summarise_dota.py; outputs/results/D_summary.json: primary_paired_comparison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src/summarise_dota.py; outputs/results/D_summary.json: primary_paired_comparison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outputs/results/D_summary.json: test_table and primary_paired_comparison; src/summarise_dota.py</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outputs/results/D_summary.json: seed_rank_agreement</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src/summarise_dota.py; outputs/results/D_summary.json: seed_rank_agreement</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outputs/results/D_explanations.json; outputs/results/D_summary.json: development_rank_summary</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outputs/results/D_refit_stability.json; outputs/results/D_summary.json: training_refit_rank_summary</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src/dota_explanations.py; outputs/results/D_summary.json: limits; outputs/results/D_refit_stability.json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outputs/results/D_movement.json; src/dota_movement.py</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src/dota_movement.py: trajectory_pairs; outputs/results/D_movement.json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outputs/results/D_movement.json; outputs/results/D_summary.json: movement</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src/dota_movement.py: run; outputs/results/D_movement.json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outputs/results/D_summary.json: movement.common_offset_medians</a:t>
            </a:r>
          </a:p>
          <a:p xmlns:a="http://schemas.openxmlformats.org/drawingml/2006/main">
            <a:r>
              <a:t>Author: Md Forhadul Islam. This independent adaptation does not claim exact numerical LoL reproduction or causal effects.</a:t>
            </a:r>
          </a:p>
          <a:p xmlns:a="http://schemas.openxmlformats.org/drawingml/2006/main">
            <a:r>
              <a:t>Chart values are rounded to 12 significant digits where necessary for spreadsheet editing. Full precision is retained in the cited study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outputs/results/D_protocol.json: conditional_hero_extension; docs/STUDY_ROADMAP.md; outputs/results/D_data_audit.json</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outputs/results/D_summary.json: limits; docs/STUDY_ROADMAP.md; docs/DATA_SOURCES.md</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outputs/results/D_delivery_validation.json; outputs/literature/Literature_Review_Tracker.xlsx; https://github.com/forhadsde/Sports_KPI_Self_Study</a:t>
            </a:r>
          </a:p>
          <a:p xmlns:a="http://schemas.openxmlformats.org/drawingml/2006/main">
            <a:r>
              <a:t>Author: Md Forhadul Islam. This independent adaptation does not claim exact numerical LoL reproduction or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73806b5c1c477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cc796d00e5946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5c317156d2d44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927d3828a1741e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a287fec2e9a48e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0c6db2d49cb42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F1EE59-EF1F-48F5-862F-684D03740B5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05AFA44-C1A2-402B-8E5F-7F843AA6AA6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F53A73E-08BC-4CE8-B84D-09EE1D12431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68791A-F356-4F24-AAD2-2E1C7778F9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26A657B-65AE-4317-8841-B78DA7C9F5C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1247605-A3B6-4590-B1CE-AA719D7C20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D66744-E4DE-49CF-9507-653274F0FD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9BB18A8-D2E6-460B-B727-1B4D9B6256E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9A9930-6F00-4E09-BC46-8433CDBF37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735AE1-F358-44D0-868B-65D762BD73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9d4bd57c904271" /><Relationship Type="http://schemas.openxmlformats.org/officeDocument/2006/relationships/slideLayout" Target="/ppt/slideLayouts/slideLayout1.xml" Id="R920978a265a04c08" /><Relationship Type="http://schemas.openxmlformats.org/officeDocument/2006/relationships/slideLayout" Target="/ppt/slideLayouts/slideLayout2.xml" Id="Ra4fc488aeccb4bea" /><Relationship Type="http://schemas.openxmlformats.org/officeDocument/2006/relationships/slideLayout" Target="/ppt/slideLayouts/slideLayout3.xml" Id="Rf551a52763034b72" /><Relationship Type="http://schemas.openxmlformats.org/officeDocument/2006/relationships/slideLayout" Target="/ppt/slideLayouts/slideLayout4.xml" Id="R58c76ddc10974d69" /><Relationship Type="http://schemas.openxmlformats.org/officeDocument/2006/relationships/slideLayout" Target="/ppt/slideLayouts/slideLayout5.xml" Id="R745fcc96afd541fb" /><Relationship Type="http://schemas.openxmlformats.org/officeDocument/2006/relationships/slideLayout" Target="/ppt/slideLayouts/slideLayout6.xml" Id="R15990807bf564e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0978a265a04c08"/>
    <p:sldLayoutId xmlns:r="http://schemas.openxmlformats.org/officeDocument/2006/relationships" id="2147483650" r:id="Ra4fc488aeccb4bea"/>
    <p:sldLayoutId xmlns:r="http://schemas.openxmlformats.org/officeDocument/2006/relationships" id="2147483651" r:id="Rf551a52763034b72"/>
    <p:sldLayoutId xmlns:r="http://schemas.openxmlformats.org/officeDocument/2006/relationships" id="2147483652" r:id="R58c76ddc10974d69"/>
    <p:sldLayoutId xmlns:r="http://schemas.openxmlformats.org/officeDocument/2006/relationships" id="2147483653" r:id="R745fcc96afd541fb"/>
    <p:sldLayoutId xmlns:r="http://schemas.openxmlformats.org/officeDocument/2006/relationships" id="2147483654" r:id="R15990807bf564e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ed5f630e42f49ee" /><Relationship Type="http://schemas.openxmlformats.org/officeDocument/2006/relationships/notesSlide" Target="/ppt/notesSlides/notesSlide1.xml" Id="R6f8b795514e940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fcca5ee8b048de" /><Relationship Type="http://schemas.openxmlformats.org/officeDocument/2006/relationships/notesSlide" Target="/ppt/notesSlides/notesSlide2.xml" Id="R37456688ce174c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74c9a23ea424f20" /><Relationship Type="http://schemas.openxmlformats.org/officeDocument/2006/relationships/notesSlide" Target="/ppt/notesSlides/notesSlide3.xml" Id="Rc876b3bf18804a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70dd4800eac467a" /><Relationship Type="http://schemas.openxmlformats.org/officeDocument/2006/relationships/chart" Target="/ppt/slides/charts/chart1.xml" Id="Rb6d5a3040ab644cd" /><Relationship Type="http://schemas.openxmlformats.org/officeDocument/2006/relationships/notesSlide" Target="/ppt/notesSlides/notesSlide4.xml" Id="Rd2272a18ffe741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1eb1557198044f6" /><Relationship Type="http://schemas.openxmlformats.org/officeDocument/2006/relationships/notesSlide" Target="/ppt/notesSlides/notesSlide5.xml" Id="R4c0a2f354eb64b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7f41d7bbcae4fd3" /><Relationship Type="http://schemas.openxmlformats.org/officeDocument/2006/relationships/chart" Target="/ppt/slides/charts/chart2.xml" Id="R745425527f0f43a2" /><Relationship Type="http://schemas.openxmlformats.org/officeDocument/2006/relationships/notesSlide" Target="/ppt/notesSlides/notesSlide6.xml" Id="R38fe8e547bd74f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637d57c7e934830" /><Relationship Type="http://schemas.openxmlformats.org/officeDocument/2006/relationships/notesSlide" Target="/ppt/notesSlides/notesSlide7.xml" Id="R36fdb7a1c19943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b4e2283ab844e55" /><Relationship Type="http://schemas.openxmlformats.org/officeDocument/2006/relationships/notesSlide" Target="/ppt/notesSlides/notesSlide8.xml" Id="Rd021704b64c449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47f32d1735f4f7b" /><Relationship Type="http://schemas.openxmlformats.org/officeDocument/2006/relationships/notesSlide" Target="/ppt/notesSlides/notesSlide9.xml" Id="Reb74ebd524674e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2d5961266754fa7" /><Relationship Type="http://schemas.openxmlformats.org/officeDocument/2006/relationships/notesSlide" Target="/ppt/notesSlides/notesSlide10.xml" Id="Rbe9414a225a94aa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67437d618f84eba" /><Relationship Type="http://schemas.openxmlformats.org/officeDocument/2006/relationships/notesSlide" Target="/ppt/notesSlides/notesSlide11.xml" Id="R75fc962cc79b4c7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f5a9cc54be748ce" /><Relationship Type="http://schemas.openxmlformats.org/officeDocument/2006/relationships/notesSlide" Target="/ppt/notesSlides/notesSlide12.xml" Id="Rcd5373f8655f4e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8b2de781d504073" /><Relationship Type="http://schemas.openxmlformats.org/officeDocument/2006/relationships/chart" Target="/ppt/slides/charts/chart3.xml" Id="Rabee4e16f4c14cae" /><Relationship Type="http://schemas.openxmlformats.org/officeDocument/2006/relationships/notesSlide" Target="/ppt/notesSlides/notesSlide13.xml" Id="R1ae3df4c348f4eb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ab0be8b03024906" /><Relationship Type="http://schemas.openxmlformats.org/officeDocument/2006/relationships/notesSlide" Target="/ppt/notesSlides/notesSlide14.xml" Id="Radfdcda30f5b42c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997f18e6c3a4d88" /><Relationship Type="http://schemas.openxmlformats.org/officeDocument/2006/relationships/chart" Target="/ppt/slides/charts/chart4.xml" Id="R75ab42248e0d48e7" /><Relationship Type="http://schemas.openxmlformats.org/officeDocument/2006/relationships/notesSlide" Target="/ppt/notesSlides/notesSlide15.xml" Id="R83e4e192c7fc453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7e167c6dcfe4c04" /><Relationship Type="http://schemas.openxmlformats.org/officeDocument/2006/relationships/notesSlide" Target="/ppt/notesSlides/notesSlide16.xml" Id="R66f60713dfd4447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f80af3f0aaf49f2" /><Relationship Type="http://schemas.openxmlformats.org/officeDocument/2006/relationships/notesSlide" Target="/ppt/notesSlides/notesSlide17.xml" Id="Rf52fc1454b58470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114a988ef424fde" /><Relationship Type="http://schemas.openxmlformats.org/officeDocument/2006/relationships/notesSlide" Target="/ppt/notesSlides/notesSlide18.xml" Id="R62d11199f81f4af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a95941af883436d" /><Relationship Type="http://schemas.openxmlformats.org/officeDocument/2006/relationships/chart" Target="/ppt/slides/charts/chart5.xml" Id="Re7194acb95c2414c" /><Relationship Type="http://schemas.openxmlformats.org/officeDocument/2006/relationships/notesSlide" Target="/ppt/notesSlides/notesSlide19.xml" Id="R2d86a36e4eb643e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27ccf27d1df4d23" /><Relationship Type="http://schemas.openxmlformats.org/officeDocument/2006/relationships/chart" Target="/ppt/slides/charts/chart6.xml" Id="Rb381fda918984ec8" /><Relationship Type="http://schemas.openxmlformats.org/officeDocument/2006/relationships/notesSlide" Target="/ppt/notesSlides/notesSlide20.xml" Id="Rd9a5e95fdacf421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0b55fa8e4dd4555" /><Relationship Type="http://schemas.openxmlformats.org/officeDocument/2006/relationships/notesSlide" Target="/ppt/notesSlides/notesSlide21.xml" Id="R1cc9775a540443a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4dc0867ca784a42" /><Relationship Type="http://schemas.openxmlformats.org/officeDocument/2006/relationships/notesSlide" Target="/ppt/notesSlides/notesSlide22.xml" Id="R4aafa94a9ffb464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8ad4cc745d14bd0" /><Relationship Type="http://schemas.openxmlformats.org/officeDocument/2006/relationships/notesSlide" Target="/ppt/notesSlides/notesSlide23.xml" Id="R3c022499ecf2499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894d9a3e9044de9" /><Relationship Type="http://schemas.openxmlformats.org/officeDocument/2006/relationships/notesSlide" Target="/ppt/notesSlides/notesSlide24.xml" Id="Rc33e72cd7f8849c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ab6f881658a44ad" /><Relationship Type="http://schemas.openxmlformats.org/officeDocument/2006/relationships/notesSlide" Target="/ppt/notesSlides/notesSlide25.xml" Id="R8260d8d0d1f8476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90a455e0c2f48ff" /><Relationship Type="http://schemas.openxmlformats.org/officeDocument/2006/relationships/notesSlide" Target="/ppt/notesSlides/notesSlide26.xml" Id="Rdd798effa50149a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d84f62bd4904279" /><Relationship Type="http://schemas.openxmlformats.org/officeDocument/2006/relationships/notesSlide" Target="/ppt/notesSlides/notesSlide27.xml" Id="R09cba54a617e4e5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369f4b2a69c43d8" /><Relationship Type="http://schemas.openxmlformats.org/officeDocument/2006/relationships/notesSlide" Target="/ppt/notesSlides/notesSlide28.xml" Id="R534c6a5b305f4ce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d8cf603951d47e9" /><Relationship Type="http://schemas.openxmlformats.org/officeDocument/2006/relationships/notesSlide" Target="/ppt/notesSlides/notesSlide29.xml" Id="Rf41c8f48107e4c9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493a45137254b51" /><Relationship Type="http://schemas.openxmlformats.org/officeDocument/2006/relationships/notesSlide" Target="/ppt/notesSlides/notesSlide30.xml" Id="R6a9003bb1a574d3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64406241717467b" /><Relationship Type="http://schemas.openxmlformats.org/officeDocument/2006/relationships/notesSlide" Target="/ppt/notesSlides/notesSlide31.xml" Id="R92e17cae4d1c4da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1eb190ad8c54861" /><Relationship Type="http://schemas.openxmlformats.org/officeDocument/2006/relationships/chart" Target="/ppt/slides/charts/chart7.xml" Id="R611aee0142c24ce4" /><Relationship Type="http://schemas.openxmlformats.org/officeDocument/2006/relationships/notesSlide" Target="/ppt/notesSlides/notesSlide32.xml" Id="R240a3b141caa4ff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310776eb732458e" /><Relationship Type="http://schemas.openxmlformats.org/officeDocument/2006/relationships/notesSlide" Target="/ppt/notesSlides/notesSlide33.xml" Id="R1e4e6b404079497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9a25e72628f4a22" /><Relationship Type="http://schemas.openxmlformats.org/officeDocument/2006/relationships/notesSlide" Target="/ppt/notesSlides/notesSlide34.xml" Id="R2576b2969161468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20b20776dfc4291" /><Relationship Type="http://schemas.openxmlformats.org/officeDocument/2006/relationships/notesSlide" Target="/ppt/notesSlides/notesSlide35.xml" Id="Reea445cbe99840f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54ff3c2ad674eb3" /><Relationship Type="http://schemas.openxmlformats.org/officeDocument/2006/relationships/notesSlide" Target="/ppt/notesSlides/notesSlide36.xml" Id="Rfd0b3da0e8dc47f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d7ed2333cdc24e88" /><Relationship Type="http://schemas.openxmlformats.org/officeDocument/2006/relationships/notesSlide" Target="/ppt/notesSlides/notesSlide37.xml" Id="Rcb834f1044a94e2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79f2a55d9434411" /><Relationship Type="http://schemas.openxmlformats.org/officeDocument/2006/relationships/image" Target="/ppt/media/image.png" Id="R78685254ae6e45e7" /><Relationship Type="http://schemas.openxmlformats.org/officeDocument/2006/relationships/notesSlide" Target="/ppt/notesSlides/notesSlide38.xml" Id="R72120279eee04af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ec76d614abe348e8" /><Relationship Type="http://schemas.openxmlformats.org/officeDocument/2006/relationships/chart" Target="/ppt/slides/charts/chart8.xml" Id="R76033905be8c4cee" /><Relationship Type="http://schemas.openxmlformats.org/officeDocument/2006/relationships/notesSlide" Target="/ppt/notesSlides/notesSlide39.xml" Id="R5dbe4cc5af9d453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49eb02b5f6e949a9" /><Relationship Type="http://schemas.openxmlformats.org/officeDocument/2006/relationships/notesSlide" Target="/ppt/notesSlides/notesSlide40.xml" Id="R8a0cb0ff3cf4407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9eebad9b33d04077" /><Relationship Type="http://schemas.openxmlformats.org/officeDocument/2006/relationships/notesSlide" Target="/ppt/notesSlides/notesSlide41.xml" Id="R507335e202994cb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c56fdff125b9427a" /><Relationship Type="http://schemas.openxmlformats.org/officeDocument/2006/relationships/chart" Target="/ppt/slides/charts/chart9.xml" Id="R74a6798e94b84deb" /><Relationship Type="http://schemas.openxmlformats.org/officeDocument/2006/relationships/notesSlide" Target="/ppt/notesSlides/notesSlide42.xml" Id="R3b90f633ba39426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3f732eaa63b34f3e" /><Relationship Type="http://schemas.openxmlformats.org/officeDocument/2006/relationships/chart" Target="/ppt/slides/charts/chart10.xml" Id="Rb4f058b119b9484c" /><Relationship Type="http://schemas.openxmlformats.org/officeDocument/2006/relationships/notesSlide" Target="/ppt/notesSlides/notesSlide43.xml" Id="Rb5068566164b425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262dd70c38a84063" /><Relationship Type="http://schemas.openxmlformats.org/officeDocument/2006/relationships/chart" Target="/ppt/slides/charts/chart11.xml" Id="R978d97bf32814d8d" /><Relationship Type="http://schemas.openxmlformats.org/officeDocument/2006/relationships/notesSlide" Target="/ppt/notesSlides/notesSlide44.xml" Id="R23437428672e444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e41e7346536b4671" /><Relationship Type="http://schemas.openxmlformats.org/officeDocument/2006/relationships/chart" Target="/ppt/slides/charts/chart12.xml" Id="R05cefe17d62d41f5" /><Relationship Type="http://schemas.openxmlformats.org/officeDocument/2006/relationships/notesSlide" Target="/ppt/notesSlides/notesSlide45.xml" Id="R624526ea8bf1469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42b745ea93d74b0a" /><Relationship Type="http://schemas.openxmlformats.org/officeDocument/2006/relationships/notesSlide" Target="/ppt/notesSlides/notesSlide46.xml" Id="Rd2bb1600c6e441b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f89197a63ada46c1" /><Relationship Type="http://schemas.openxmlformats.org/officeDocument/2006/relationships/chart" Target="/ppt/slides/charts/chart13.xml" Id="R0e07a300f194425f" /><Relationship Type="http://schemas.openxmlformats.org/officeDocument/2006/relationships/notesSlide" Target="/ppt/notesSlides/notesSlide47.xml" Id="R2ac931e4bad640b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b7c2a2b364b487c" /><Relationship Type="http://schemas.openxmlformats.org/officeDocument/2006/relationships/chart" Target="/ppt/slides/charts/chart14.xml" Id="Re4199b6783404a9b" /><Relationship Type="http://schemas.openxmlformats.org/officeDocument/2006/relationships/notesSlide" Target="/ppt/notesSlides/notesSlide48.xml" Id="R77f3ba8a62b942b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94eaa5203ba44ac5" /><Relationship Type="http://schemas.openxmlformats.org/officeDocument/2006/relationships/notesSlide" Target="/ppt/notesSlides/notesSlide49.xml" Id="Ra528f2570b684dd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ac81f762ceda4d0f" /><Relationship Type="http://schemas.openxmlformats.org/officeDocument/2006/relationships/notesSlide" Target="/ppt/notesSlides/notesSlide50.xml" Id="R680476fe1e484d4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8958c39733e74555" /><Relationship Type="http://schemas.openxmlformats.org/officeDocument/2006/relationships/notesSlide" Target="/ppt/notesSlides/notesSlide51.xml" Id="R7318d9f2cfab4b9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d737aec357224baa" /><Relationship Type="http://schemas.openxmlformats.org/officeDocument/2006/relationships/chart" Target="/ppt/slides/charts/chart15.xml" Id="Rba2984ff3d2e4b56" /><Relationship Type="http://schemas.openxmlformats.org/officeDocument/2006/relationships/notesSlide" Target="/ppt/notesSlides/notesSlide52.xml" Id="R517e96acb1b641a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d6688a1994db4950" /><Relationship Type="http://schemas.openxmlformats.org/officeDocument/2006/relationships/notesSlide" Target="/ppt/notesSlides/notesSlide53.xml" Id="R2c609d6ceb3a4de1"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238c56533d454a90" /><Relationship Type="http://schemas.openxmlformats.org/officeDocument/2006/relationships/chart" Target="/ppt/slides/charts/chart16.xml" Id="Re9c9de0f4c4348dc" /><Relationship Type="http://schemas.openxmlformats.org/officeDocument/2006/relationships/notesSlide" Target="/ppt/notesSlides/notesSlide54.xml" Id="Rc974304688814e72"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6d463d352e5840bb" /><Relationship Type="http://schemas.openxmlformats.org/officeDocument/2006/relationships/chart" Target="/ppt/slides/charts/chart17.xml" Id="Re606caa7b4aa41c3" /><Relationship Type="http://schemas.openxmlformats.org/officeDocument/2006/relationships/notesSlide" Target="/ppt/notesSlides/notesSlide55.xml" Id="R2f37ce17e34343d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2079b708288442c5" /><Relationship Type="http://schemas.openxmlformats.org/officeDocument/2006/relationships/notesSlide" Target="/ppt/notesSlides/notesSlide56.xml" Id="R779e8d20cbb04ed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ed1595e71f09496e" /><Relationship Type="http://schemas.openxmlformats.org/officeDocument/2006/relationships/notesSlide" Target="/ppt/notesSlides/notesSlide57.xml" Id="R4d404150585042d9"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c8522d89890f4450" /><Relationship Type="http://schemas.openxmlformats.org/officeDocument/2006/relationships/notesSlide" Target="/ppt/notesSlides/notesSlide58.xml" Id="R675de6ad5e1a424e"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5ff08f904e364e81" /><Relationship Type="http://schemas.openxmlformats.org/officeDocument/2006/relationships/chart" Target="/ppt/slides/charts/chart18.xml" Id="R676a9bdbf61f49cf" /><Relationship Type="http://schemas.openxmlformats.org/officeDocument/2006/relationships/notesSlide" Target="/ppt/notesSlides/notesSlide59.xml" Id="R7add1b6b038e4c05"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d691a7b0823f41ff" /><Relationship Type="http://schemas.openxmlformats.org/officeDocument/2006/relationships/notesSlide" Target="/ppt/notesSlides/notesSlide60.xml" Id="Rd7f2691f57b448e5"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6c5d7378fdaf4cad" /><Relationship Type="http://schemas.openxmlformats.org/officeDocument/2006/relationships/chart" Target="/ppt/slides/charts/chart19.xml" Id="R7e03a3eebd3e47ab" /><Relationship Type="http://schemas.openxmlformats.org/officeDocument/2006/relationships/notesSlide" Target="/ppt/notesSlides/notesSlide61.xml" Id="Rc05d4956990d4d5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b53d0e511a6740c1" /><Relationship Type="http://schemas.openxmlformats.org/officeDocument/2006/relationships/notesSlide" Target="/ppt/notesSlides/notesSlide62.xml" Id="Ra70f991c56ae4fb5"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3ee21d564d6b4abc" /><Relationship Type="http://schemas.openxmlformats.org/officeDocument/2006/relationships/notesSlide" Target="/ppt/notesSlides/notesSlide63.xml" Id="R0af50f8197c04c0b"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f2ae46e99023473f" /><Relationship Type="http://schemas.openxmlformats.org/officeDocument/2006/relationships/notesSlide" Target="/ppt/notesSlides/notesSlide64.xml" Id="Ref9f53681151468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_rels/chart17.xml.rels><Relationships xmlns="http://schemas.openxmlformats.org/package/2006/relationships"><Relationship Id="rIdChartSnapshot1" Type="http://schemas.openxmlformats.org/officeDocument/2006/relationships/package" Target="../../embeddings/chart-data-snapshot-017.xlsx"/></Relationships>
</file>

<file path=ppt/slides/charts/_rels/chart18.xml.rels><Relationships xmlns="http://schemas.openxmlformats.org/package/2006/relationships"><Relationship Id="rIdChartSnapshot1" Type="http://schemas.openxmlformats.org/officeDocument/2006/relationships/package" Target="../../embeddings/chart-data-snapshot-018.xlsx"/></Relationships>
</file>

<file path=ppt/slides/charts/_rels/chart19.xml.rels><Relationships xmlns="http://schemas.openxmlformats.org/package/2006/relationships"><Relationship Id="rIdChartSnapshot1" Type="http://schemas.openxmlformats.org/officeDocument/2006/relationships/package" Target="../../embeddings/chart-data-snapshot-019.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2C3B"/>
                </a:solidFill>
                <a:latin typeface="Arial"/>
                <a:ea typeface="Arial"/>
                <a:cs typeface="Arial"/>
              </a:rPr>
              <a:t>Literature evidence trail</a:t>
            </a:r>
          </a:p>
        </c:rich>
      </c:tx>
      <c:overlay val="0"/>
      <c:txPr>
        <a:bodyPr xmlns:a="http://schemas.openxmlformats.org/drawingml/2006/main" anchorCtr="1"/>
        <a:lstStyle xmlns:a="http://schemas.openxmlformats.org/drawingml/2006/main"/>
        <a:p xmlns:a="http://schemas.openxmlformats.org/drawingml/2006/main">
          <a:pPr>
            <a:defRPr sz="1725" b="1">
              <a:solidFill>
                <a:srgbClr val="152C3B"/>
              </a:solidFill>
              <a:latin typeface="Arial"/>
              <a:ea typeface="Arial"/>
              <a:cs typeface="Arial"/>
            </a:defRPr>
          </a:pPr>
        </a:p>
      </c:txPr>
    </c:title>
    <c:plotArea>
      <c:barChart>
        <c:barDir val="col"/>
        <c:grouping val="clustered"/>
        <c:varyColors val="0"/>
        <c:ser>
          <c:idx val="0"/>
          <c:order val="0"/>
          <c:tx>
            <c:v>Recorded count</c:v>
          </c:tx>
          <c:spPr>
            <a:solidFill xmlns:a="http://schemas.openxmlformats.org/drawingml/2006/main">
              <a:srgbClr val="2568A5"/>
            </a:solidFill>
            <a:ln xmlns:a="http://schemas.openxmlformats.org/drawingml/2006/main" w="28575">
              <a:solidFill>
                <a:srgbClr val="2568A5"/>
              </a:solidFill>
            </a:ln>
          </c:spPr>
          <c:invertIfNegative val="0"/>
          <c:cat>
            <c:strRef>
              <c:f>'Chart Data'!$A$2:$A$3</c:f>
              <c:strCache>
                <c:ptCount val="2"/>
                <c:pt idx="0">
                  <c:v>Sources</c:v>
                </c:pt>
                <c:pt idx="1">
                  <c:v>Source links</c:v>
                </c:pt>
              </c:strCache>
            </c:strRef>
          </c:cat>
          <c:val>
            <c:numRef>
              <c:f>'Chart Data'!$B$2:$B$3</c:f>
              <c:numCache>
                <c:formatCode>0</c:formatCode>
                <c:ptCount val="2"/>
                <c:pt idx="0">
                  <c:v>21</c:v>
                </c:pt>
                <c:pt idx="1">
                  <c:v>63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350">
                  <a:solidFill>
                    <a:srgbClr val="152C3B"/>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Count</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2C3B"/>
                </a:solidFill>
                <a:latin typeface="Arial"/>
                <a:ea typeface="Arial"/>
                <a:cs typeface="Arial"/>
              </a:rPr>
              <a:t>Acquisition verification</a:t>
            </a:r>
          </a:p>
        </c:rich>
      </c:tx>
      <c:overlay val="0"/>
      <c:txPr>
        <a:bodyPr xmlns:a="http://schemas.openxmlformats.org/drawingml/2006/main" anchorCtr="1"/>
        <a:lstStyle xmlns:a="http://schemas.openxmlformats.org/drawingml/2006/main"/>
        <a:p xmlns:a="http://schemas.openxmlformats.org/drawingml/2006/main">
          <a:pPr>
            <a:defRPr sz="1725" b="1">
              <a:solidFill>
                <a:srgbClr val="152C3B"/>
              </a:solidFill>
              <a:latin typeface="Arial"/>
              <a:ea typeface="Arial"/>
              <a:cs typeface="Arial"/>
            </a:defRPr>
          </a:pPr>
        </a:p>
      </c:txPr>
    </c:title>
    <c:plotArea>
      <c:barChart>
        <c:barDir val="col"/>
        <c:grouping val="clustered"/>
        <c:varyColors val="0"/>
        <c:ser>
          <c:idx val="0"/>
          <c:order val="0"/>
          <c:tx>
            <c:v>Files</c:v>
          </c:tx>
          <c:spPr>
            <a:solidFill xmlns:a="http://schemas.openxmlformats.org/drawingml/2006/main">
              <a:srgbClr val="2568A5"/>
            </a:solidFill>
            <a:ln xmlns:a="http://schemas.openxmlformats.org/drawingml/2006/main" w="28575">
              <a:solidFill>
                <a:srgbClr val="2568A5"/>
              </a:solidFill>
            </a:ln>
          </c:spPr>
          <c:invertIfNegative val="0"/>
          <c:cat>
            <c:strRef>
              <c:f>'Chart Data'!$A$2:$A$4</c:f>
              <c:strCache>
                <c:ptCount val="3"/>
                <c:pt idx="0">
                  <c:v>Expected files</c:v>
                </c:pt>
                <c:pt idx="1">
                  <c:v>Verified files</c:v>
                </c:pt>
                <c:pt idx="2">
                  <c:v>Failed files</c:v>
                </c:pt>
              </c:strCache>
            </c:strRef>
          </c:cat>
          <c:val>
            <c:numRef>
              <c:f>'Chart Data'!$B$2:$B$4</c:f>
              <c:numCache>
                <c:formatCode>0</c:formatCode>
                <c:ptCount val="3"/>
                <c:pt idx="0">
                  <c:v>6824</c:v>
                </c:pt>
                <c:pt idx="1">
                  <c:v>6824</c:v>
                </c:pt>
                <c:pt idx="2">
                  <c:v>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350">
                  <a:solidFill>
                    <a:srgbClr val="152C3B"/>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Files</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2C3B"/>
                </a:solidFill>
                <a:latin typeface="Arial"/>
                <a:ea typeface="Arial"/>
                <a:cs typeface="Arial"/>
              </a:rPr>
              <a:t>Sampled replay minus match clock</a:t>
            </a:r>
          </a:p>
        </c:rich>
      </c:tx>
      <c:overlay val="0"/>
      <c:txPr>
        <a:bodyPr xmlns:a="http://schemas.openxmlformats.org/drawingml/2006/main" anchorCtr="1"/>
        <a:lstStyle xmlns:a="http://schemas.openxmlformats.org/drawingml/2006/main"/>
        <a:p xmlns:a="http://schemas.openxmlformats.org/drawingml/2006/main">
          <a:pPr>
            <a:defRPr sz="1725" b="1">
              <a:solidFill>
                <a:srgbClr val="152C3B"/>
              </a:solidFill>
              <a:latin typeface="Arial"/>
              <a:ea typeface="Arial"/>
              <a:cs typeface="Arial"/>
            </a:defRPr>
          </a:pPr>
        </a:p>
      </c:txPr>
    </c:title>
    <c:plotArea>
      <c:barChart>
        <c:barDir val="col"/>
        <c:grouping val="clustered"/>
        <c:varyColors val="0"/>
        <c:ser>
          <c:idx val="0"/>
          <c:order val="0"/>
          <c:tx>
            <c:v>Difference in seconds</c:v>
          </c:tx>
          <c:spPr>
            <a:solidFill xmlns:a="http://schemas.openxmlformats.org/drawingml/2006/main">
              <a:srgbClr val="2568A5"/>
            </a:solidFill>
            <a:ln xmlns:a="http://schemas.openxmlformats.org/drawingml/2006/main" w="28575">
              <a:solidFill>
                <a:srgbClr val="2568A5"/>
              </a:solidFill>
            </a:ln>
          </c:spPr>
          <c:invertIfNegative val="0"/>
          <c:cat>
            <c:strRef>
              <c:f>'Chart Data'!$A$2:$A$4</c:f>
              <c:strCache>
                <c:ptCount val="3"/>
                <c:pt idx="0">
                  <c:v>Median</c:v>
                </c:pt>
                <c:pt idx="1">
                  <c:v>75th percentile</c:v>
                </c:pt>
                <c:pt idx="2">
                  <c:v>95th percentile</c:v>
                </c:pt>
              </c:strCache>
            </c:strRef>
          </c:cat>
          <c:val>
            <c:numRef>
              <c:f>'Chart Data'!$B$2:$B$4</c:f>
              <c:numCache>
                <c:formatCode>0.0</c:formatCode>
                <c:ptCount val="3"/>
                <c:pt idx="0">
                  <c:v>0.0666633333333</c:v>
                </c:pt>
                <c:pt idx="1">
                  <c:v>0.399866666667</c:v>
                </c:pt>
                <c:pt idx="2">
                  <c:v>153.3334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52C3B"/>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2C3B"/>
                </a:solidFill>
                <a:latin typeface="Arial"/>
                <a:ea typeface="Arial"/>
                <a:cs typeface="Arial"/>
              </a:rPr>
              <a:t>Metadata draft consistency checks</a:t>
            </a:r>
          </a:p>
        </c:rich>
      </c:tx>
      <c:overlay val="0"/>
      <c:txPr>
        <a:bodyPr xmlns:a="http://schemas.openxmlformats.org/drawingml/2006/main" anchorCtr="1"/>
        <a:lstStyle xmlns:a="http://schemas.openxmlformats.org/drawingml/2006/main"/>
        <a:p xmlns:a="http://schemas.openxmlformats.org/drawingml/2006/main">
          <a:pPr>
            <a:defRPr sz="1725" b="1">
              <a:solidFill>
                <a:srgbClr val="152C3B"/>
              </a:solidFill>
              <a:latin typeface="Arial"/>
              <a:ea typeface="Arial"/>
              <a:cs typeface="Arial"/>
            </a:defRPr>
          </a:pPr>
        </a:p>
      </c:txPr>
    </c:title>
    <c:plotArea>
      <c:barChart>
        <c:barDir val="col"/>
        <c:grouping val="clustered"/>
        <c:varyColors val="0"/>
        <c:ser>
          <c:idx val="0"/>
          <c:order val="0"/>
          <c:tx>
            <c:v>Matches</c:v>
          </c:tx>
          <c:spPr>
            <a:solidFill xmlns:a="http://schemas.openxmlformats.org/drawingml/2006/main">
              <a:srgbClr val="2568A5"/>
            </a:solidFill>
            <a:ln xmlns:a="http://schemas.openxmlformats.org/drawingml/2006/main" w="28575">
              <a:solidFill>
                <a:srgbClr val="2568A5"/>
              </a:solidFill>
            </a:ln>
          </c:spPr>
          <c:invertIfNegative val="0"/>
          <c:cat>
            <c:strRef>
              <c:f>'Chart Data'!$A$2:$A$4</c:f>
              <c:strCache>
                <c:ptCount val="3"/>
                <c:pt idx="0">
                  <c:v>Agreed</c:v>
                </c:pt>
                <c:pt idx="1">
                  <c:v>Mismatched</c:v>
                </c:pt>
                <c:pt idx="2">
                  <c:v>Unavailable</c:v>
                </c:pt>
              </c:strCache>
            </c:strRef>
          </c:cat>
          <c:val>
            <c:numRef>
              <c:f>'Chart Data'!$B$2:$B$4</c:f>
              <c:numCache>
                <c:formatCode>0</c:formatCode>
                <c:ptCount val="3"/>
                <c:pt idx="0">
                  <c:v>9071</c:v>
                </c:pt>
                <c:pt idx="1">
                  <c:v>0</c:v>
                </c:pt>
                <c:pt idx="2">
                  <c:v>314</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350">
                  <a:solidFill>
                    <a:srgbClr val="152C3B"/>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Matches</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2C3B"/>
                </a:solidFill>
                <a:latin typeface="Arial"/>
                <a:ea typeface="Arial"/>
                <a:cs typeface="Arial"/>
              </a:rPr>
              <a:t>Observed match and time groups through preparation</a:t>
            </a:r>
          </a:p>
        </c:rich>
      </c:tx>
      <c:overlay val="0"/>
      <c:txPr>
        <a:bodyPr xmlns:a="http://schemas.openxmlformats.org/drawingml/2006/main" anchorCtr="1"/>
        <a:lstStyle xmlns:a="http://schemas.openxmlformats.org/drawingml/2006/main"/>
        <a:p xmlns:a="http://schemas.openxmlformats.org/drawingml/2006/main">
          <a:pPr>
            <a:defRPr sz="1725" b="1">
              <a:solidFill>
                <a:srgbClr val="152C3B"/>
              </a:solidFill>
              <a:latin typeface="Arial"/>
              <a:ea typeface="Arial"/>
              <a:cs typeface="Arial"/>
            </a:defRPr>
          </a:pPr>
        </a:p>
      </c:txPr>
    </c:title>
    <c:plotArea>
      <c:barChart>
        <c:barDir val="col"/>
        <c:grouping val="clustered"/>
        <c:varyColors val="0"/>
        <c:ser>
          <c:idx val="0"/>
          <c:order val="0"/>
          <c:tx>
            <c:v>Groups</c:v>
          </c:tx>
          <c:spPr>
            <a:solidFill xmlns:a="http://schemas.openxmlformats.org/drawingml/2006/main">
              <a:srgbClr val="2568A5"/>
            </a:solidFill>
            <a:ln xmlns:a="http://schemas.openxmlformats.org/drawingml/2006/main" w="28575">
              <a:solidFill>
                <a:srgbClr val="2568A5"/>
              </a:solidFill>
            </a:ln>
          </c:spPr>
          <c:invertIfNegative val="0"/>
          <c:cat>
            <c:strRef>
              <c:f>'Chart Data'!$A$2:$A$4</c:f>
              <c:strCache>
                <c:ptCount val="3"/>
                <c:pt idx="0">
                  <c:v>Before identity</c:v>
                </c:pt>
                <c:pt idx="1">
                  <c:v>Valid identity</c:v>
                </c:pt>
                <c:pt idx="2">
                  <c:v>Final feature rows</c:v>
                </c:pt>
              </c:strCache>
            </c:strRef>
          </c:cat>
          <c:val>
            <c:numRef>
              <c:f>'Chart Data'!$B$2:$B$4</c:f>
              <c:numCache>
                <c:formatCode>0</c:formatCode>
                <c:ptCount val="3"/>
                <c:pt idx="0">
                  <c:v>21525</c:v>
                </c:pt>
                <c:pt idx="1">
                  <c:v>21462</c:v>
                </c:pt>
                <c:pt idx="2">
                  <c:v>21040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350">
                  <a:solidFill>
                    <a:srgbClr val="152C3B"/>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Match and time groups</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2C3B"/>
                </a:solidFill>
                <a:latin typeface="Arial"/>
                <a:ea typeface="Arial"/>
                <a:cs typeface="Arial"/>
              </a:rPr>
              <a:t>Match partitions before horizon eligibility</a:t>
            </a:r>
          </a:p>
        </c:rich>
      </c:tx>
      <c:overlay val="0"/>
      <c:txPr>
        <a:bodyPr xmlns:a="http://schemas.openxmlformats.org/drawingml/2006/main" anchorCtr="1"/>
        <a:lstStyle xmlns:a="http://schemas.openxmlformats.org/drawingml/2006/main"/>
        <a:p xmlns:a="http://schemas.openxmlformats.org/drawingml/2006/main">
          <a:pPr>
            <a:defRPr sz="1725" b="1">
              <a:solidFill>
                <a:srgbClr val="152C3B"/>
              </a:solidFill>
              <a:latin typeface="Arial"/>
              <a:ea typeface="Arial"/>
              <a:cs typeface="Arial"/>
            </a:defRPr>
          </a:pPr>
        </a:p>
      </c:txPr>
    </c:title>
    <c:plotArea>
      <c:barChart>
        <c:barDir val="col"/>
        <c:grouping val="clustered"/>
        <c:varyColors val="0"/>
        <c:ser>
          <c:idx val="0"/>
          <c:order val="0"/>
          <c:tx>
            <c:v>Matches</c:v>
          </c:tx>
          <c:spPr>
            <a:solidFill xmlns:a="http://schemas.openxmlformats.org/drawingml/2006/main">
              <a:srgbClr val="2568A5"/>
            </a:solidFill>
            <a:ln xmlns:a="http://schemas.openxmlformats.org/drawingml/2006/main" w="28575">
              <a:solidFill>
                <a:srgbClr val="2568A5"/>
              </a:solidFill>
            </a:ln>
          </c:spPr>
          <c:invertIfNegative val="0"/>
          <c:cat>
            <c:strRef>
              <c:f>'Chart Data'!$A$2:$A$5</c:f>
              <c:strCache>
                <c:ptCount val="4"/>
                <c:pt idx="0">
                  <c:v>Train</c:v>
                </c:pt>
                <c:pt idx="1">
                  <c:v>Validation</c:v>
                </c:pt>
                <c:pt idx="2">
                  <c:v>Calibration</c:v>
                </c:pt>
                <c:pt idx="3">
                  <c:v>Final test</c:v>
                </c:pt>
              </c:strCache>
            </c:strRef>
          </c:cat>
          <c:val>
            <c:numRef>
              <c:f>'Chart Data'!$B$2:$B$5</c:f>
              <c:numCache>
                <c:formatCode>0</c:formatCode>
                <c:ptCount val="4"/>
                <c:pt idx="0">
                  <c:v>5620</c:v>
                </c:pt>
                <c:pt idx="1">
                  <c:v>1390</c:v>
                </c:pt>
                <c:pt idx="2">
                  <c:v>485</c:v>
                </c:pt>
                <c:pt idx="3">
                  <c:v>1890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350">
                  <a:solidFill>
                    <a:srgbClr val="152C3B"/>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Matches</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2C3B"/>
                </a:solidFill>
                <a:latin typeface="Arial"/>
                <a:ea typeface="Arial"/>
                <a:cs typeface="Arial"/>
              </a:rPr>
              <a:t>Input and layer widths</a:t>
            </a:r>
          </a:p>
        </c:rich>
      </c:tx>
      <c:overlay val="0"/>
      <c:txPr>
        <a:bodyPr xmlns:a="http://schemas.openxmlformats.org/drawingml/2006/main" anchorCtr="1"/>
        <a:lstStyle xmlns:a="http://schemas.openxmlformats.org/drawingml/2006/main"/>
        <a:p xmlns:a="http://schemas.openxmlformats.org/drawingml/2006/main">
          <a:pPr>
            <a:defRPr sz="1725" b="1">
              <a:solidFill>
                <a:srgbClr val="152C3B"/>
              </a:solidFill>
              <a:latin typeface="Arial"/>
              <a:ea typeface="Arial"/>
              <a:cs typeface="Arial"/>
            </a:defRPr>
          </a:pPr>
        </a:p>
      </c:txPr>
    </c:title>
    <c:plotArea>
      <c:barChart>
        <c:barDir val="col"/>
        <c:grouping val="clustered"/>
        <c:varyColors val="0"/>
        <c:ser>
          <c:idx val="0"/>
          <c:order val="0"/>
          <c:tx>
            <c:v>Units</c:v>
          </c:tx>
          <c:spPr>
            <a:solidFill xmlns:a="http://schemas.openxmlformats.org/drawingml/2006/main">
              <a:srgbClr val="2568A5"/>
            </a:solidFill>
            <a:ln xmlns:a="http://schemas.openxmlformats.org/drawingml/2006/main" w="28575">
              <a:solidFill>
                <a:srgbClr val="2568A5"/>
              </a:solidFill>
            </a:ln>
          </c:spPr>
          <c:invertIfNegative val="0"/>
          <c:cat>
            <c:strRef>
              <c:f>'Chart Data'!$A$2:$A$5</c:f>
              <c:strCache>
                <c:ptCount val="4"/>
                <c:pt idx="0">
                  <c:v>Input features</c:v>
                </c:pt>
                <c:pt idx="1">
                  <c:v>Hidden layer 1</c:v>
                </c:pt>
                <c:pt idx="2">
                  <c:v>Hidden layer 2</c:v>
                </c:pt>
                <c:pt idx="3">
                  <c:v>Output</c:v>
                </c:pt>
              </c:strCache>
            </c:strRef>
          </c:cat>
          <c:val>
            <c:numRef>
              <c:f>'Chart Data'!$B$2:$B$5</c:f>
              <c:numCache>
                <c:formatCode>0</c:formatCode>
                <c:ptCount val="4"/>
                <c:pt idx="0">
                  <c:v>10</c:v>
                </c:pt>
                <c:pt idx="1">
                  <c:v>64</c:v>
                </c:pt>
                <c:pt idx="2">
                  <c:v>64</c:v>
                </c:pt>
                <c:pt idx="3">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350">
                  <a:solidFill>
                    <a:srgbClr val="152C3B"/>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Feature values or layer units</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2C3B"/>
                </a:solidFill>
                <a:latin typeface="Arial"/>
                <a:ea typeface="Arial"/>
                <a:cs typeface="Arial"/>
              </a:rPr>
              <a:t>Primary neural importance on development data</a:t>
            </a:r>
          </a:p>
        </c:rich>
      </c:tx>
      <c:overlay val="0"/>
      <c:txPr>
        <a:bodyPr xmlns:a="http://schemas.openxmlformats.org/drawingml/2006/main" anchorCtr="1"/>
        <a:lstStyle xmlns:a="http://schemas.openxmlformats.org/drawingml/2006/main"/>
        <a:p xmlns:a="http://schemas.openxmlformats.org/drawingml/2006/main">
          <a:pPr>
            <a:defRPr sz="1725" b="1">
              <a:solidFill>
                <a:srgbClr val="152C3B"/>
              </a:solidFill>
              <a:latin typeface="Arial"/>
              <a:ea typeface="Arial"/>
              <a:cs typeface="Arial"/>
            </a:defRPr>
          </a:pPr>
        </a:p>
      </c:txPr>
    </c:title>
    <c:plotArea>
      <c:barChart>
        <c:barDir val="bar"/>
        <c:grouping val="clustered"/>
        <c:varyColors val="0"/>
        <c:ser>
          <c:idx val="0"/>
          <c:order val="0"/>
          <c:tx>
            <c:v>Mean absolute SHAP</c:v>
          </c:tx>
          <c:spPr>
            <a:solidFill xmlns:a="http://schemas.openxmlformats.org/drawingml/2006/main">
              <a:srgbClr val="2568A5"/>
            </a:solidFill>
            <a:ln xmlns:a="http://schemas.openxmlformats.org/drawingml/2006/main" w="28575">
              <a:solidFill>
                <a:srgbClr val="2568A5"/>
              </a:solidFill>
            </a:ln>
          </c:spPr>
          <c:invertIfNegative val="0"/>
          <c:cat>
            <c:strRef>
              <c:f>'Chart Data'!$A$2:$A$6</c:f>
              <c:strCache>
                <c:ptCount val="5"/>
                <c:pt idx="0">
                  <c:v>Net worth</c:v>
                </c:pt>
                <c:pt idx="1">
                  <c:v>Experience</c:v>
                </c:pt>
                <c:pt idx="2">
                  <c:v>Towers alive</c:v>
                </c:pt>
                <c:pt idx="3">
                  <c:v>Last hits</c:v>
                </c:pt>
                <c:pt idx="4">
                  <c:v>Assists</c:v>
                </c:pt>
              </c:strCache>
            </c:strRef>
          </c:cat>
          <c:val>
            <c:numRef>
              <c:f>'Chart Data'!$B$2:$B$6</c:f>
              <c:numCache>
                <c:formatCode>0.0</c:formatCode>
                <c:ptCount val="5"/>
                <c:pt idx="0">
                  <c:v>345.985764494</c:v>
                </c:pt>
                <c:pt idx="1">
                  <c:v>214.149818563</c:v>
                </c:pt>
                <c:pt idx="2">
                  <c:v>191.621068241</c:v>
                </c:pt>
                <c:pt idx="3">
                  <c:v>154.410878777</c:v>
                </c:pt>
                <c:pt idx="4">
                  <c:v>148.597819054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52C3B"/>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title>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Mean absolute SHAP × 1,000 (logit units)</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2C3B"/>
                </a:solidFill>
                <a:latin typeface="Arial"/>
                <a:ea typeface="Arial"/>
                <a:cs typeface="Arial"/>
              </a:rPr>
              <a:t>Mean neural rank across seeds; 1 is highest</a:t>
            </a:r>
          </a:p>
        </c:rich>
      </c:tx>
      <c:overlay val="0"/>
      <c:txPr>
        <a:bodyPr xmlns:a="http://schemas.openxmlformats.org/drawingml/2006/main" anchorCtr="1"/>
        <a:lstStyle xmlns:a="http://schemas.openxmlformats.org/drawingml/2006/main"/>
        <a:p xmlns:a="http://schemas.openxmlformats.org/drawingml/2006/main">
          <a:pPr>
            <a:defRPr sz="1725" b="1">
              <a:solidFill>
                <a:srgbClr val="152C3B"/>
              </a:solidFill>
              <a:latin typeface="Arial"/>
              <a:ea typeface="Arial"/>
              <a:cs typeface="Arial"/>
            </a:defRPr>
          </a:pPr>
        </a:p>
      </c:txPr>
    </c:title>
    <c:plotArea>
      <c:lineChart>
        <c:grouping val="standard"/>
        <c:varyColors val="0"/>
        <c:ser>
          <c:idx val="0"/>
          <c:order val="0"/>
          <c:tx>
            <c:v>Net worth</c:v>
          </c:tx>
          <c:spPr>
            <a:solidFill xmlns:a="http://schemas.openxmlformats.org/drawingml/2006/main">
              <a:srgbClr val="2568A5"/>
            </a:solidFill>
            <a:ln xmlns:a="http://schemas.openxmlformats.org/drawingml/2006/main" w="28575">
              <a:solidFill>
                <a:srgbClr val="2568A5"/>
              </a:solidFill>
            </a:ln>
          </c:spPr>
          <c:marker>
            <c:symbol val="circle"/>
            <c:size val="7"/>
            <c:spPr>
              <a:solidFill xmlns:a="http://schemas.openxmlformats.org/drawingml/2006/main">
                <a:srgbClr val="2568A5"/>
              </a:solidFill>
            </c:spPr>
          </c:marker>
          <c:cat>
            <c:strRef>
              <c:f>'Chart Data'!$A$2:$A$4</c:f>
              <c:strCache>
                <c:ptCount val="3"/>
                <c:pt idx="0">
                  <c:v>10 min</c:v>
                </c:pt>
                <c:pt idx="1">
                  <c:v>20 min</c:v>
                </c:pt>
                <c:pt idx="2">
                  <c:v>30 min</c:v>
                </c:pt>
              </c:strCache>
            </c:strRef>
          </c:cat>
          <c:val>
            <c:numRef>
              <c:f>'Chart Data'!$B$2:$B$4</c:f>
              <c:numCache>
                <c:formatCode>0.0</c:formatCode>
                <c:ptCount val="3"/>
                <c:pt idx="0">
                  <c:v>1</c:v>
                </c:pt>
                <c:pt idx="1">
                  <c:v>1</c:v>
                </c:pt>
                <c:pt idx="2">
                  <c:v>1</c:v>
                </c:pt>
              </c:numCache>
            </c:numRef>
          </c:val>
          <c:smooth val="0"/>
        </c:ser>
        <c:ser>
          <c:idx val="1"/>
          <c:order val="1"/>
          <c:tx>
            <c:v>Experience</c:v>
          </c:tx>
          <c:spPr>
            <a:solidFill xmlns:a="http://schemas.openxmlformats.org/drawingml/2006/main">
              <a:srgbClr val="167D88"/>
            </a:solidFill>
            <a:ln xmlns:a="http://schemas.openxmlformats.org/drawingml/2006/main" w="28575">
              <a:solidFill>
                <a:srgbClr val="167D88"/>
              </a:solidFill>
            </a:ln>
          </c:spPr>
          <c:marker>
            <c:symbol val="circle"/>
            <c:size val="7"/>
            <c:spPr>
              <a:solidFill xmlns:a="http://schemas.openxmlformats.org/drawingml/2006/main">
                <a:srgbClr val="167D88"/>
              </a:solidFill>
            </c:spPr>
          </c:marker>
          <c:cat>
            <c:strRef>
              <c:f>'Chart Data'!$C$2:$C$4</c:f>
              <c:strCache>
                <c:ptCount val="3"/>
                <c:pt idx="0">
                  <c:v>10 min</c:v>
                </c:pt>
                <c:pt idx="1">
                  <c:v>20 min</c:v>
                </c:pt>
                <c:pt idx="2">
                  <c:v>30 min</c:v>
                </c:pt>
              </c:strCache>
            </c:strRef>
          </c:cat>
          <c:val>
            <c:numRef>
              <c:f>'Chart Data'!$D$2:$D$4</c:f>
              <c:numCache>
                <c:formatCode>0.0</c:formatCode>
                <c:ptCount val="3"/>
                <c:pt idx="0">
                  <c:v>3.33333333333</c:v>
                </c:pt>
                <c:pt idx="1">
                  <c:v>2.66666666667</c:v>
                </c:pt>
                <c:pt idx="2">
                  <c:v>2.33333333333</c:v>
                </c:pt>
              </c:numCache>
            </c:numRef>
          </c:val>
          <c:smooth val="0"/>
        </c:ser>
        <c:ser>
          <c:idx val="2"/>
          <c:order val="2"/>
          <c:tx>
            <c:v>Towers alive</c:v>
          </c:tx>
          <c:spPr>
            <a:solidFill xmlns:a="http://schemas.openxmlformats.org/drawingml/2006/main">
              <a:srgbClr val="C2732D"/>
            </a:solidFill>
            <a:ln xmlns:a="http://schemas.openxmlformats.org/drawingml/2006/main" w="28575">
              <a:solidFill>
                <a:srgbClr val="C2732D"/>
              </a:solidFill>
            </a:ln>
          </c:spPr>
          <c:marker>
            <c:symbol val="circle"/>
            <c:size val="7"/>
            <c:spPr>
              <a:solidFill xmlns:a="http://schemas.openxmlformats.org/drawingml/2006/main">
                <a:srgbClr val="C2732D"/>
              </a:solidFill>
            </c:spPr>
          </c:marker>
          <c:cat>
            <c:strRef>
              <c:f>'Chart Data'!$E$2:$E$4</c:f>
              <c:strCache>
                <c:ptCount val="3"/>
                <c:pt idx="0">
                  <c:v>10 min</c:v>
                </c:pt>
                <c:pt idx="1">
                  <c:v>20 min</c:v>
                </c:pt>
                <c:pt idx="2">
                  <c:v>30 min</c:v>
                </c:pt>
              </c:strCache>
            </c:strRef>
          </c:cat>
          <c:val>
            <c:numRef>
              <c:f>'Chart Data'!$F$2:$F$4</c:f>
              <c:numCache>
                <c:formatCode>0.0</c:formatCode>
                <c:ptCount val="3"/>
                <c:pt idx="0">
                  <c:v>6.33333333333</c:v>
                </c:pt>
                <c:pt idx="1">
                  <c:v>3</c:v>
                </c:pt>
                <c:pt idx="2">
                  <c:v>2.66666666667</c:v>
                </c:pt>
              </c:numCache>
            </c:numRef>
          </c:val>
          <c:smooth val="0"/>
        </c:ser>
        <c:ser>
          <c:idx val="3"/>
          <c:order val="3"/>
          <c:tx>
            <c:v>Players alive</c:v>
          </c:tx>
          <c:spPr>
            <a:solidFill xmlns:a="http://schemas.openxmlformats.org/drawingml/2006/main">
              <a:srgbClr val="7858A6"/>
            </a:solidFill>
            <a:ln xmlns:a="http://schemas.openxmlformats.org/drawingml/2006/main" w="28575">
              <a:solidFill>
                <a:srgbClr val="7858A6"/>
              </a:solidFill>
            </a:ln>
          </c:spPr>
          <c:marker>
            <c:symbol val="circle"/>
            <c:size val="7"/>
            <c:spPr>
              <a:solidFill xmlns:a="http://schemas.openxmlformats.org/drawingml/2006/main">
                <a:srgbClr val="7858A6"/>
              </a:solidFill>
            </c:spPr>
          </c:marker>
          <c:cat>
            <c:strRef>
              <c:f>'Chart Data'!$G$2:$G$4</c:f>
              <c:strCache>
                <c:ptCount val="3"/>
                <c:pt idx="0">
                  <c:v>10 min</c:v>
                </c:pt>
                <c:pt idx="1">
                  <c:v>20 min</c:v>
                </c:pt>
                <c:pt idx="2">
                  <c:v>30 min</c:v>
                </c:pt>
              </c:strCache>
            </c:strRef>
          </c:cat>
          <c:val>
            <c:numRef>
              <c:f>'Chart Data'!$H$2:$H$4</c:f>
              <c:numCache>
                <c:formatCode>0.0</c:formatCode>
                <c:ptCount val="3"/>
                <c:pt idx="0">
                  <c:v>9</c:v>
                </c:pt>
                <c:pt idx="1">
                  <c:v>5.33333333333</c:v>
                </c:pt>
                <c:pt idx="2">
                  <c:v>4</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52C3B"/>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72768"/>
      </c:catAx>
      <c:valAx>
        <c:axId val="48672768"/>
        <c:scaling>
          <c:orientation val="minMax"/>
          <c:max val="10"/>
          <c:min val="1"/>
        </c:scaling>
        <c:delete val="0"/>
        <c:axPos val="l"/>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Feature rank</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536675"/>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2C3B"/>
                </a:solidFill>
                <a:latin typeface="Arial"/>
                <a:ea typeface="Arial"/>
                <a:cs typeface="Arial"/>
              </a:rPr>
              <a:t>Final ROC AUC at 20 minutes; 1,729 games</a:t>
            </a:r>
          </a:p>
        </c:rich>
      </c:tx>
      <c:overlay val="0"/>
      <c:txPr>
        <a:bodyPr xmlns:a="http://schemas.openxmlformats.org/drawingml/2006/main" anchorCtr="1"/>
        <a:lstStyle xmlns:a="http://schemas.openxmlformats.org/drawingml/2006/main"/>
        <a:p xmlns:a="http://schemas.openxmlformats.org/drawingml/2006/main">
          <a:pPr>
            <a:defRPr sz="1725" b="1">
              <a:solidFill>
                <a:srgbClr val="152C3B"/>
              </a:solidFill>
              <a:latin typeface="Arial"/>
              <a:ea typeface="Arial"/>
              <a:cs typeface="Arial"/>
            </a:defRPr>
          </a:pPr>
        </a:p>
      </c:txPr>
    </c:title>
    <c:plotArea>
      <c:barChart>
        <c:barDir val="col"/>
        <c:grouping val="clustered"/>
        <c:varyColors val="0"/>
        <c:ser>
          <c:idx val="0"/>
          <c:order val="0"/>
          <c:tx>
            <c:v>ROC AUC</c:v>
          </c:tx>
          <c:spPr>
            <a:solidFill xmlns:a="http://schemas.openxmlformats.org/drawingml/2006/main">
              <a:srgbClr val="2568A5"/>
            </a:solidFill>
            <a:ln xmlns:a="http://schemas.openxmlformats.org/drawingml/2006/main" w="28575">
              <a:solidFill>
                <a:srgbClr val="2568A5"/>
              </a:solidFill>
            </a:ln>
          </c:spPr>
          <c:invertIfNegative val="0"/>
          <c:cat>
            <c:strRef>
              <c:f>'Chart Data'!$A$2:$A$5</c:f>
              <c:strCache>
                <c:ptCount val="4"/>
                <c:pt idx="0">
                  <c:v>Logistic</c:v>
                </c:pt>
                <c:pt idx="1">
                  <c:v>Forest</c:v>
                </c:pt>
                <c:pt idx="2">
                  <c:v>XGBoost</c:v>
                </c:pt>
                <c:pt idx="3">
                  <c:v>Neural</c:v>
                </c:pt>
              </c:strCache>
            </c:strRef>
          </c:cat>
          <c:val>
            <c:numRef>
              <c:f>'Chart Data'!$B$2:$B$5</c:f>
              <c:numCache>
                <c:formatCode>0.00</c:formatCode>
                <c:ptCount val="4"/>
                <c:pt idx="0">
                  <c:v>82.1289303123</c:v>
                </c:pt>
                <c:pt idx="1">
                  <c:v>81.8904333387</c:v>
                </c:pt>
                <c:pt idx="2">
                  <c:v>81.375229882</c:v>
                </c:pt>
                <c:pt idx="3">
                  <c:v>81.4926928777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a:solidFill>
                    <a:srgbClr val="152C3B"/>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ROC AUC × 100</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0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2C3B"/>
                </a:solidFill>
                <a:latin typeface="Arial"/>
                <a:ea typeface="Arial"/>
                <a:cs typeface="Arial"/>
              </a:rPr>
              <a:t>Neural AUC on the same final matches</a:t>
            </a:r>
          </a:p>
        </c:rich>
      </c:tx>
      <c:overlay val="0"/>
      <c:txPr>
        <a:bodyPr xmlns:a="http://schemas.openxmlformats.org/drawingml/2006/main" anchorCtr="1"/>
        <a:lstStyle xmlns:a="http://schemas.openxmlformats.org/drawingml/2006/main"/>
        <a:p xmlns:a="http://schemas.openxmlformats.org/drawingml/2006/main">
          <a:pPr>
            <a:defRPr sz="1725" b="1">
              <a:solidFill>
                <a:srgbClr val="152C3B"/>
              </a:solidFill>
              <a:latin typeface="Arial"/>
              <a:ea typeface="Arial"/>
              <a:cs typeface="Arial"/>
            </a:defRPr>
          </a:pPr>
        </a:p>
      </c:txPr>
    </c:title>
    <c:plotArea>
      <c:lineChart>
        <c:grouping val="standard"/>
        <c:varyColors val="0"/>
        <c:ser>
          <c:idx val="0"/>
          <c:order val="0"/>
          <c:tx>
            <c:v>Seed averaged probabilities</c:v>
          </c:tx>
          <c:spPr>
            <a:solidFill xmlns:a="http://schemas.openxmlformats.org/drawingml/2006/main">
              <a:srgbClr val="2568A5"/>
            </a:solidFill>
            <a:ln xmlns:a="http://schemas.openxmlformats.org/drawingml/2006/main" w="28575">
              <a:solidFill>
                <a:srgbClr val="2568A5"/>
              </a:solidFill>
            </a:ln>
          </c:spPr>
          <c:marker>
            <c:symbol val="circle"/>
            <c:size val="7"/>
            <c:spPr>
              <a:solidFill xmlns:a="http://schemas.openxmlformats.org/drawingml/2006/main">
                <a:srgbClr val="2568A5"/>
              </a:solidFill>
            </c:spPr>
          </c:marker>
          <c:cat>
            <c:strRef>
              <c:f>'Chart Data'!$A$2:$A$4</c:f>
              <c:strCache>
                <c:ptCount val="3"/>
                <c:pt idx="0">
                  <c:v>10 min</c:v>
                </c:pt>
                <c:pt idx="1">
                  <c:v>20 min</c:v>
                </c:pt>
                <c:pt idx="2">
                  <c:v>30 min</c:v>
                </c:pt>
              </c:strCache>
            </c:strRef>
          </c:cat>
          <c:val>
            <c:numRef>
              <c:f>'Chart Data'!$B$2:$B$4</c:f>
              <c:numCache>
                <c:formatCode>0.00</c:formatCode>
                <c:ptCount val="3"/>
                <c:pt idx="0">
                  <c:v>62.3073880206</c:v>
                </c:pt>
                <c:pt idx="1">
                  <c:v>72.7762803235</c:v>
                </c:pt>
                <c:pt idx="2">
                  <c:v>93.5613552524</c:v>
                </c:pt>
              </c:numCache>
            </c:numRef>
          </c:val>
          <c:smooth val="0"/>
        </c:ser>
        <c:dLbls>
          <c:numFmt formatCode="0.00" sourceLinked="0"/>
          <c:txPr>
            <a:bodyPr xmlns:a="http://schemas.openxmlformats.org/drawingml/2006/main" anchorCtr="1"/>
            <a:lstStyle xmlns:a="http://schemas.openxmlformats.org/drawingml/2006/main"/>
            <a:p xmlns:a="http://schemas.openxmlformats.org/drawingml/2006/main">
              <a:pPr>
                <a:defRPr sz="1350">
                  <a:solidFill>
                    <a:srgbClr val="152C3B"/>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72768"/>
      </c:catAx>
      <c:valAx>
        <c:axId val="48672768"/>
        <c:scaling>
          <c:orientation val="minMax"/>
          <c:max val="100"/>
          <c:min val="50"/>
        </c:scaling>
        <c:delete val="0"/>
        <c:axPos val="l"/>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ROC AUC × 100</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0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2C3B"/>
                </a:solidFill>
                <a:latin typeface="Arial"/>
                <a:ea typeface="Arial"/>
                <a:cs typeface="Arial"/>
              </a:rPr>
              <a:t>Brier change after temperature scaling</a:t>
            </a:r>
          </a:p>
        </c:rich>
      </c:tx>
      <c:overlay val="0"/>
      <c:txPr>
        <a:bodyPr xmlns:a="http://schemas.openxmlformats.org/drawingml/2006/main" anchorCtr="1"/>
        <a:lstStyle xmlns:a="http://schemas.openxmlformats.org/drawingml/2006/main"/>
        <a:p xmlns:a="http://schemas.openxmlformats.org/drawingml/2006/main">
          <a:pPr>
            <a:defRPr sz="1725" b="1">
              <a:solidFill>
                <a:srgbClr val="152C3B"/>
              </a:solidFill>
              <a:latin typeface="Arial"/>
              <a:ea typeface="Arial"/>
              <a:cs typeface="Arial"/>
            </a:defRPr>
          </a:pPr>
        </a:p>
      </c:txPr>
    </c:title>
    <c:plotArea>
      <c:barChart>
        <c:barDir val="col"/>
        <c:grouping val="clustered"/>
        <c:varyColors val="0"/>
        <c:ser>
          <c:idx val="0"/>
          <c:order val="0"/>
          <c:tx>
            <c:v>Adjusted minus raw</c:v>
          </c:tx>
          <c:spPr>
            <a:solidFill xmlns:a="http://schemas.openxmlformats.org/drawingml/2006/main">
              <a:srgbClr val="2568A5"/>
            </a:solidFill>
            <a:ln xmlns:a="http://schemas.openxmlformats.org/drawingml/2006/main" w="28575">
              <a:solidFill>
                <a:srgbClr val="2568A5"/>
              </a:solidFill>
            </a:ln>
          </c:spPr>
          <c:invertIfNegative val="0"/>
          <c:cat>
            <c:strRef>
              <c:f>'Chart Data'!$A$2:$A$5</c:f>
              <c:strCache>
                <c:ptCount val="4"/>
                <c:pt idx="0">
                  <c:v>Logistic</c:v>
                </c:pt>
                <c:pt idx="1">
                  <c:v>Forest</c:v>
                </c:pt>
                <c:pt idx="2">
                  <c:v>XGBoost</c:v>
                </c:pt>
                <c:pt idx="3">
                  <c:v>Neural</c:v>
                </c:pt>
              </c:strCache>
            </c:strRef>
          </c:cat>
          <c:val>
            <c:numRef>
              <c:f>'Chart Data'!$B$2:$B$5</c:f>
              <c:numCache>
                <c:formatCode>0.0</c:formatCode>
                <c:ptCount val="4"/>
                <c:pt idx="0">
                  <c:v>-0.0552359690376</c:v>
                </c:pt>
                <c:pt idx="1">
                  <c:v>-12.3100484512</c:v>
                </c:pt>
                <c:pt idx="2">
                  <c:v>-1.13841632877</c:v>
                </c:pt>
                <c:pt idx="3">
                  <c:v>0.917669530798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52C3B"/>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72768"/>
      </c:catAx>
      <c:valAx>
        <c:axId val="48672768"/>
        <c:scaling>
          <c:orientation val="minMax"/>
          <c:max val="1.2847373431168485"/>
          <c:min val="-16.003062986516827"/>
        </c:scaling>
        <c:delete val="0"/>
        <c:axPos val="l"/>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Brier change × 100,000</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2C3B"/>
                </a:solidFill>
                <a:latin typeface="Arial"/>
                <a:ea typeface="Arial"/>
                <a:cs typeface="Arial"/>
              </a:rPr>
              <a:t>Neural reliability on the primary final matches</a:t>
            </a:r>
          </a:p>
        </c:rich>
      </c:tx>
      <c:overlay val="0"/>
      <c:txPr>
        <a:bodyPr xmlns:a="http://schemas.openxmlformats.org/drawingml/2006/main" anchorCtr="1"/>
        <a:lstStyle xmlns:a="http://schemas.openxmlformats.org/drawingml/2006/main"/>
        <a:p xmlns:a="http://schemas.openxmlformats.org/drawingml/2006/main">
          <a:pPr>
            <a:defRPr sz="1725" b="1">
              <a:solidFill>
                <a:srgbClr val="152C3B"/>
              </a:solidFill>
              <a:latin typeface="Arial"/>
              <a:ea typeface="Arial"/>
              <a:cs typeface="Arial"/>
            </a:defRPr>
          </a:pPr>
        </a:p>
      </c:txPr>
    </c:title>
    <c:plotArea>
      <c:scatterChart>
        <c:scatterStyle val="lineMarker"/>
        <c:varyColors val="0"/>
        <c:ser>
          <c:idx val="0"/>
          <c:order val="0"/>
          <c:tx>
            <c:v>Ideal agreement</c:v>
          </c:tx>
          <c:spPr>
            <a:ln xmlns:a="http://schemas.openxmlformats.org/drawingml/2006/main" w="19050">
              <a:solidFill>
                <a:srgbClr val="9AA9B5"/>
              </a:solidFill>
            </a:ln>
          </c:spPr>
          <c:marker>
            <c:symbol val="none"/>
            <c:size val="2"/>
          </c:marker>
          <c:xVal>
            <c:numRef>
              <c:f>'Chart Data'!$A$2:$A$3</c:f>
              <c:numCache>
                <c:formatCode>General</c:formatCode>
                <c:ptCount val="2"/>
                <c:pt idx="0">
                  <c:v>0</c:v>
                </c:pt>
                <c:pt idx="1">
                  <c:v>100</c:v>
                </c:pt>
              </c:numCache>
            </c:numRef>
          </c:xVal>
          <c:yVal>
            <c:numRef>
              <c:f>'Chart Data'!$B$2:$B$3</c:f>
              <c:numCache>
                <c:formatCode>0</c:formatCode>
                <c:ptCount val="2"/>
                <c:pt idx="0">
                  <c:v>0</c:v>
                </c:pt>
                <c:pt idx="1">
                  <c:v>100</c:v>
                </c:pt>
              </c:numCache>
            </c:numRef>
          </c:yVal>
        </c:ser>
        <c:ser>
          <c:idx val="1"/>
          <c:order val="1"/>
          <c:tx>
            <c:v>Neural raw</c:v>
          </c:tx>
          <c:spPr>
            <a:ln xmlns:a="http://schemas.openxmlformats.org/drawingml/2006/main" w="28575">
              <a:solidFill>
                <a:srgbClr val="7858A6"/>
              </a:solidFill>
            </a:ln>
          </c:spPr>
          <c:marker>
            <c:symbol val="circle"/>
            <c:size val="6"/>
            <c:spPr>
              <a:solidFill xmlns:a="http://schemas.openxmlformats.org/drawingml/2006/main">
                <a:srgbClr val="7858A6"/>
              </a:solidFill>
            </c:spPr>
          </c:marker>
          <c:xVal>
            <c:numRef>
              <c:f>'Chart Data'!$C$2:$C$11</c:f>
              <c:numCache>
                <c:formatCode>General</c:formatCode>
                <c:ptCount val="10"/>
                <c:pt idx="0">
                  <c:v>5.29745969182</c:v>
                </c:pt>
                <c:pt idx="1">
                  <c:v>14.9188344713</c:v>
                </c:pt>
                <c:pt idx="2">
                  <c:v>25.1017513884</c:v>
                </c:pt>
                <c:pt idx="3">
                  <c:v>35.2589921852</c:v>
                </c:pt>
                <c:pt idx="4">
                  <c:v>45.3306752642</c:v>
                </c:pt>
                <c:pt idx="5">
                  <c:v>54.7454829152</c:v>
                </c:pt>
                <c:pt idx="6">
                  <c:v>64.7590992859</c:v>
                </c:pt>
                <c:pt idx="7">
                  <c:v>74.6634939566</c:v>
                </c:pt>
                <c:pt idx="8">
                  <c:v>85.3622375891</c:v>
                </c:pt>
                <c:pt idx="9">
                  <c:v>95.3257619594</c:v>
                </c:pt>
              </c:numCache>
            </c:numRef>
          </c:xVal>
          <c:yVal>
            <c:numRef>
              <c:f>'Chart Data'!$D$2:$D$11</c:f>
              <c:numCache>
                <c:formatCode>0</c:formatCode>
                <c:ptCount val="10"/>
                <c:pt idx="0">
                  <c:v>2.64900662252</c:v>
                </c:pt>
                <c:pt idx="1">
                  <c:v>14.3884892086</c:v>
                </c:pt>
                <c:pt idx="2">
                  <c:v>25.1655629139</c:v>
                </c:pt>
                <c:pt idx="3">
                  <c:v>35.0253807107</c:v>
                </c:pt>
                <c:pt idx="4">
                  <c:v>38.8</c:v>
                </c:pt>
                <c:pt idx="5">
                  <c:v>57.6576576577</c:v>
                </c:pt>
                <c:pt idx="6">
                  <c:v>61.8784530387</c:v>
                </c:pt>
                <c:pt idx="7">
                  <c:v>77.0186335404</c:v>
                </c:pt>
                <c:pt idx="8">
                  <c:v>80.1724137931</c:v>
                </c:pt>
                <c:pt idx="9">
                  <c:v>96.2732919255</c:v>
                </c:pt>
              </c:numCache>
            </c:numRef>
          </c:yVal>
        </c:ser>
        <c:ser>
          <c:idx val="2"/>
          <c:order val="2"/>
          <c:tx>
            <c:v>Neural adjusted</c:v>
          </c:tx>
          <c:spPr>
            <a:ln xmlns:a="http://schemas.openxmlformats.org/drawingml/2006/main" w="28575">
              <a:solidFill>
                <a:srgbClr val="C2732D"/>
              </a:solidFill>
            </a:ln>
          </c:spPr>
          <c:marker>
            <c:symbol val="circle"/>
            <c:size val="6"/>
            <c:spPr>
              <a:solidFill xmlns:a="http://schemas.openxmlformats.org/drawingml/2006/main">
                <a:srgbClr val="C2732D"/>
              </a:solidFill>
            </c:spPr>
          </c:marker>
          <c:xVal>
            <c:numRef>
              <c:f>'Chart Data'!$E$2:$E$11</c:f>
              <c:numCache>
                <c:formatCode>General</c:formatCode>
                <c:ptCount val="10"/>
                <c:pt idx="0">
                  <c:v>5.07756273274</c:v>
                </c:pt>
                <c:pt idx="1">
                  <c:v>14.8933510455</c:v>
                </c:pt>
                <c:pt idx="2">
                  <c:v>25.1679859572</c:v>
                </c:pt>
                <c:pt idx="3">
                  <c:v>35.128661228</c:v>
                </c:pt>
                <c:pt idx="4">
                  <c:v>45.2289393803</c:v>
                </c:pt>
                <c:pt idx="5">
                  <c:v>54.8714426645</c:v>
                </c:pt>
                <c:pt idx="6">
                  <c:v>64.8252230883</c:v>
                </c:pt>
                <c:pt idx="7">
                  <c:v>74.7854311064</c:v>
                </c:pt>
                <c:pt idx="8">
                  <c:v>85.4878102103</c:v>
                </c:pt>
                <c:pt idx="9">
                  <c:v>95.5487640652</c:v>
                </c:pt>
              </c:numCache>
            </c:numRef>
          </c:xVal>
          <c:yVal>
            <c:numRef>
              <c:f>'Chart Data'!$F$2:$F$11</c:f>
              <c:numCache>
                <c:formatCode>0</c:formatCode>
                <c:ptCount val="10"/>
                <c:pt idx="0">
                  <c:v>3.10559006211</c:v>
                </c:pt>
                <c:pt idx="1">
                  <c:v>14.6853146853</c:v>
                </c:pt>
                <c:pt idx="2">
                  <c:v>26.8456375839</c:v>
                </c:pt>
                <c:pt idx="3">
                  <c:v>34.9206349206</c:v>
                </c:pt>
                <c:pt idx="4">
                  <c:v>39.0243902439</c:v>
                </c:pt>
                <c:pt idx="5">
                  <c:v>57.5342465753</c:v>
                </c:pt>
                <c:pt idx="6">
                  <c:v>61.7647058824</c:v>
                </c:pt>
                <c:pt idx="7">
                  <c:v>75.9036144578</c:v>
                </c:pt>
                <c:pt idx="8">
                  <c:v>78.6324786325</c:v>
                </c:pt>
                <c:pt idx="9">
                  <c:v>96.449704142</c:v>
                </c:pt>
              </c:numCache>
            </c:numRef>
          </c:yVal>
        </c:ser>
        <c:dLbls>
          <c:numFmt formatCode="0" sourceLinked="0"/>
          <c:txPr>
            <a:bodyPr xmlns:a="http://schemas.openxmlformats.org/drawingml/2006/main" anchorCtr="1"/>
            <a:lstStyle xmlns:a="http://schemas.openxmlformats.org/drawingml/2006/main"/>
            <a:p xmlns:a="http://schemas.openxmlformats.org/drawingml/2006/main">
              <a:pPr>
                <a:defRPr sz="1350">
                  <a:solidFill>
                    <a:srgbClr val="152C3B"/>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Observed wins (%)</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
        <c:majorTickMark val="none"/>
        <c:minorTickMark val="none"/>
        <c:tickLblPos val="nextTo"/>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50112"/>
      </c:valAx>
      <c:valAx>
        <c:axId val="48650112"/>
        <c:scaling>
          <c:orientation val="minMax"/>
          <c:max val="100"/>
          <c:min val="0"/>
        </c:scaling>
        <c:delete val="0"/>
        <c:axPos val="b"/>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Mean predicted win probability (%)</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536675"/>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2C3B"/>
                </a:solidFill>
                <a:latin typeface="Arial"/>
                <a:ea typeface="Arial"/>
                <a:cs typeface="Arial"/>
              </a:rPr>
              <a:t>Primary paired AUC difference and 95% intervals</a:t>
            </a:r>
          </a:p>
        </c:rich>
      </c:tx>
      <c:overlay val="0"/>
      <c:txPr>
        <a:bodyPr xmlns:a="http://schemas.openxmlformats.org/drawingml/2006/main" anchorCtr="1"/>
        <a:lstStyle xmlns:a="http://schemas.openxmlformats.org/drawingml/2006/main"/>
        <a:p xmlns:a="http://schemas.openxmlformats.org/drawingml/2006/main">
          <a:pPr>
            <a:defRPr sz="1725" b="1">
              <a:solidFill>
                <a:srgbClr val="152C3B"/>
              </a:solidFill>
              <a:latin typeface="Arial"/>
              <a:ea typeface="Arial"/>
              <a:cs typeface="Arial"/>
            </a:defRPr>
          </a:pPr>
        </a:p>
      </c:txPr>
    </c:title>
    <c:plotArea>
      <c:scatterChart>
        <c:scatterStyle val="lineMarker"/>
        <c:varyColors val="0"/>
        <c:ser>
          <c:idx val="0"/>
          <c:order val="0"/>
          <c:tx>
            <c:v>Match interval</c:v>
          </c:tx>
          <c:spPr>
            <a:ln xmlns:a="http://schemas.openxmlformats.org/drawingml/2006/main" w="38100">
              <a:solidFill>
                <a:srgbClr val="2568A5"/>
              </a:solidFill>
            </a:ln>
          </c:spPr>
          <c:marker>
            <c:symbol val="circle"/>
            <c:size val="6"/>
            <c:spPr>
              <a:solidFill xmlns:a="http://schemas.openxmlformats.org/drawingml/2006/main">
                <a:srgbClr val="2568A5"/>
              </a:solidFill>
            </c:spPr>
          </c:marker>
          <c:xVal>
            <c:numRef>
              <c:f>'Chart Data'!$A$2:$A$3</c:f>
              <c:numCache>
                <c:formatCode>General</c:formatCode>
                <c:ptCount val="2"/>
                <c:pt idx="0">
                  <c:v>0.00231674718773</c:v>
                </c:pt>
                <c:pt idx="1">
                  <c:v>0.00924244039259</c:v>
                </c:pt>
              </c:numCache>
            </c:numRef>
          </c:xVal>
          <c:yVal>
            <c:numRef>
              <c:f>'Chart Data'!$B$2:$B$3</c:f>
              <c:numCache>
                <c:formatCode>General</c:formatCode>
                <c:ptCount val="2"/>
                <c:pt idx="0">
                  <c:v>1</c:v>
                </c:pt>
                <c:pt idx="1">
                  <c:v>1</c:v>
                </c:pt>
              </c:numCache>
            </c:numRef>
          </c:yVal>
        </c:ser>
        <c:ser>
          <c:idx val="1"/>
          <c:order val="1"/>
          <c:tx>
            <c:v>UTC day interval</c:v>
          </c:tx>
          <c:spPr>
            <a:ln xmlns:a="http://schemas.openxmlformats.org/drawingml/2006/main" w="38100">
              <a:solidFill>
                <a:srgbClr val="167D88"/>
              </a:solidFill>
            </a:ln>
          </c:spPr>
          <c:marker>
            <c:symbol val="circle"/>
            <c:size val="6"/>
            <c:spPr>
              <a:solidFill xmlns:a="http://schemas.openxmlformats.org/drawingml/2006/main">
                <a:srgbClr val="167D88"/>
              </a:solidFill>
            </c:spPr>
          </c:marker>
          <c:xVal>
            <c:numRef>
              <c:f>'Chart Data'!$C$2:$C$3</c:f>
              <c:numCache>
                <c:formatCode>General</c:formatCode>
                <c:ptCount val="2"/>
                <c:pt idx="0">
                  <c:v>0.00161357880451</c:v>
                </c:pt>
                <c:pt idx="1">
                  <c:v>0.00983328266276</c:v>
                </c:pt>
              </c:numCache>
            </c:numRef>
          </c:xVal>
          <c:yVal>
            <c:numRef>
              <c:f>'Chart Data'!$D$2:$D$3</c:f>
              <c:numCache>
                <c:formatCode>General</c:formatCode>
                <c:ptCount val="2"/>
                <c:pt idx="0">
                  <c:v>2</c:v>
                </c:pt>
                <c:pt idx="1">
                  <c:v>2</c:v>
                </c:pt>
              </c:numCache>
            </c:numRef>
          </c:yVal>
        </c:ser>
        <c:ser>
          <c:idx val="2"/>
          <c:order val="2"/>
          <c:tx>
            <c:v>Observed difference</c:v>
          </c:tx>
          <c:spPr>
            <a:ln xmlns:a="http://schemas.openxmlformats.org/drawingml/2006/main" w="0">
              <a:noFill/>
            </a:ln>
          </c:spPr>
          <c:marker>
            <c:symbol val="diamond"/>
            <c:size val="11"/>
            <c:spPr>
              <a:solidFill xmlns:a="http://schemas.openxmlformats.org/drawingml/2006/main">
                <a:srgbClr val="C2732D"/>
              </a:solidFill>
            </c:spPr>
          </c:marker>
          <c:xVal>
            <c:numRef>
              <c:f>'Chart Data'!$E$2:$E$3</c:f>
              <c:numCache>
                <c:formatCode>General</c:formatCode>
                <c:ptCount val="2"/>
                <c:pt idx="0">
                  <c:v>0.00574749584873</c:v>
                </c:pt>
                <c:pt idx="1">
                  <c:v>0.00574749584873</c:v>
                </c:pt>
              </c:numCache>
            </c:numRef>
          </c:xVal>
          <c:yVal>
            <c:numRef>
              <c:f>'Chart Data'!$F$2:$F$3</c:f>
              <c:numCache>
                <c:formatCode>General</c:formatCode>
                <c:ptCount val="2"/>
                <c:pt idx="0">
                  <c:v>1</c:v>
                </c:pt>
                <c:pt idx="1">
                  <c:v>2</c:v>
                </c:pt>
              </c:numCache>
            </c:numRef>
          </c:yVal>
        </c:ser>
        <c:dLbls>
          <c:numFmt formatCode="0.000" sourceLinked="0"/>
          <c:txPr>
            <a:bodyPr xmlns:a="http://schemas.openxmlformats.org/drawingml/2006/main" anchorCtr="1"/>
            <a:lstStyle xmlns:a="http://schemas.openxmlformats.org/drawingml/2006/main"/>
            <a:p xmlns:a="http://schemas.openxmlformats.org/drawingml/2006/main">
              <a:pPr>
                <a:defRPr sz="1350">
                  <a:solidFill>
                    <a:srgbClr val="152C3B"/>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5"/>
          <c:min val="0.5"/>
        </c:scaling>
        <c:delete val="0"/>
        <c:axPos val="l"/>
        <c:numFmt formatCode="General"/>
        <c:majorTickMark val="none"/>
        <c:minorTickMark val="none"/>
        <c:tickLblPos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50112"/>
      </c:valAx>
      <c:valAx>
        <c:axId val="48650112"/>
        <c:scaling>
          <c:orientation val="minMax"/>
          <c:max val="0.012"/>
          <c:min val="0"/>
        </c:scaling>
        <c:delete val="0"/>
        <c:axPos val="b"/>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Logistic minus neural ROC AUC</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00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536675"/>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2C3B"/>
                </a:solidFill>
                <a:latin typeface="Arial"/>
                <a:ea typeface="Arial"/>
                <a:cs typeface="Arial"/>
              </a:rPr>
              <a:t>Mean primary rank agreement between seeds</a:t>
            </a:r>
          </a:p>
        </c:rich>
      </c:tx>
      <c:overlay val="0"/>
      <c:txPr>
        <a:bodyPr xmlns:a="http://schemas.openxmlformats.org/drawingml/2006/main" anchorCtr="1"/>
        <a:lstStyle xmlns:a="http://schemas.openxmlformats.org/drawingml/2006/main"/>
        <a:p xmlns:a="http://schemas.openxmlformats.org/drawingml/2006/main">
          <a:pPr>
            <a:defRPr sz="1725" b="1">
              <a:solidFill>
                <a:srgbClr val="152C3B"/>
              </a:solidFill>
              <a:latin typeface="Arial"/>
              <a:ea typeface="Arial"/>
              <a:cs typeface="Arial"/>
            </a:defRPr>
          </a:pPr>
        </a:p>
      </c:txPr>
    </c:title>
    <c:plotArea>
      <c:barChart>
        <c:barDir val="col"/>
        <c:grouping val="clustered"/>
        <c:varyColors val="0"/>
        <c:ser>
          <c:idx val="0"/>
          <c:order val="0"/>
          <c:tx>
            <c:v>Spearman correlation</c:v>
          </c:tx>
          <c:spPr>
            <a:solidFill xmlns:a="http://schemas.openxmlformats.org/drawingml/2006/main">
              <a:srgbClr val="2568A5"/>
            </a:solidFill>
            <a:ln xmlns:a="http://schemas.openxmlformats.org/drawingml/2006/main" w="28575">
              <a:solidFill>
                <a:srgbClr val="2568A5"/>
              </a:solidFill>
            </a:ln>
          </c:spPr>
          <c:invertIfNegative val="0"/>
          <c:cat>
            <c:strRef>
              <c:f>'Chart Data'!$A$2:$A$5</c:f>
              <c:strCache>
                <c:ptCount val="4"/>
                <c:pt idx="0">
                  <c:v>Logistic</c:v>
                </c:pt>
                <c:pt idx="1">
                  <c:v>Forest</c:v>
                </c:pt>
                <c:pt idx="2">
                  <c:v>XGBoost</c:v>
                </c:pt>
                <c:pt idx="3">
                  <c:v>Neural</c:v>
                </c:pt>
              </c:strCache>
            </c:strRef>
          </c:cat>
          <c:val>
            <c:numRef>
              <c:f>'Chart Data'!$B$2:$B$5</c:f>
              <c:numCache>
                <c:formatCode>0.0</c:formatCode>
                <c:ptCount val="4"/>
                <c:pt idx="0">
                  <c:v>100</c:v>
                </c:pt>
                <c:pt idx="1">
                  <c:v>99.1919191919</c:v>
                </c:pt>
                <c:pt idx="2">
                  <c:v>98.3838383838</c:v>
                </c:pt>
                <c:pt idx="3">
                  <c:v>84.2424242424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52C3B"/>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Spearman correlation × 100</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2C3B"/>
                </a:solidFill>
                <a:latin typeface="Arial"/>
                <a:ea typeface="Arial"/>
                <a:cs typeface="Arial"/>
              </a:rPr>
              <a:t>Neural top three frequency under fixed model resampling</a:t>
            </a:r>
          </a:p>
        </c:rich>
      </c:tx>
      <c:overlay val="0"/>
      <c:txPr>
        <a:bodyPr xmlns:a="http://schemas.openxmlformats.org/drawingml/2006/main" anchorCtr="1"/>
        <a:lstStyle xmlns:a="http://schemas.openxmlformats.org/drawingml/2006/main"/>
        <a:p xmlns:a="http://schemas.openxmlformats.org/drawingml/2006/main">
          <a:pPr>
            <a:defRPr sz="1725" b="1">
              <a:solidFill>
                <a:srgbClr val="152C3B"/>
              </a:solidFill>
              <a:latin typeface="Arial"/>
              <a:ea typeface="Arial"/>
              <a:cs typeface="Arial"/>
            </a:defRPr>
          </a:pPr>
        </a:p>
      </c:txPr>
    </c:title>
    <c:plotArea>
      <c:barChart>
        <c:barDir val="bar"/>
        <c:grouping val="clustered"/>
        <c:varyColors val="0"/>
        <c:ser>
          <c:idx val="0"/>
          <c:order val="0"/>
          <c:tx>
            <c:v>Mean frequency across seed runs</c:v>
          </c:tx>
          <c:spPr>
            <a:solidFill xmlns:a="http://schemas.openxmlformats.org/drawingml/2006/main">
              <a:srgbClr val="2568A5"/>
            </a:solidFill>
            <a:ln xmlns:a="http://schemas.openxmlformats.org/drawingml/2006/main" w="28575">
              <a:solidFill>
                <a:srgbClr val="2568A5"/>
              </a:solidFill>
            </a:ln>
          </c:spPr>
          <c:invertIfNegative val="0"/>
          <c:cat>
            <c:strRef>
              <c:f>'Chart Data'!$A$2:$A$6</c:f>
              <c:strCache>
                <c:ptCount val="5"/>
                <c:pt idx="0">
                  <c:v>Net worth</c:v>
                </c:pt>
                <c:pt idx="1">
                  <c:v>Experience</c:v>
                </c:pt>
                <c:pt idx="2">
                  <c:v>Towers alive</c:v>
                </c:pt>
                <c:pt idx="3">
                  <c:v>Players alive</c:v>
                </c:pt>
                <c:pt idx="4">
                  <c:v>Assists</c:v>
                </c:pt>
              </c:strCache>
            </c:strRef>
          </c:cat>
          <c:val>
            <c:numRef>
              <c:f>'Chart Data'!$B$2:$B$6</c:f>
              <c:numCache>
                <c:formatCode>0.0</c:formatCode>
                <c:ptCount val="5"/>
                <c:pt idx="0">
                  <c:v>100</c:v>
                </c:pt>
                <c:pt idx="1">
                  <c:v>78.1666666667</c:v>
                </c:pt>
                <c:pt idx="2">
                  <c:v>65.4666666667</c:v>
                </c:pt>
                <c:pt idx="3">
                  <c:v>29.1666666667</c:v>
                </c:pt>
                <c:pt idx="4">
                  <c:v>21.7333333333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350">
                  <a:solidFill>
                    <a:srgbClr val="152C3B"/>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title>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72768"/>
      </c:catAx>
      <c:valAx>
        <c:axId val="48672768"/>
        <c:scaling>
          <c:orientation val="minMax"/>
          <c:max val="100"/>
          <c:min val="0"/>
        </c:scaling>
        <c:delete val="0"/>
        <c:axPos val="b"/>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Top three inclusion (%)</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2C3B"/>
                </a:solidFill>
                <a:latin typeface="Arial"/>
                <a:ea typeface="Arial"/>
                <a:cs typeface="Arial"/>
              </a:rPr>
              <a:t>Top three frequency across actual training refits</a:t>
            </a:r>
          </a:p>
        </c:rich>
      </c:tx>
      <c:overlay val="0"/>
      <c:txPr>
        <a:bodyPr xmlns:a="http://schemas.openxmlformats.org/drawingml/2006/main" anchorCtr="1"/>
        <a:lstStyle xmlns:a="http://schemas.openxmlformats.org/drawingml/2006/main"/>
        <a:p xmlns:a="http://schemas.openxmlformats.org/drawingml/2006/main">
          <a:pPr>
            <a:defRPr sz="1725" b="1">
              <a:solidFill>
                <a:srgbClr val="152C3B"/>
              </a:solidFill>
              <a:latin typeface="Arial"/>
              <a:ea typeface="Arial"/>
              <a:cs typeface="Arial"/>
            </a:defRPr>
          </a:pPr>
        </a:p>
      </c:txPr>
    </c:title>
    <c:plotArea>
      <c:barChart>
        <c:barDir val="col"/>
        <c:grouping val="clustered"/>
        <c:varyColors val="0"/>
        <c:ser>
          <c:idx val="0"/>
          <c:order val="0"/>
          <c:tx>
            <c:v>Logistic</c:v>
          </c:tx>
          <c:spPr>
            <a:solidFill xmlns:a="http://schemas.openxmlformats.org/drawingml/2006/main">
              <a:srgbClr val="2568A5"/>
            </a:solidFill>
            <a:ln xmlns:a="http://schemas.openxmlformats.org/drawingml/2006/main" w="28575">
              <a:solidFill>
                <a:srgbClr val="2568A5"/>
              </a:solidFill>
            </a:ln>
          </c:spPr>
          <c:invertIfNegative val="0"/>
          <c:cat>
            <c:strRef>
              <c:f>'Chart Data'!$A$2:$A$5</c:f>
              <c:strCache>
                <c:ptCount val="4"/>
                <c:pt idx="0">
                  <c:v>Net worth</c:v>
                </c:pt>
                <c:pt idx="1">
                  <c:v>Experience</c:v>
                </c:pt>
                <c:pt idx="2">
                  <c:v>Towers alive</c:v>
                </c:pt>
                <c:pt idx="3">
                  <c:v>Players alive</c:v>
                </c:pt>
              </c:strCache>
            </c:strRef>
          </c:cat>
          <c:val>
            <c:numRef>
              <c:f>'Chart Data'!$B$2:$B$5</c:f>
              <c:numCache>
                <c:formatCode>0</c:formatCode>
                <c:ptCount val="4"/>
                <c:pt idx="0">
                  <c:v>100</c:v>
                </c:pt>
                <c:pt idx="1">
                  <c:v>23.3333333333</c:v>
                </c:pt>
                <c:pt idx="2">
                  <c:v>23.3333333333</c:v>
                </c:pt>
                <c:pt idx="3">
                  <c:v>96.6666666667</c:v>
                </c:pt>
              </c:numCache>
            </c:numRef>
          </c:val>
        </c:ser>
        <c:ser>
          <c:idx val="1"/>
          <c:order val="1"/>
          <c:tx>
            <c:v>Forest</c:v>
          </c:tx>
          <c:spPr>
            <a:solidFill xmlns:a="http://schemas.openxmlformats.org/drawingml/2006/main">
              <a:srgbClr val="167D88"/>
            </a:solidFill>
            <a:ln xmlns:a="http://schemas.openxmlformats.org/drawingml/2006/main" w="28575">
              <a:solidFill>
                <a:srgbClr val="167D88"/>
              </a:solidFill>
            </a:ln>
          </c:spPr>
          <c:invertIfNegative val="0"/>
          <c:cat>
            <c:strRef>
              <c:f>'Chart Data'!$C$2:$C$5</c:f>
              <c:strCache>
                <c:ptCount val="4"/>
                <c:pt idx="0">
                  <c:v>Net worth</c:v>
                </c:pt>
                <c:pt idx="1">
                  <c:v>Experience</c:v>
                </c:pt>
                <c:pt idx="2">
                  <c:v>Towers alive</c:v>
                </c:pt>
                <c:pt idx="3">
                  <c:v>Players alive</c:v>
                </c:pt>
              </c:strCache>
            </c:strRef>
          </c:cat>
          <c:val>
            <c:numRef>
              <c:f>'Chart Data'!$D$2:$D$5</c:f>
              <c:numCache>
                <c:formatCode>0</c:formatCode>
                <c:ptCount val="4"/>
                <c:pt idx="0">
                  <c:v>100</c:v>
                </c:pt>
                <c:pt idx="1">
                  <c:v>100</c:v>
                </c:pt>
                <c:pt idx="2">
                  <c:v>6.66666666667</c:v>
                </c:pt>
                <c:pt idx="3">
                  <c:v>0</c:v>
                </c:pt>
              </c:numCache>
            </c:numRef>
          </c:val>
        </c:ser>
        <c:ser>
          <c:idx val="2"/>
          <c:order val="2"/>
          <c:tx>
            <c:v>XGBoost</c:v>
          </c:tx>
          <c:spPr>
            <a:solidFill xmlns:a="http://schemas.openxmlformats.org/drawingml/2006/main">
              <a:srgbClr val="C2732D"/>
            </a:solidFill>
            <a:ln xmlns:a="http://schemas.openxmlformats.org/drawingml/2006/main" w="28575">
              <a:solidFill>
                <a:srgbClr val="C2732D"/>
              </a:solidFill>
            </a:ln>
          </c:spPr>
          <c:invertIfNegative val="0"/>
          <c:cat>
            <c:strRef>
              <c:f>'Chart Data'!$E$2:$E$5</c:f>
              <c:strCache>
                <c:ptCount val="4"/>
                <c:pt idx="0">
                  <c:v>Net worth</c:v>
                </c:pt>
                <c:pt idx="1">
                  <c:v>Experience</c:v>
                </c:pt>
                <c:pt idx="2">
                  <c:v>Towers alive</c:v>
                </c:pt>
                <c:pt idx="3">
                  <c:v>Players alive</c:v>
                </c:pt>
              </c:strCache>
            </c:strRef>
          </c:cat>
          <c:val>
            <c:numRef>
              <c:f>'Chart Data'!$F$2:$F$5</c:f>
              <c:numCache>
                <c:formatCode>0</c:formatCode>
                <c:ptCount val="4"/>
                <c:pt idx="0">
                  <c:v>100</c:v>
                </c:pt>
                <c:pt idx="1">
                  <c:v>86.6666666667</c:v>
                </c:pt>
                <c:pt idx="2">
                  <c:v>10</c:v>
                </c:pt>
                <c:pt idx="3">
                  <c:v>33.3333333333</c:v>
                </c:pt>
              </c:numCache>
            </c:numRef>
          </c:val>
        </c:ser>
        <c:ser>
          <c:idx val="3"/>
          <c:order val="3"/>
          <c:tx>
            <c:v>Neural</c:v>
          </c:tx>
          <c:spPr>
            <a:solidFill xmlns:a="http://schemas.openxmlformats.org/drawingml/2006/main">
              <a:srgbClr val="7858A6"/>
            </a:solidFill>
            <a:ln xmlns:a="http://schemas.openxmlformats.org/drawingml/2006/main" w="28575">
              <a:solidFill>
                <a:srgbClr val="7858A6"/>
              </a:solidFill>
            </a:ln>
          </c:spPr>
          <c:invertIfNegative val="0"/>
          <c:cat>
            <c:strRef>
              <c:f>'Chart Data'!$G$2:$G$5</c:f>
              <c:strCache>
                <c:ptCount val="4"/>
                <c:pt idx="0">
                  <c:v>Net worth</c:v>
                </c:pt>
                <c:pt idx="1">
                  <c:v>Experience</c:v>
                </c:pt>
                <c:pt idx="2">
                  <c:v>Towers alive</c:v>
                </c:pt>
                <c:pt idx="3">
                  <c:v>Players alive</c:v>
                </c:pt>
              </c:strCache>
            </c:strRef>
          </c:cat>
          <c:val>
            <c:numRef>
              <c:f>'Chart Data'!$H$2:$H$5</c:f>
              <c:numCache>
                <c:formatCode>0</c:formatCode>
                <c:ptCount val="4"/>
                <c:pt idx="0">
                  <c:v>100</c:v>
                </c:pt>
                <c:pt idx="1">
                  <c:v>86.6666666667</c:v>
                </c:pt>
                <c:pt idx="2">
                  <c:v>60</c:v>
                </c:pt>
                <c:pt idx="3">
                  <c:v>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350">
                  <a:solidFill>
                    <a:srgbClr val="152C3B"/>
                  </a:solidFill>
                  <a:latin typeface="Arial"/>
                  <a:ea typeface="Arial"/>
                  <a:cs typeface="Arial"/>
                </a:defRPr>
              </a:pPr>
            </a:p>
          </c:txPr>
          <c:dLblPos val="outEnd"/>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Top three inclusion (%)</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536675"/>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1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2C3B"/>
                </a:solidFill>
                <a:latin typeface="Arial"/>
                <a:ea typeface="Arial"/>
                <a:cs typeface="Arial"/>
              </a:rPr>
              <a:t>Median sampled path retained by minute chords</a:t>
            </a:r>
          </a:p>
        </c:rich>
      </c:tx>
      <c:overlay val="0"/>
      <c:txPr>
        <a:bodyPr xmlns:a="http://schemas.openxmlformats.org/drawingml/2006/main" anchorCtr="1"/>
        <a:lstStyle xmlns:a="http://schemas.openxmlformats.org/drawingml/2006/main"/>
        <a:p xmlns:a="http://schemas.openxmlformats.org/drawingml/2006/main">
          <a:pPr>
            <a:defRPr sz="1725" b="1">
              <a:solidFill>
                <a:srgbClr val="152C3B"/>
              </a:solidFill>
              <a:latin typeface="Arial"/>
              <a:ea typeface="Arial"/>
              <a:cs typeface="Arial"/>
            </a:defRPr>
          </a:pPr>
        </a:p>
      </c:txPr>
    </c:title>
    <c:plotArea>
      <c:barChart>
        <c:barDir val="col"/>
        <c:grouping val="clustered"/>
        <c:varyColors val="0"/>
        <c:ser>
          <c:idx val="0"/>
          <c:order val="0"/>
          <c:tx>
            <c:v>Retained fraction</c:v>
          </c:tx>
          <c:spPr>
            <a:solidFill xmlns:a="http://schemas.openxmlformats.org/drawingml/2006/main">
              <a:srgbClr val="2568A5"/>
            </a:solidFill>
            <a:ln xmlns:a="http://schemas.openxmlformats.org/drawingml/2006/main" w="28575">
              <a:solidFill>
                <a:srgbClr val="2568A5"/>
              </a:solidFill>
            </a:ln>
          </c:spPr>
          <c:invertIfNegative val="0"/>
          <c:cat>
            <c:strRef>
              <c:f>'Chart Data'!$A$2:$A$5</c:f>
              <c:strCache>
                <c:ptCount val="4"/>
                <c:pt idx="0">
                  <c:v>0 s</c:v>
                </c:pt>
                <c:pt idx="1">
                  <c:v>15 s</c:v>
                </c:pt>
                <c:pt idx="2">
                  <c:v>30 s</c:v>
                </c:pt>
                <c:pt idx="3">
                  <c:v>45 s</c:v>
                </c:pt>
              </c:strCache>
            </c:strRef>
          </c:cat>
          <c:val>
            <c:numRef>
              <c:f>'Chart Data'!$B$2:$B$5</c:f>
              <c:numCache>
                <c:formatCode>0.0</c:formatCode>
                <c:ptCount val="4"/>
                <c:pt idx="0">
                  <c:v>27.9039283296</c:v>
                </c:pt>
                <c:pt idx="1">
                  <c:v>26.6379584181</c:v>
                </c:pt>
                <c:pt idx="2">
                  <c:v>26.2047293145</c:v>
                </c:pt>
                <c:pt idx="3">
                  <c:v>26.0764524128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52C3B"/>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Sampled path retained (%)</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2C3B"/>
                </a:solidFill>
                <a:latin typeface="Arial"/>
                <a:ea typeface="Arial"/>
                <a:cs typeface="Arial"/>
              </a:rPr>
              <a:t>Median retained fraction on common matches</a:t>
            </a:r>
          </a:p>
        </c:rich>
      </c:tx>
      <c:overlay val="0"/>
      <c:txPr>
        <a:bodyPr xmlns:a="http://schemas.openxmlformats.org/drawingml/2006/main" anchorCtr="1"/>
        <a:lstStyle xmlns:a="http://schemas.openxmlformats.org/drawingml/2006/main"/>
        <a:p xmlns:a="http://schemas.openxmlformats.org/drawingml/2006/main">
          <a:pPr>
            <a:defRPr sz="1725" b="1">
              <a:solidFill>
                <a:srgbClr val="152C3B"/>
              </a:solidFill>
              <a:latin typeface="Arial"/>
              <a:ea typeface="Arial"/>
              <a:cs typeface="Arial"/>
            </a:defRPr>
          </a:pPr>
        </a:p>
      </c:txPr>
    </c:title>
    <c:plotArea>
      <c:barChart>
        <c:barDir val="col"/>
        <c:grouping val="clustered"/>
        <c:varyColors val="0"/>
        <c:ser>
          <c:idx val="0"/>
          <c:order val="0"/>
          <c:tx>
            <c:v>Common match cohort</c:v>
          </c:tx>
          <c:spPr>
            <a:solidFill xmlns:a="http://schemas.openxmlformats.org/drawingml/2006/main">
              <a:srgbClr val="2568A5"/>
            </a:solidFill>
            <a:ln xmlns:a="http://schemas.openxmlformats.org/drawingml/2006/main" w="28575">
              <a:solidFill>
                <a:srgbClr val="2568A5"/>
              </a:solidFill>
            </a:ln>
          </c:spPr>
          <c:invertIfNegative val="0"/>
          <c:cat>
            <c:strRef>
              <c:f>'Chart Data'!$A$2:$A$5</c:f>
              <c:strCache>
                <c:ptCount val="4"/>
                <c:pt idx="0">
                  <c:v>0 s</c:v>
                </c:pt>
                <c:pt idx="1">
                  <c:v>15 s</c:v>
                </c:pt>
                <c:pt idx="2">
                  <c:v>30 s</c:v>
                </c:pt>
                <c:pt idx="3">
                  <c:v>45 s</c:v>
                </c:pt>
              </c:strCache>
            </c:strRef>
          </c:cat>
          <c:val>
            <c:numRef>
              <c:f>'Chart Data'!$B$2:$B$5</c:f>
              <c:numCache>
                <c:formatCode>0.0</c:formatCode>
                <c:ptCount val="4"/>
                <c:pt idx="0">
                  <c:v>27.9640691548</c:v>
                </c:pt>
                <c:pt idx="1">
                  <c:v>26.3483244865</c:v>
                </c:pt>
                <c:pt idx="2">
                  <c:v>26.2853334123</c:v>
                </c:pt>
                <c:pt idx="3">
                  <c:v>25.6279874869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52C3B"/>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CE5EA"/>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52C3B"/>
                    </a:solidFill>
                    <a:latin typeface="Arial"/>
                    <a:ea typeface="Arial"/>
                    <a:cs typeface="Arial"/>
                  </a:rPr>
                  <a:t>Sampled path retained (%)</a:t>
                </a:r>
              </a:p>
            </c:rich>
          </c:tx>
          <c:overlay val="0"/>
          <c:txPr>
            <a:bodyPr xmlns:a="http://schemas.openxmlformats.org/drawingml/2006/main" anchorCtr="1"/>
            <a:lstStyle xmlns:a="http://schemas.openxmlformats.org/drawingml/2006/main"/>
            <a:p xmlns:a="http://schemas.openxmlformats.org/drawingml/2006/main">
              <a:pPr>
                <a:defRPr sz="1500">
                  <a:solidFill>
                    <a:srgbClr val="152C3B"/>
                  </a:solidFill>
                  <a:latin typeface="Arial"/>
                  <a:ea typeface="Arial"/>
                  <a:cs typeface="Arial"/>
                </a:defRPr>
              </a:pPr>
            </a:p>
          </c:txPr>
        </c:title>
        <c:numFmt formatCode="0.0"/>
        <c:majorTickMark val="none"/>
        <c:minorTickMark val="none"/>
        <c:spPr>
          <a:ln xmlns:a="http://schemas.openxmlformats.org/drawingml/2006/main" w="9525">
            <a:solidFill>
              <a:srgbClr val="DCE5EA"/>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1">
            <a:extLst xmlns:a="http://schemas.openxmlformats.org/drawingml/2006/main">
              <a:ext uri="{FF2B5EF4-FFF2-40B4-BE49-F238E27FC236}">
                <a16:creationId xmlns:a16="http://schemas.microsoft.com/office/drawing/2014/main" id="{5F5AC175-BD95-4ED8-8E96-CF633196A59F}"/>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What did I set out to study?</a:t>
            </a:r>
          </a:p>
        </p:txBody>
      </p:sp>
      <p:sp>
        <p:nvSpPr>
          <p:cNvPr id="3" name="Answer bullets">
            <a:extLst xmlns:a="http://schemas.openxmlformats.org/drawingml/2006/main">
              <a:ext uri="{FF2B5EF4-FFF2-40B4-BE49-F238E27FC236}">
                <a16:creationId xmlns:a16="http://schemas.microsoft.com/office/drawing/2014/main" id="{AC956AFA-4059-4512-ADDF-23FA81B3A43B}"/>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Author: Md Forhadul Islam, independent study in London</a:t>
            </a:r>
          </a:p>
          <a:p xmlns:a="http://schemas.openxmlformats.org/drawingml/2006/main">
            <a:pPr marL="228600" indent="-114300">
              <a:spcAft>
                <a:spcPts val="1800"/>
              </a:spcAft>
              <a:buChar char="•"/>
              <a:defRPr sz="2325" b="0">
                <a:solidFill>
                  <a:srgbClr val="152C3B"/>
                </a:solidFill>
                <a:latin typeface="Arial"/>
                <a:ea typeface="Arial"/>
                <a:cs typeface="Arial"/>
              </a:defRPr>
            </a:pPr>
            <a:r>
              <a:t>Adapted selected parts of Hojaji and colleagues’ LoL workflow to Dota 2</a:t>
            </a:r>
          </a:p>
          <a:p xmlns:a="http://schemas.openxmlformats.org/drawingml/2006/main">
            <a:pPr marL="228600" indent="-114300">
              <a:spcAft>
                <a:spcPts val="1800"/>
              </a:spcAft>
              <a:buChar char="•"/>
              <a:defRPr sz="2325" b="0">
                <a:solidFill>
                  <a:srgbClr val="152C3B"/>
                </a:solidFill>
                <a:latin typeface="Arial"/>
                <a:ea typeface="Arial"/>
                <a:cs typeface="Arial"/>
              </a:defRPr>
            </a:pPr>
            <a:r>
              <a:t>Why: practise statistical analysis and examine whether predictive KPIs are reliable</a:t>
            </a:r>
          </a:p>
          <a:p xmlns:a="http://schemas.openxmlformats.org/drawingml/2006/main">
            <a:pPr marL="228600" indent="-114300">
              <a:spcAft>
                <a:spcPts val="1800"/>
              </a:spcAft>
              <a:buChar char="•"/>
              <a:defRPr sz="2325" b="0">
                <a:solidFill>
                  <a:srgbClr val="152C3B"/>
                </a:solidFill>
                <a:latin typeface="Arial"/>
                <a:ea typeface="Arial"/>
                <a:cs typeface="Arial"/>
              </a:defRPr>
            </a:pPr>
            <a:r>
              <a:t>Scope: prediction, calibration, explanation stability and movement measurement</a:t>
            </a:r>
          </a:p>
          <a:p xmlns:a="http://schemas.openxmlformats.org/drawingml/2006/main">
            <a:pPr marL="228600" indent="-114300">
              <a:spcAft>
                <a:spcPts val="1800"/>
              </a:spcAft>
              <a:buChar char="•"/>
              <a:defRPr sz="2325" b="0">
                <a:solidFill>
                  <a:srgbClr val="152C3B"/>
                </a:solidFill>
                <a:latin typeface="Arial"/>
                <a:ea typeface="Arial"/>
                <a:cs typeface="Arial"/>
              </a:defRPr>
            </a:pPr>
            <a:r>
              <a:t>The original method belongs to Fazilat Hojaji, Robert E. McIlroy, Antoine Dupuy, Gianpaolo Pedroni, Adam J. Toth and Mark J. Campbell</a:t>
            </a:r>
          </a:p>
        </p:txBody>
      </p:sp>
    </p:spTree>
    <p:extLst>
      <p:ext uri="{BB962C8B-B14F-4D97-AF65-F5344CB8AC3E}">
        <p14:creationId xmlns:p14="http://schemas.microsoft.com/office/powerpoint/2010/main" val="10281268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2">
            <a:extLst xmlns:a="http://schemas.openxmlformats.org/drawingml/2006/main">
              <a:ext uri="{FF2B5EF4-FFF2-40B4-BE49-F238E27FC236}">
                <a16:creationId xmlns:a16="http://schemas.microsoft.com/office/drawing/2014/main" id="{F62E3068-CC4E-42BD-ACB8-DEFDFA90C918}"/>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Why could I not reproduce the LoL numbers exactly?</a:t>
            </a:r>
          </a:p>
        </p:txBody>
      </p:sp>
      <p:sp>
        <p:nvSpPr>
          <p:cNvPr id="3" name="Answer bullets">
            <a:extLst xmlns:a="http://schemas.openxmlformats.org/drawingml/2006/main">
              <a:ext uri="{FF2B5EF4-FFF2-40B4-BE49-F238E27FC236}">
                <a16:creationId xmlns:a16="http://schemas.microsoft.com/office/drawing/2014/main" id="{2FBE81E3-DAFB-4061-A3FD-7D559EF0F83C}"/>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Problem: the original full dataset was available on request, not as a complete public download</a:t>
            </a:r>
          </a:p>
          <a:p xmlns:a="http://schemas.openxmlformats.org/drawingml/2006/main">
            <a:pPr marL="228600" indent="-114300">
              <a:spcAft>
                <a:spcPts val="1800"/>
              </a:spcAft>
              <a:buChar char="•"/>
              <a:defRPr sz="2325" b="0">
                <a:solidFill>
                  <a:srgbClr val="152C3B"/>
                </a:solidFill>
                <a:latin typeface="Arial"/>
                <a:ea typeface="Arial"/>
                <a:cs typeface="Arial"/>
              </a:defRPr>
            </a:pPr>
            <a:r>
              <a:t>The earlier public LoL candidate lacked vision and total experience fields</a:t>
            </a:r>
          </a:p>
          <a:p xmlns:a="http://schemas.openxmlformats.org/drawingml/2006/main">
            <a:pPr marL="228600" indent="-114300">
              <a:spcAft>
                <a:spcPts val="1800"/>
              </a:spcAft>
              <a:buChar char="•"/>
              <a:defRPr sz="2325" b="0">
                <a:solidFill>
                  <a:srgbClr val="152C3B"/>
                </a:solidFill>
                <a:latin typeface="Arial"/>
                <a:ea typeface="Arial"/>
                <a:cs typeface="Arial"/>
              </a:defRPr>
            </a:pPr>
            <a:r>
              <a:t>Its snapshot timing also depended on eventual match duration</a:t>
            </a:r>
          </a:p>
          <a:p xmlns:a="http://schemas.openxmlformats.org/drawingml/2006/main">
            <a:pPr marL="228600" indent="-114300">
              <a:spcAft>
                <a:spcPts val="1800"/>
              </a:spcAft>
              <a:buChar char="•"/>
              <a:defRPr sz="2325" b="0">
                <a:solidFill>
                  <a:srgbClr val="152C3B"/>
                </a:solidFill>
                <a:latin typeface="Arial"/>
                <a:ea typeface="Arial"/>
                <a:cs typeface="Arial"/>
              </a:defRPr>
            </a:pPr>
            <a:r>
              <a:t>Decision: use public Dota data and state clearly that this is an adaptation</a:t>
            </a:r>
          </a:p>
        </p:txBody>
      </p:sp>
    </p:spTree>
    <p:extLst>
      <p:ext uri="{BB962C8B-B14F-4D97-AF65-F5344CB8AC3E}">
        <p14:creationId xmlns:p14="http://schemas.microsoft.com/office/powerpoint/2010/main" val="4727409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3">
            <a:extLst xmlns:a="http://schemas.openxmlformats.org/drawingml/2006/main">
              <a:ext uri="{FF2B5EF4-FFF2-40B4-BE49-F238E27FC236}">
                <a16:creationId xmlns:a16="http://schemas.microsoft.com/office/drawing/2014/main" id="{613BBCF7-283B-4F51-A7E2-A1B59419C6DD}"/>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What gaps did the original paper identify?</a:t>
            </a:r>
          </a:p>
        </p:txBody>
      </p:sp>
      <p:sp>
        <p:nvSpPr>
          <p:cNvPr id="3" name="Answer bullets">
            <a:extLst xmlns:a="http://schemas.openxmlformats.org/drawingml/2006/main">
              <a:ext uri="{FF2B5EF4-FFF2-40B4-BE49-F238E27FC236}">
                <a16:creationId xmlns:a16="http://schemas.microsoft.com/office/drawing/2014/main" id="{3E760D75-6B65-482B-BDD8-EDED7FE901ED}"/>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Rank imbalance and European regional coverage limited generalisation</a:t>
            </a:r>
          </a:p>
          <a:p xmlns:a="http://schemas.openxmlformats.org/drawingml/2006/main">
            <a:pPr marL="228600" indent="-114300">
              <a:spcAft>
                <a:spcPts val="1800"/>
              </a:spcAft>
              <a:buChar char="•"/>
              <a:defRPr sz="2325" b="0">
                <a:solidFill>
                  <a:srgbClr val="152C3B"/>
                </a:solidFill>
                <a:latin typeface="Arial"/>
                <a:ea typeface="Arial"/>
                <a:cs typeface="Arial"/>
              </a:defRPr>
            </a:pPr>
            <a:r>
              <a:t>Game updates could change relationships between statistics and winning</a:t>
            </a:r>
          </a:p>
          <a:p xmlns:a="http://schemas.openxmlformats.org/drawingml/2006/main">
            <a:pPr marL="228600" indent="-114300">
              <a:spcAft>
                <a:spcPts val="1800"/>
              </a:spcAft>
              <a:buChar char="•"/>
              <a:defRPr sz="2325" b="0">
                <a:solidFill>
                  <a:srgbClr val="152C3B"/>
                </a:solidFill>
                <a:latin typeface="Arial"/>
                <a:ea typeface="Arial"/>
                <a:cs typeface="Arial"/>
              </a:defRPr>
            </a:pPr>
            <a:r>
              <a:t>Sparse position sampling could miss intervening movement</a:t>
            </a:r>
          </a:p>
          <a:p xmlns:a="http://schemas.openxmlformats.org/drawingml/2006/main">
            <a:pPr marL="228600" indent="-114300">
              <a:spcAft>
                <a:spcPts val="1800"/>
              </a:spcAft>
              <a:buChar char="•"/>
              <a:defRPr sz="2325" b="0">
                <a:solidFill>
                  <a:srgbClr val="152C3B"/>
                </a:solidFill>
                <a:latin typeface="Arial"/>
                <a:ea typeface="Arial"/>
                <a:cs typeface="Arial"/>
              </a:defRPr>
            </a:pPr>
            <a:r>
              <a:t>Champion classes, items and composition were proposed directions</a:t>
            </a:r>
          </a:p>
          <a:p xmlns:a="http://schemas.openxmlformats.org/drawingml/2006/main">
            <a:pPr marL="228600" indent="-114300">
              <a:spcAft>
                <a:spcPts val="1800"/>
              </a:spcAft>
              <a:buChar char="•"/>
              <a:defRPr sz="2325" b="0">
                <a:solidFill>
                  <a:srgbClr val="152C3B"/>
                </a:solidFill>
                <a:latin typeface="Arial"/>
                <a:ea typeface="Arial"/>
                <a:cs typeface="Arial"/>
              </a:defRPr>
            </a:pPr>
            <a:r>
              <a:t>I investigated a related sampling issue; calibration and stability were additional study questions</a:t>
            </a:r>
          </a:p>
        </p:txBody>
      </p:sp>
    </p:spTree>
    <p:extLst>
      <p:ext uri="{BB962C8B-B14F-4D97-AF65-F5344CB8AC3E}">
        <p14:creationId xmlns:p14="http://schemas.microsoft.com/office/powerpoint/2010/main" val="14241727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4">
            <a:extLst xmlns:a="http://schemas.openxmlformats.org/drawingml/2006/main">
              <a:ext uri="{FF2B5EF4-FFF2-40B4-BE49-F238E27FC236}">
                <a16:creationId xmlns:a16="http://schemas.microsoft.com/office/drawing/2014/main" id="{2FF94795-2540-477C-BE22-B8E8EA8D9554}"/>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check the literature?</a:t>
            </a:r>
          </a:p>
        </p:txBody>
      </p:sp>
      <p:sp>
        <p:nvSpPr>
          <p:cNvPr id="3" name="Answer bullets">
            <a:extLst xmlns:a="http://schemas.openxmlformats.org/drawingml/2006/main">
              <a:ext uri="{FF2B5EF4-FFF2-40B4-BE49-F238E27FC236}">
                <a16:creationId xmlns:a16="http://schemas.microsoft.com/office/drawing/2014/main" id="{76AC9764-71D7-4483-96EA-5C36586272B6}"/>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Did: recorded searches, source links and short abstract summaries</a:t>
            </a:r>
          </a:p>
          <a:p xmlns:a="http://schemas.openxmlformats.org/drawingml/2006/main">
            <a:pPr marL="228600" indent="-114300">
              <a:spcAft>
                <a:spcPts val="1600"/>
              </a:spcAft>
              <a:buChar char="•"/>
              <a:defRPr sz="2100" b="0">
                <a:solidFill>
                  <a:srgbClr val="152C3B"/>
                </a:solidFill>
                <a:latin typeface="Arial"/>
                <a:ea typeface="Arial"/>
                <a:cs typeface="Arial"/>
              </a:defRPr>
            </a:pPr>
            <a:r>
              <a:t>Why: separate established methods from questions worth studying</a:t>
            </a:r>
          </a:p>
          <a:p xmlns:a="http://schemas.openxmlformats.org/drawingml/2006/main">
            <a:pPr marL="228600" indent="-114300">
              <a:spcAft>
                <a:spcPts val="1600"/>
              </a:spcAft>
              <a:buChar char="•"/>
              <a:defRPr sz="2100" b="0">
                <a:solidFill>
                  <a:srgbClr val="152C3B"/>
                </a:solidFill>
                <a:latin typeface="Arial"/>
                <a:ea typeface="Arial"/>
                <a:cs typeface="Arial"/>
              </a:defRPr>
            </a:pPr>
            <a:r>
              <a:t>Checked metadata and labelled abstract versus full text access</a:t>
            </a:r>
          </a:p>
          <a:p xmlns:a="http://schemas.openxmlformats.org/drawingml/2006/main">
            <a:pPr marL="228600" indent="-114300">
              <a:spcAft>
                <a:spcPts val="1600"/>
              </a:spcAft>
              <a:buChar char="•"/>
              <a:defRPr sz="2100" b="0">
                <a:solidFill>
                  <a:srgbClr val="152C3B"/>
                </a:solidFill>
                <a:latin typeface="Arial"/>
                <a:ea typeface="Arial"/>
                <a:cs typeface="Arial"/>
              </a:defRPr>
            </a:pPr>
            <a:r>
              <a:t>Kept a claim map and Excel tracker; this was a focused review</a:t>
            </a:r>
          </a:p>
        </p:txBody>
      </p:sp>
      <p:graphicFrame>
        <p:nvGraphicFramePr>
          <p:cNvPr id="4" name="Chart">
            <a:extLst xmlns:a="http://schemas.openxmlformats.org/drawingml/2006/main">
              <a:ext uri="{FF2B5EF4-FFF2-40B4-BE49-F238E27FC236}">
                <a16:creationId xmlns:a16="http://schemas.microsoft.com/office/drawing/2014/main" id="{EAC327D4-455B-44CA-9B19-117CB7DADA24}"/>
              </a:ext>
            </a:extLst>
          </p:cNvPr>
          <p:cNvGraphicFramePr/>
          <p:nvPr/>
        </p:nvGraphicFramePr>
        <p:xfrm>
          <a:off xmlns:a="http://schemas.openxmlformats.org/drawingml/2006/main" x="552450" y="1714500"/>
          <a:ext xmlns:a="http://schemas.openxmlformats.org/drawingml/2006/main" cx="6858000" cy="4286250"/>
        </p:xfrm>
        <a:graphic xmlns:a="http://schemas.openxmlformats.org/drawingml/2006/main">
          <a:graphicData uri="http://schemas.openxmlformats.org/drawingml/2006/chart">
            <c:chart xmlns:r="http://schemas.openxmlformats.org/officeDocument/2006/relationships" xmlns:c="http://schemas.openxmlformats.org/drawingml/2006/chart" r:id="Rb6d5a3040ab644cd"/>
          </a:graphicData>
        </a:graphic>
      </p:graphicFrame>
    </p:spTree>
    <p:extLst>
      <p:ext uri="{BB962C8B-B14F-4D97-AF65-F5344CB8AC3E}">
        <p14:creationId xmlns:p14="http://schemas.microsoft.com/office/powerpoint/2010/main" val="4048019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5">
            <a:extLst xmlns:a="http://schemas.openxmlformats.org/drawingml/2006/main">
              <a:ext uri="{FF2B5EF4-FFF2-40B4-BE49-F238E27FC236}">
                <a16:creationId xmlns:a16="http://schemas.microsoft.com/office/drawing/2014/main" id="{CC97529E-F0C3-41FF-BDE2-79DAF0B9ADE5}"/>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handle blocked or incomplete sources?</a:t>
            </a:r>
          </a:p>
        </p:txBody>
      </p:sp>
      <p:sp>
        <p:nvSpPr>
          <p:cNvPr id="3" name="Answer bullets">
            <a:extLst xmlns:a="http://schemas.openxmlformats.org/drawingml/2006/main">
              <a:ext uri="{FF2B5EF4-FFF2-40B4-BE49-F238E27FC236}">
                <a16:creationId xmlns:a16="http://schemas.microsoft.com/office/drawing/2014/main" id="{B4532A01-B0D8-4A47-B45F-240ACE1698C4}"/>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Problem: live publisher and author upload pages were access blocked</a:t>
            </a:r>
          </a:p>
          <a:p xmlns:a="http://schemas.openxmlformats.org/drawingml/2006/main">
            <a:pPr marL="228600" indent="-114300">
              <a:spcAft>
                <a:spcPts val="1800"/>
              </a:spcAft>
              <a:buChar char="•"/>
              <a:defRPr sz="2325" b="0">
                <a:solidFill>
                  <a:srgbClr val="152C3B"/>
                </a:solidFill>
                <a:latin typeface="Arial"/>
                <a:ea typeface="Arial"/>
                <a:cs typeface="Arial"/>
              </a:defRPr>
            </a:pPr>
            <a:r>
              <a:t>Checked the relevant original passages through an accessible indexed author upload</a:t>
            </a:r>
          </a:p>
          <a:p xmlns:a="http://schemas.openxmlformats.org/drawingml/2006/main">
            <a:pPr marL="228600" indent="-114300">
              <a:spcAft>
                <a:spcPts val="1800"/>
              </a:spcAft>
              <a:buChar char="•"/>
              <a:defRPr sz="2325" b="0">
                <a:solidFill>
                  <a:srgbClr val="152C3B"/>
                </a:solidFill>
                <a:latin typeface="Arial"/>
                <a:ea typeface="Arial"/>
                <a:cs typeface="Arial"/>
              </a:defRPr>
            </a:pPr>
            <a:r>
              <a:t>Compared public code separately because alternative branches differed</a:t>
            </a:r>
          </a:p>
          <a:p xmlns:a="http://schemas.openxmlformats.org/drawingml/2006/main">
            <a:pPr marL="228600" indent="-114300">
              <a:spcAft>
                <a:spcPts val="1800"/>
              </a:spcAft>
              <a:buChar char="•"/>
              <a:defRPr sz="2325" b="0">
                <a:solidFill>
                  <a:srgbClr val="152C3B"/>
                </a:solidFill>
                <a:latin typeface="Arial"/>
                <a:ea typeface="Arial"/>
                <a:cs typeface="Arial"/>
              </a:defRPr>
            </a:pPr>
            <a:r>
              <a:t>Recorded access depth and verified metadata; abstract access did not justify detailed method claims</a:t>
            </a:r>
          </a:p>
        </p:txBody>
      </p:sp>
    </p:spTree>
    <p:extLst>
      <p:ext uri="{BB962C8B-B14F-4D97-AF65-F5344CB8AC3E}">
        <p14:creationId xmlns:p14="http://schemas.microsoft.com/office/powerpoint/2010/main" val="18156498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6">
            <a:extLst xmlns:a="http://schemas.openxmlformats.org/drawingml/2006/main">
              <a:ext uri="{FF2B5EF4-FFF2-40B4-BE49-F238E27FC236}">
                <a16:creationId xmlns:a16="http://schemas.microsoft.com/office/drawing/2014/main" id="{A5F8C3AD-28A8-4061-A84D-AF82D61E949C}"/>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obtain the public dataset?</a:t>
            </a:r>
          </a:p>
        </p:txBody>
      </p:sp>
      <p:sp>
        <p:nvSpPr>
          <p:cNvPr id="3" name="Answer bullets">
            <a:extLst xmlns:a="http://schemas.openxmlformats.org/drawingml/2006/main">
              <a:ext uri="{FF2B5EF4-FFF2-40B4-BE49-F238E27FC236}">
                <a16:creationId xmlns:a16="http://schemas.microsoft.com/office/drawing/2014/main" id="{4985D5C3-0EE4-42EB-9D28-612F4FC5D735}"/>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Did: pinned the Betty dataset and verified 6,824 files</a:t>
            </a:r>
          </a:p>
          <a:p xmlns:a="http://schemas.openxmlformats.org/drawingml/2006/main">
            <a:pPr marL="228600" indent="-114300">
              <a:spcAft>
                <a:spcPts val="1600"/>
              </a:spcAft>
              <a:buChar char="•"/>
              <a:defRPr sz="2100" b="0">
                <a:solidFill>
                  <a:srgbClr val="152C3B"/>
                </a:solidFill>
                <a:latin typeface="Arial"/>
                <a:ea typeface="Arial"/>
                <a:cs typeface="Arial"/>
              </a:defRPr>
            </a:pPr>
            <a:r>
              <a:t>Why: prevent unnoticed changes in the source data</a:t>
            </a:r>
          </a:p>
          <a:p xmlns:a="http://schemas.openxmlformats.org/drawingml/2006/main">
            <a:pPr marL="228600" indent="-114300">
              <a:spcAft>
                <a:spcPts val="1600"/>
              </a:spcAft>
              <a:buChar char="•"/>
              <a:defRPr sz="2100" b="0">
                <a:solidFill>
                  <a:srgbClr val="152C3B"/>
                </a:solidFill>
                <a:latin typeface="Arial"/>
                <a:ea typeface="Arial"/>
                <a:cs typeface="Arial"/>
              </a:defRPr>
            </a:pPr>
            <a:r>
              <a:t>Downloaded 9.65 GB; no unresolved file failures</a:t>
            </a:r>
          </a:p>
          <a:p xmlns:a="http://schemas.openxmlformats.org/drawingml/2006/main">
            <a:pPr marL="228600" indent="-114300">
              <a:spcAft>
                <a:spcPts val="1600"/>
              </a:spcAft>
              <a:buChar char="•"/>
              <a:defRPr sz="2100" b="0">
                <a:solidFill>
                  <a:srgbClr val="152C3B"/>
                </a:solidFill>
                <a:latin typeface="Arial"/>
                <a:ea typeface="Arial"/>
                <a:cs typeface="Arial"/>
              </a:defRPr>
            </a:pPr>
            <a:r>
              <a:t>Credit: wolframko, Valve replays and STRATZ; raw data stay local</a:t>
            </a:r>
          </a:p>
        </p:txBody>
      </p:sp>
      <p:graphicFrame>
        <p:nvGraphicFramePr>
          <p:cNvPr id="4" name="Chart">
            <a:extLst xmlns:a="http://schemas.openxmlformats.org/drawingml/2006/main">
              <a:ext uri="{FF2B5EF4-FFF2-40B4-BE49-F238E27FC236}">
                <a16:creationId xmlns:a16="http://schemas.microsoft.com/office/drawing/2014/main" id="{F37820BE-DE7F-4E1E-86A2-F9EAA7719566}"/>
              </a:ext>
            </a:extLst>
          </p:cNvPr>
          <p:cNvGraphicFramePr/>
          <p:nvPr/>
        </p:nvGraphicFramePr>
        <p:xfrm>
          <a:off xmlns:a="http://schemas.openxmlformats.org/drawingml/2006/main" x="552450" y="1714500"/>
          <a:ext xmlns:a="http://schemas.openxmlformats.org/drawingml/2006/main" cx="6858000" cy="4286250"/>
        </p:xfrm>
        <a:graphic xmlns:a="http://schemas.openxmlformats.org/drawingml/2006/main">
          <a:graphicData uri="http://schemas.openxmlformats.org/drawingml/2006/chart">
            <c:chart xmlns:r="http://schemas.openxmlformats.org/officeDocument/2006/relationships" xmlns:c="http://schemas.openxmlformats.org/drawingml/2006/chart" r:id="R745425527f0f43a2"/>
          </a:graphicData>
        </a:graphic>
      </p:graphicFrame>
    </p:spTree>
    <p:extLst>
      <p:ext uri="{BB962C8B-B14F-4D97-AF65-F5344CB8AC3E}">
        <p14:creationId xmlns:p14="http://schemas.microsoft.com/office/powerpoint/2010/main" val="4856411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7">
            <a:extLst xmlns:a="http://schemas.openxmlformats.org/drawingml/2006/main">
              <a:ext uri="{FF2B5EF4-FFF2-40B4-BE49-F238E27FC236}">
                <a16:creationId xmlns:a16="http://schemas.microsoft.com/office/drawing/2014/main" id="{A235CEA9-0498-4854-B797-44F2EAB18FBC}"/>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the downloader protect against incomplete files?</a:t>
            </a:r>
          </a:p>
        </p:txBody>
      </p:sp>
      <p:sp>
        <p:nvSpPr>
          <p:cNvPr id="3" name="Answer bullets">
            <a:extLst xmlns:a="http://schemas.openxmlformats.org/drawingml/2006/main">
              <a:ext uri="{FF2B5EF4-FFF2-40B4-BE49-F238E27FC236}">
                <a16:creationId xmlns:a16="http://schemas.microsoft.com/office/drawing/2014/main" id="{AC262E9E-A739-42FF-A9CF-26B5073195FF}"/>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How: pinned one revision and streamed files into temporary partial files</a:t>
            </a:r>
          </a:p>
          <a:p xmlns:a="http://schemas.openxmlformats.org/drawingml/2006/main">
            <a:pPr marL="228600" indent="-114300">
              <a:spcAft>
                <a:spcPts val="1800"/>
              </a:spcAft>
              <a:buChar char="•"/>
              <a:defRPr sz="2325" b="0">
                <a:solidFill>
                  <a:srgbClr val="152C3B"/>
                </a:solidFill>
                <a:latin typeface="Arial"/>
                <a:ea typeface="Arial"/>
                <a:cs typeface="Arial"/>
              </a:defRPr>
            </a:pPr>
            <a:r>
              <a:t>Checked byte sizes and available source SHA256 hashes before accepting files</a:t>
            </a:r>
          </a:p>
          <a:p xmlns:a="http://schemas.openxmlformats.org/drawingml/2006/main">
            <a:pPr marL="228600" indent="-114300">
              <a:spcAft>
                <a:spcPts val="1800"/>
              </a:spcAft>
              <a:buChar char="•"/>
              <a:defRPr sz="2325" b="0">
                <a:solidFill>
                  <a:srgbClr val="152C3B"/>
                </a:solidFill>
                <a:latin typeface="Arial"/>
                <a:ea typeface="Arial"/>
                <a:cs typeface="Arial"/>
              </a:defRPr>
            </a:pPr>
            <a:r>
              <a:t>Reused verified files; bounded retries and shared cooldowns handled transfer failures</a:t>
            </a:r>
          </a:p>
          <a:p xmlns:a="http://schemas.openxmlformats.org/drawingml/2006/main">
            <a:pPr marL="228600" indent="-114300">
              <a:spcAft>
                <a:spcPts val="1800"/>
              </a:spcAft>
              <a:buChar char="•"/>
              <a:defRPr sz="2325" b="0">
                <a:solidFill>
                  <a:srgbClr val="152C3B"/>
                </a:solidFill>
                <a:latin typeface="Arial"/>
                <a:ea typeface="Arial"/>
                <a:cs typeface="Arial"/>
              </a:defRPr>
            </a:pPr>
            <a:r>
              <a:t>Why: resume work safely without treating a partial acquisition as complete</a:t>
            </a:r>
          </a:p>
        </p:txBody>
      </p:sp>
    </p:spTree>
    <p:extLst>
      <p:ext uri="{BB962C8B-B14F-4D97-AF65-F5344CB8AC3E}">
        <p14:creationId xmlns:p14="http://schemas.microsoft.com/office/powerpoint/2010/main" val="15599803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8">
            <a:extLst xmlns:a="http://schemas.openxmlformats.org/drawingml/2006/main">
              <a:ext uri="{FF2B5EF4-FFF2-40B4-BE49-F238E27FC236}">
                <a16:creationId xmlns:a16="http://schemas.microsoft.com/office/drawing/2014/main" id="{AB9DF69B-BE17-4ADC-8E2B-38F30B97608E}"/>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Which advertised fields were actually usable?</a:t>
            </a:r>
          </a:p>
        </p:txBody>
      </p:sp>
      <p:sp>
        <p:nvSpPr>
          <p:cNvPr id="3" name="Answer bullets">
            <a:extLst xmlns:a="http://schemas.openxmlformats.org/drawingml/2006/main">
              <a:ext uri="{FF2B5EF4-FFF2-40B4-BE49-F238E27FC236}">
                <a16:creationId xmlns:a16="http://schemas.microsoft.com/office/drawing/2014/main" id="{A869C447-AD40-4646-ACC5-EF534CF696C3}"/>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Did: inventoried all schemas and inspected detailed field completeness in sampled shards</a:t>
            </a:r>
          </a:p>
          <a:p xmlns:a="http://schemas.openxmlformats.org/drawingml/2006/main">
            <a:pPr marL="228600" indent="-114300">
              <a:spcAft>
                <a:spcPts val="1800"/>
              </a:spcAft>
              <a:buChar char="•"/>
              <a:defRPr sz="2325" b="0">
                <a:solidFill>
                  <a:srgbClr val="152C3B"/>
                </a:solidFill>
                <a:latin typeface="Arial"/>
                <a:ea typeface="Arial"/>
                <a:cs typeface="Arial"/>
              </a:defRPr>
            </a:pPr>
            <a:r>
              <a:t>Why: a documented column can still contain missing or placeholder values</a:t>
            </a:r>
          </a:p>
          <a:p xmlns:a="http://schemas.openxmlformats.org/drawingml/2006/main">
            <a:pPr marL="228600" indent="-114300">
              <a:spcAft>
                <a:spcPts val="1800"/>
              </a:spcAft>
              <a:buChar char="•"/>
              <a:defRPr sz="2325" b="0">
                <a:solidFill>
                  <a:srgbClr val="152C3B"/>
                </a:solidFill>
                <a:latin typeface="Arial"/>
                <a:ea typeface="Arial"/>
                <a:cs typeface="Arial"/>
              </a:defRPr>
            </a:pPr>
            <a:r>
              <a:t>Used observed economic, combat, survival and tower statistics</a:t>
            </a:r>
          </a:p>
          <a:p xmlns:a="http://schemas.openxmlformats.org/drawingml/2006/main">
            <a:pPr marL="228600" indent="-114300">
              <a:spcAft>
                <a:spcPts val="1800"/>
              </a:spcAft>
              <a:buChar char="•"/>
              <a:defRPr sz="2325" b="0">
                <a:solidFill>
                  <a:srgbClr val="152C3B"/>
                </a:solidFill>
                <a:latin typeface="Arial"/>
                <a:ea typeface="Arial"/>
                <a:cs typeface="Arial"/>
              </a:defRPr>
            </a:pPr>
            <a:r>
              <a:t>Deferred ward geography, detailed items and retrospective roles</a:t>
            </a:r>
          </a:p>
          <a:p xmlns:a="http://schemas.openxmlformats.org/drawingml/2006/main">
            <a:pPr marL="228600" indent="-114300">
              <a:spcAft>
                <a:spcPts val="1800"/>
              </a:spcAft>
              <a:buChar char="•"/>
              <a:defRPr sz="2325" b="0">
                <a:solidFill>
                  <a:srgbClr val="152C3B"/>
                </a:solidFill>
                <a:latin typeface="Arial"/>
                <a:ea typeface="Arial"/>
                <a:cs typeface="Arial"/>
              </a:defRPr>
            </a:pPr>
            <a:r>
              <a:t>Sampled field inspection is not a census of every field value</a:t>
            </a:r>
          </a:p>
        </p:txBody>
      </p:sp>
    </p:spTree>
    <p:extLst>
      <p:ext uri="{BB962C8B-B14F-4D97-AF65-F5344CB8AC3E}">
        <p14:creationId xmlns:p14="http://schemas.microsoft.com/office/powerpoint/2010/main" val="5363086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9">
            <a:extLst xmlns:a="http://schemas.openxmlformats.org/drawingml/2006/main">
              <a:ext uri="{FF2B5EF4-FFF2-40B4-BE49-F238E27FC236}">
                <a16:creationId xmlns:a16="http://schemas.microsoft.com/office/drawing/2014/main" id="{98771596-41EC-4F8F-AD75-02C6A09AF495}"/>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What did I do when the dataset description did not match the files?</a:t>
            </a:r>
          </a:p>
        </p:txBody>
      </p:sp>
      <p:sp>
        <p:nvSpPr>
          <p:cNvPr id="3" name="Answer bullets">
            <a:extLst xmlns:a="http://schemas.openxmlformats.org/drawingml/2006/main">
              <a:ext uri="{FF2B5EF4-FFF2-40B4-BE49-F238E27FC236}">
                <a16:creationId xmlns:a16="http://schemas.microsoft.com/office/drawing/2014/main" id="{2CCBA392-4C85-4360-ADD5-98052C574AE9}"/>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Problem: the card described 2025, but recorded matches spanned February 2024 to December 2025</a:t>
            </a:r>
          </a:p>
          <a:p xmlns:a="http://schemas.openxmlformats.org/drawingml/2006/main">
            <a:pPr marL="228600" indent="-114300">
              <a:spcAft>
                <a:spcPts val="1800"/>
              </a:spcAft>
              <a:buChar char="•"/>
              <a:defRPr sz="2325" b="0">
                <a:solidFill>
                  <a:srgbClr val="152C3B"/>
                </a:solidFill>
                <a:latin typeface="Arial"/>
                <a:ea typeface="Arial"/>
                <a:cs typeface="Arial"/>
              </a:defRPr>
            </a:pPr>
            <a:r>
              <a:t>Checked the actual schemas, timestamps and available field values rather than assuming the card was exact</a:t>
            </a:r>
          </a:p>
          <a:p xmlns:a="http://schemas.openxmlformats.org/drawingml/2006/main">
            <a:pPr marL="228600" indent="-114300">
              <a:spcAft>
                <a:spcPts val="1800"/>
              </a:spcAft>
              <a:buChar char="•"/>
              <a:defRPr sz="2325" b="0">
                <a:solidFill>
                  <a:srgbClr val="152C3B"/>
                </a:solidFill>
                <a:latin typeface="Arial"/>
                <a:ea typeface="Arial"/>
                <a:cs typeface="Arial"/>
              </a:defRPr>
            </a:pPr>
            <a:r>
              <a:t>The linked parser branch was unavailable and no standalone dataset licence text was found</a:t>
            </a:r>
          </a:p>
          <a:p xmlns:a="http://schemas.openxmlformats.org/drawingml/2006/main">
            <a:pPr marL="228600" indent="-114300">
              <a:spcAft>
                <a:spcPts val="1800"/>
              </a:spcAft>
              <a:buChar char="•"/>
              <a:defRPr sz="2325" b="0">
                <a:solidFill>
                  <a:srgbClr val="152C3B"/>
                </a:solidFill>
                <a:latin typeface="Arial"/>
                <a:ea typeface="Arial"/>
                <a:cs typeface="Arial"/>
              </a:defRPr>
            </a:pPr>
            <a:r>
              <a:t>Recorded the publisher declared MIT licence and provenance limits; kept raw files local</a:t>
            </a:r>
          </a:p>
        </p:txBody>
      </p:sp>
    </p:spTree>
    <p:extLst>
      <p:ext uri="{BB962C8B-B14F-4D97-AF65-F5344CB8AC3E}">
        <p14:creationId xmlns:p14="http://schemas.microsoft.com/office/powerpoint/2010/main" val="11117347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10">
            <a:extLst xmlns:a="http://schemas.openxmlformats.org/drawingml/2006/main">
              <a:ext uri="{FF2B5EF4-FFF2-40B4-BE49-F238E27FC236}">
                <a16:creationId xmlns:a16="http://schemas.microsoft.com/office/drawing/2014/main" id="{B0D28116-65DE-459A-AC3C-7E1236C155E3}"/>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What was one observation, and how did I handle duplicates?</a:t>
            </a:r>
          </a:p>
        </p:txBody>
      </p:sp>
      <p:sp>
        <p:nvSpPr>
          <p:cNvPr id="3" name="Answer bullets">
            <a:extLst xmlns:a="http://schemas.openxmlformats.org/drawingml/2006/main">
              <a:ext uri="{FF2B5EF4-FFF2-40B4-BE49-F238E27FC236}">
                <a16:creationId xmlns:a16="http://schemas.microsoft.com/office/drawing/2014/main" id="{B70095E3-936F-4541-B2FE-0120EBE85F3D}"/>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Metadata: one row per match; the audit found zero duplicate match identifiers</a:t>
            </a:r>
          </a:p>
          <a:p xmlns:a="http://schemas.openxmlformats.org/drawingml/2006/main">
            <a:pPr marL="228600" indent="-114300">
              <a:spcAft>
                <a:spcPts val="1800"/>
              </a:spcAft>
              <a:buChar char="•"/>
              <a:defRPr sz="2325" b="0">
                <a:solidFill>
                  <a:srgbClr val="152C3B"/>
                </a:solidFill>
                <a:latin typeface="Arial"/>
                <a:ea typeface="Arial"/>
                <a:cs typeface="Arial"/>
              </a:defRPr>
            </a:pPr>
            <a:r>
              <a:t>Raw states: many rows per player, match and replay tick</a:t>
            </a:r>
          </a:p>
          <a:p xmlns:a="http://schemas.openxmlformats.org/drawingml/2006/main">
            <a:pPr marL="228600" indent="-114300">
              <a:spcAft>
                <a:spcPts val="1800"/>
              </a:spcAft>
              <a:buChar char="•"/>
              <a:defRPr sz="2325" b="0">
                <a:solidFill>
                  <a:srgbClr val="152C3B"/>
                </a:solidFill>
                <a:latin typeface="Arial"/>
                <a:ea typeface="Arial"/>
                <a:cs typeface="Arial"/>
              </a:defRPr>
            </a:pPr>
            <a:r>
              <a:t>Kept the last eligible state per player or building at each horizon</a:t>
            </a:r>
          </a:p>
          <a:p xmlns:a="http://schemas.openxmlformats.org/drawingml/2006/main">
            <a:pPr marL="228600" indent="-114300">
              <a:spcAft>
                <a:spcPts val="1800"/>
              </a:spcAft>
              <a:buChar char="•"/>
              <a:defRPr sz="2325" b="0">
                <a:solidFill>
                  <a:srgbClr val="152C3B"/>
                </a:solidFill>
                <a:latin typeface="Arial"/>
                <a:ea typeface="Arial"/>
                <a:cs typeface="Arial"/>
              </a:defRPr>
            </a:pPr>
            <a:r>
              <a:t>Asserted unique snapshot keys; unexpected duplicates stopped preparation rather than being silently averaged</a:t>
            </a:r>
          </a:p>
        </p:txBody>
      </p:sp>
    </p:spTree>
    <p:extLst>
      <p:ext uri="{BB962C8B-B14F-4D97-AF65-F5344CB8AC3E}">
        <p14:creationId xmlns:p14="http://schemas.microsoft.com/office/powerpoint/2010/main" val="3901781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11">
            <a:extLst xmlns:a="http://schemas.openxmlformats.org/drawingml/2006/main">
              <a:ext uri="{FF2B5EF4-FFF2-40B4-BE49-F238E27FC236}">
                <a16:creationId xmlns:a16="http://schemas.microsoft.com/office/drawing/2014/main" id="{6F4B330A-F2D9-4D26-A29E-E1C05AF62986}"/>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handle missing and unavailable information?</a:t>
            </a:r>
          </a:p>
        </p:txBody>
      </p:sp>
      <p:sp>
        <p:nvSpPr>
          <p:cNvPr id="3" name="Answer bullets">
            <a:extLst xmlns:a="http://schemas.openxmlformats.org/drawingml/2006/main">
              <a:ext uri="{FF2B5EF4-FFF2-40B4-BE49-F238E27FC236}">
                <a16:creationId xmlns:a16="http://schemas.microsoft.com/office/drawing/2014/main" id="{689AB6A3-6606-4D63-99C3-E25B30E6EEA5}"/>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How: inspected missing counts, blank names and placeholder categories</a:t>
            </a:r>
          </a:p>
          <a:p xmlns:a="http://schemas.openxmlformats.org/drawingml/2006/main">
            <a:pPr marL="228600" indent="-114300">
              <a:spcAft>
                <a:spcPts val="1800"/>
              </a:spcAft>
              <a:buChar char="•"/>
              <a:defRPr sz="2325" b="0">
                <a:solidFill>
                  <a:srgbClr val="152C3B"/>
                </a:solidFill>
                <a:latin typeface="Arial"/>
                <a:ea typeface="Arial"/>
                <a:cs typeface="Arial"/>
              </a:defRPr>
            </a:pPr>
            <a:r>
              <a:t>Excluded incomplete player lineups and unknown team identities</a:t>
            </a:r>
          </a:p>
          <a:p xmlns:a="http://schemas.openxmlformats.org/drawingml/2006/main">
            <a:pPr marL="228600" indent="-114300">
              <a:spcAft>
                <a:spcPts val="1800"/>
              </a:spcAft>
              <a:buChar char="•"/>
              <a:defRPr sz="2325" b="0">
                <a:solidFill>
                  <a:srgbClr val="152C3B"/>
                </a:solidFill>
                <a:latin typeface="Arial"/>
                <a:ea typeface="Arial"/>
                <a:cs typeface="Arial"/>
              </a:defRPr>
            </a:pPr>
            <a:r>
              <a:t>Applied aggregate missingness and finite checks; the missingness filter removed no additional rows</a:t>
            </a:r>
          </a:p>
          <a:p xmlns:a="http://schemas.openxmlformats.org/drawingml/2006/main">
            <a:pPr marL="228600" indent="-114300">
              <a:spcAft>
                <a:spcPts val="1800"/>
              </a:spcAft>
              <a:buChar char="•"/>
              <a:defRPr sz="2325" b="0">
                <a:solidFill>
                  <a:srgbClr val="152C3B"/>
                </a:solidFill>
                <a:latin typeface="Arial"/>
                <a:ea typeface="Arial"/>
                <a:cs typeface="Arial"/>
              </a:defRPr>
            </a:pPr>
            <a:r>
              <a:t>Why: avoid inventing team membership, objective coverage or future values</a:t>
            </a:r>
          </a:p>
          <a:p xmlns:a="http://schemas.openxmlformats.org/drawingml/2006/main">
            <a:pPr marL="228600" indent="-114300">
              <a:spcAft>
                <a:spcPts val="1800"/>
              </a:spcAft>
              <a:buChar char="•"/>
              <a:defRPr sz="2325" b="0">
                <a:solidFill>
                  <a:srgbClr val="152C3B"/>
                </a:solidFill>
                <a:latin typeface="Arial"/>
                <a:ea typeface="Arial"/>
                <a:cs typeface="Arial"/>
              </a:defRPr>
            </a:pPr>
            <a:r>
              <a:t>No statistical outlier trimming or mean imputation was used</a:t>
            </a:r>
          </a:p>
        </p:txBody>
      </p:sp>
    </p:spTree>
    <p:extLst>
      <p:ext uri="{BB962C8B-B14F-4D97-AF65-F5344CB8AC3E}">
        <p14:creationId xmlns:p14="http://schemas.microsoft.com/office/powerpoint/2010/main" val="82487059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12">
            <a:extLst xmlns:a="http://schemas.openxmlformats.org/drawingml/2006/main">
              <a:ext uri="{FF2B5EF4-FFF2-40B4-BE49-F238E27FC236}">
                <a16:creationId xmlns:a16="http://schemas.microsoft.com/office/drawing/2014/main" id="{873801FD-9C9F-46C4-8965-3E15B8D178EE}"/>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What did the additional null audit establish?</a:t>
            </a:r>
          </a:p>
        </p:txBody>
      </p:sp>
      <p:sp>
        <p:nvSpPr>
          <p:cNvPr id="3" name="Answer bullets">
            <a:extLst xmlns:a="http://schemas.openxmlformats.org/drawingml/2006/main">
              <a:ext uri="{FF2B5EF4-FFF2-40B4-BE49-F238E27FC236}">
                <a16:creationId xmlns:a16="http://schemas.microsoft.com/office/drawing/2014/main" id="{7F81490F-703C-4466-B542-C41A494E518B}"/>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Added during this methodology explanation: checked all 939 player state shards</a:t>
            </a:r>
          </a:p>
          <a:p xmlns:a="http://schemas.openxmlformats.org/drawingml/2006/main">
            <a:pPr marL="228600" indent="-114300">
              <a:spcAft>
                <a:spcPts val="1800"/>
              </a:spcAft>
              <a:buChar char="•"/>
              <a:defRPr sz="2325" b="0">
                <a:solidFill>
                  <a:srgbClr val="152C3B"/>
                </a:solidFill>
                <a:latin typeface="Arial"/>
                <a:ea typeface="Arial"/>
                <a:cs typeface="Arial"/>
              </a:defRPr>
            </a:pPr>
            <a:r>
              <a:t>Parquet metadata covered 189,040,980 rows for the nine player statistics</a:t>
            </a:r>
          </a:p>
          <a:p xmlns:a="http://schemas.openxmlformats.org/drawingml/2006/main">
            <a:pPr marL="228600" indent="-114300">
              <a:spcAft>
                <a:spcPts val="1800"/>
              </a:spcAft>
              <a:buChar char="•"/>
              <a:defRPr sz="2325" b="0">
                <a:solidFill>
                  <a:srgbClr val="152C3B"/>
                </a:solidFill>
                <a:latin typeface="Arial"/>
                <a:ea typeface="Arial"/>
                <a:cs typeface="Arial"/>
              </a:defRPr>
            </a:pPr>
            <a:r>
              <a:t>Recorded null counts were zero; no row groups lacked null statistics</a:t>
            </a:r>
          </a:p>
          <a:p xmlns:a="http://schemas.openxmlformats.org/drawingml/2006/main">
            <a:pPr marL="228600" indent="-114300">
              <a:spcAft>
                <a:spcPts val="1800"/>
              </a:spcAft>
              <a:buChar char="•"/>
              <a:defRPr sz="2325" b="0">
                <a:solidFill>
                  <a:srgbClr val="152C3B"/>
                </a:solidFill>
                <a:latin typeface="Arial"/>
                <a:ea typeface="Arial"/>
                <a:cs typeface="Arial"/>
              </a:defRPr>
            </a:pPr>
            <a:r>
              <a:t>This checks recorded nulls, not every invalid number or semantic error; no fitted model changed</a:t>
            </a:r>
          </a:p>
        </p:txBody>
      </p:sp>
    </p:spTree>
    <p:extLst>
      <p:ext uri="{BB962C8B-B14F-4D97-AF65-F5344CB8AC3E}">
        <p14:creationId xmlns:p14="http://schemas.microsoft.com/office/powerpoint/2010/main" val="176519183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13">
            <a:extLst xmlns:a="http://schemas.openxmlformats.org/drawingml/2006/main">
              <a:ext uri="{FF2B5EF4-FFF2-40B4-BE49-F238E27FC236}">
                <a16:creationId xmlns:a16="http://schemas.microsoft.com/office/drawing/2014/main" id="{6FC51244-16E2-481A-88EE-2F75B2CC4DEC}"/>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Why did I correct the replay clock?</a:t>
            </a:r>
          </a:p>
        </p:txBody>
      </p:sp>
      <p:sp>
        <p:nvSpPr>
          <p:cNvPr id="3" name="Answer bullets">
            <a:extLst xmlns:a="http://schemas.openxmlformats.org/drawingml/2006/main">
              <a:ext uri="{FF2B5EF4-FFF2-40B4-BE49-F238E27FC236}">
                <a16:creationId xmlns:a16="http://schemas.microsoft.com/office/drawing/2014/main" id="{1F050E87-431B-4322-99AC-987A56615504}"/>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Did: aligned combat event match times to strictly preceding state ticks</a:t>
            </a:r>
          </a:p>
          <a:p xmlns:a="http://schemas.openxmlformats.org/drawingml/2006/main">
            <a:pPr marL="228600" indent="-114300">
              <a:spcAft>
                <a:spcPts val="1600"/>
              </a:spcAft>
              <a:buChar char="•"/>
              <a:defRPr sz="2100" b="0">
                <a:solidFill>
                  <a:srgbClr val="152C3B"/>
                </a:solidFill>
                <a:latin typeface="Arial"/>
                <a:ea typeface="Arial"/>
                <a:cs typeface="Arial"/>
              </a:defRPr>
            </a:pPr>
            <a:r>
              <a:t>Why: replay elapsed time includes timing differences and pauses</a:t>
            </a:r>
          </a:p>
          <a:p xmlns:a="http://schemas.openxmlformats.org/drawingml/2006/main">
            <a:pPr marL="228600" indent="-114300">
              <a:spcAft>
                <a:spcPts val="1600"/>
              </a:spcAft>
              <a:buChar char="•"/>
              <a:defRPr sz="2100" b="0">
                <a:solidFill>
                  <a:srgbClr val="152C3B"/>
                </a:solidFill>
                <a:latin typeface="Arial"/>
                <a:ea typeface="Arial"/>
                <a:cs typeface="Arial"/>
              </a:defRPr>
            </a:pPr>
            <a:r>
              <a:t>Sampled 95th percentile clock difference: 153.3 seconds</a:t>
            </a:r>
          </a:p>
          <a:p xmlns:a="http://schemas.openxmlformats.org/drawingml/2006/main">
            <a:pPr marL="228600" indent="-114300">
              <a:spcAft>
                <a:spcPts val="1600"/>
              </a:spcAft>
              <a:buChar char="•"/>
              <a:defRPr sz="2100" b="0">
                <a:solidFill>
                  <a:srgbClr val="152C3B"/>
                </a:solidFill>
                <a:latin typeface="Arial"/>
                <a:ea typeface="Arial"/>
                <a:cs typeface="Arial"/>
              </a:defRPr>
            </a:pPr>
            <a:r>
              <a:t>Conservative combined observation timing bound: 2.4 seconds</a:t>
            </a:r>
          </a:p>
        </p:txBody>
      </p:sp>
      <p:graphicFrame>
        <p:nvGraphicFramePr>
          <p:cNvPr id="4" name="Chart">
            <a:extLst xmlns:a="http://schemas.openxmlformats.org/drawingml/2006/main">
              <a:ext uri="{FF2B5EF4-FFF2-40B4-BE49-F238E27FC236}">
                <a16:creationId xmlns:a16="http://schemas.microsoft.com/office/drawing/2014/main" id="{5F9420B4-59EE-4FF1-9583-9B2AB3F2A4B0}"/>
              </a:ext>
            </a:extLst>
          </p:cNvPr>
          <p:cNvGraphicFramePr/>
          <p:nvPr/>
        </p:nvGraphicFramePr>
        <p:xfrm>
          <a:off xmlns:a="http://schemas.openxmlformats.org/drawingml/2006/main" x="552450" y="1714500"/>
          <a:ext xmlns:a="http://schemas.openxmlformats.org/drawingml/2006/main" cx="6858000" cy="4286250"/>
        </p:xfrm>
        <a:graphic xmlns:a="http://schemas.openxmlformats.org/drawingml/2006/main">
          <a:graphicData uri="http://schemas.openxmlformats.org/drawingml/2006/chart">
            <c:chart xmlns:r="http://schemas.openxmlformats.org/officeDocument/2006/relationships" xmlns:c="http://schemas.openxmlformats.org/drawingml/2006/chart" r:id="Rabee4e16f4c14cae"/>
          </a:graphicData>
        </a:graphic>
      </p:graphicFrame>
    </p:spTree>
    <p:extLst>
      <p:ext uri="{BB962C8B-B14F-4D97-AF65-F5344CB8AC3E}">
        <p14:creationId xmlns:p14="http://schemas.microsoft.com/office/powerpoint/2010/main" val="89558626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14">
            <a:extLst xmlns:a="http://schemas.openxmlformats.org/drawingml/2006/main">
              <a:ext uri="{FF2B5EF4-FFF2-40B4-BE49-F238E27FC236}">
                <a16:creationId xmlns:a16="http://schemas.microsoft.com/office/drawing/2014/main" id="{3395C8ED-609F-4B1F-9E4A-D0C2118F7F33}"/>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Exactly which state did I select at a prediction time?</a:t>
            </a:r>
          </a:p>
        </p:txBody>
      </p:sp>
      <p:sp>
        <p:nvSpPr>
          <p:cNvPr id="3" name="Answer bullets">
            <a:extLst xmlns:a="http://schemas.openxmlformats.org/drawingml/2006/main">
              <a:ext uri="{FF2B5EF4-FFF2-40B4-BE49-F238E27FC236}">
                <a16:creationId xmlns:a16="http://schemas.microsoft.com/office/drawing/2014/main" id="{6275F0FC-5CEA-44AD-BAAE-A6B8799C0B40}"/>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How: selected a combat event anchor no later than the requested match time</a:t>
            </a:r>
          </a:p>
          <a:p xmlns:a="http://schemas.openxmlformats.org/drawingml/2006/main">
            <a:pPr marL="228600" indent="-114300">
              <a:spcAft>
                <a:spcPts val="1800"/>
              </a:spcAft>
              <a:buChar char="•"/>
              <a:defRPr sz="2325" b="0">
                <a:solidFill>
                  <a:srgbClr val="152C3B"/>
                </a:solidFill>
                <a:latin typeface="Arial"/>
                <a:ea typeface="Arial"/>
                <a:cs typeface="Arial"/>
              </a:defRPr>
            </a:pPr>
            <a:r>
              <a:t>The anchor had to be within 1.2 seconds of that horizon</a:t>
            </a:r>
          </a:p>
          <a:p xmlns:a="http://schemas.openxmlformats.org/drawingml/2006/main">
            <a:pPr marL="228600" indent="-114300">
              <a:spcAft>
                <a:spcPts val="1800"/>
              </a:spcAft>
              <a:buChar char="•"/>
              <a:defRPr sz="2325" b="0">
                <a:solidFill>
                  <a:srgbClr val="152C3B"/>
                </a:solidFill>
                <a:latin typeface="Arial"/>
                <a:ea typeface="Arial"/>
                <a:cs typeface="Arial"/>
              </a:defRPr>
            </a:pPr>
            <a:r>
              <a:t>Used the last player or building state strictly before the anchor, within 36 replay ticks</a:t>
            </a:r>
          </a:p>
          <a:p xmlns:a="http://schemas.openxmlformats.org/drawingml/2006/main">
            <a:pPr marL="228600" indent="-114300">
              <a:spcAft>
                <a:spcPts val="1800"/>
              </a:spcAft>
              <a:buChar char="•"/>
              <a:defRPr sz="2325" b="0">
                <a:solidFill>
                  <a:srgbClr val="152C3B"/>
                </a:solidFill>
                <a:latin typeface="Arial"/>
                <a:ea typeface="Arial"/>
                <a:cs typeface="Arial"/>
              </a:defRPr>
            </a:pPr>
            <a:r>
              <a:t>Why: avoid future information; the combined conservative timing bound was 2.4 seconds</a:t>
            </a:r>
          </a:p>
        </p:txBody>
      </p:sp>
    </p:spTree>
    <p:extLst>
      <p:ext uri="{BB962C8B-B14F-4D97-AF65-F5344CB8AC3E}">
        <p14:creationId xmlns:p14="http://schemas.microsoft.com/office/powerpoint/2010/main" val="19449808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15">
            <a:extLst xmlns:a="http://schemas.openxmlformats.org/drawingml/2006/main">
              <a:ext uri="{FF2B5EF4-FFF2-40B4-BE49-F238E27FC236}">
                <a16:creationId xmlns:a16="http://schemas.microsoft.com/office/drawing/2014/main" id="{16B63650-1F67-4001-BCC6-3DDC2D0BC8E7}"/>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Why did I remap players to teams?</a:t>
            </a:r>
          </a:p>
        </p:txBody>
      </p:sp>
      <p:sp>
        <p:nvSpPr>
          <p:cNvPr id="3" name="Answer bullets">
            <a:extLst xmlns:a="http://schemas.openxmlformats.org/drawingml/2006/main">
              <a:ext uri="{FF2B5EF4-FFF2-40B4-BE49-F238E27FC236}">
                <a16:creationId xmlns:a16="http://schemas.microsoft.com/office/drawing/2014/main" id="{0FB6C58E-7A52-472C-BE1F-B42C3B4658AD}"/>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Did: matched heroes to drafts; required five players per side</a:t>
            </a:r>
          </a:p>
          <a:p xmlns:a="http://schemas.openxmlformats.org/drawingml/2006/main">
            <a:pPr marL="228600" indent="-114300">
              <a:spcAft>
                <a:spcPts val="1600"/>
              </a:spcAft>
              <a:buChar char="•"/>
              <a:defRPr sz="2100" b="0">
                <a:solidFill>
                  <a:srgbClr val="152C3B"/>
                </a:solidFill>
                <a:latin typeface="Arial"/>
                <a:ea typeface="Arial"/>
                <a:cs typeface="Arial"/>
              </a:defRPr>
            </a:pPr>
            <a:r>
              <a:t>Why: slot order did not reliably identify the team</a:t>
            </a:r>
          </a:p>
          <a:p xmlns:a="http://schemas.openxmlformats.org/drawingml/2006/main">
            <a:pPr marL="228600" indent="-114300">
              <a:spcAft>
                <a:spcPts val="1600"/>
              </a:spcAft>
              <a:buChar char="•"/>
              <a:defRPr sz="2100" b="0">
                <a:solidFill>
                  <a:srgbClr val="152C3B"/>
                </a:solidFill>
                <a:latin typeface="Arial"/>
                <a:ea typeface="Arial"/>
                <a:cs typeface="Arial"/>
              </a:defRPr>
            </a:pPr>
            <a:r>
              <a:t>Draft checks: 9,071 agreed; 314 were unavailable</a:t>
            </a:r>
          </a:p>
          <a:p xmlns:a="http://schemas.openxmlformats.org/drawingml/2006/main">
            <a:pPr marL="228600" indent="-114300">
              <a:spcAft>
                <a:spcPts val="1600"/>
              </a:spcAft>
              <a:buChar char="•"/>
              <a:defRPr sz="2100" b="0">
                <a:solidFill>
                  <a:srgbClr val="152C3B"/>
                </a:solidFill>
                <a:latin typeface="Arial"/>
                <a:ea typeface="Arial"/>
                <a:cs typeface="Arial"/>
              </a:defRPr>
            </a:pPr>
            <a:r>
              <a:t>Agreement tests internal consistency, not external ground truth</a:t>
            </a:r>
          </a:p>
        </p:txBody>
      </p:sp>
      <p:graphicFrame>
        <p:nvGraphicFramePr>
          <p:cNvPr id="4" name="Chart">
            <a:extLst xmlns:a="http://schemas.openxmlformats.org/drawingml/2006/main">
              <a:ext uri="{FF2B5EF4-FFF2-40B4-BE49-F238E27FC236}">
                <a16:creationId xmlns:a16="http://schemas.microsoft.com/office/drawing/2014/main" id="{A451EF95-B436-4BCF-BFEC-6C8F0DEB7B3C}"/>
              </a:ext>
            </a:extLst>
          </p:cNvPr>
          <p:cNvGraphicFramePr/>
          <p:nvPr/>
        </p:nvGraphicFramePr>
        <p:xfrm>
          <a:off xmlns:a="http://schemas.openxmlformats.org/drawingml/2006/main" x="552450" y="1714500"/>
          <a:ext xmlns:a="http://schemas.openxmlformats.org/drawingml/2006/main" cx="6858000" cy="4286250"/>
        </p:xfrm>
        <a:graphic xmlns:a="http://schemas.openxmlformats.org/drawingml/2006/main">
          <a:graphicData uri="http://schemas.openxmlformats.org/drawingml/2006/chart">
            <c:chart xmlns:r="http://schemas.openxmlformats.org/officeDocument/2006/relationships" xmlns:c="http://schemas.openxmlformats.org/drawingml/2006/chart" r:id="R75ab42248e0d48e7"/>
          </a:graphicData>
        </a:graphic>
      </p:graphicFrame>
    </p:spTree>
    <p:extLst>
      <p:ext uri="{BB962C8B-B14F-4D97-AF65-F5344CB8AC3E}">
        <p14:creationId xmlns:p14="http://schemas.microsoft.com/office/powerpoint/2010/main" val="205939467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16">
            <a:extLst xmlns:a="http://schemas.openxmlformats.org/drawingml/2006/main">
              <a:ext uri="{FF2B5EF4-FFF2-40B4-BE49-F238E27FC236}">
                <a16:creationId xmlns:a16="http://schemas.microsoft.com/office/drawing/2014/main" id="{08CE475D-DDEC-439C-A33C-BCD619E1BF88}"/>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turn hero names into verified team labels?</a:t>
            </a:r>
          </a:p>
        </p:txBody>
      </p:sp>
      <p:sp>
        <p:nvSpPr>
          <p:cNvPr id="3" name="Answer bullets">
            <a:extLst xmlns:a="http://schemas.openxmlformats.org/drawingml/2006/main">
              <a:ext uri="{FF2B5EF4-FFF2-40B4-BE49-F238E27FC236}">
                <a16:creationId xmlns:a16="http://schemas.microsoft.com/office/drawing/2014/main" id="{4FB52827-9B79-4E9A-B411-27D9ED00ECCC}"/>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How: normalised internal and display names and joined a pinned OpenDota dictionary</a:t>
            </a:r>
          </a:p>
          <a:p xmlns:a="http://schemas.openxmlformats.org/drawingml/2006/main">
            <a:pPr marL="228600" indent="-114300">
              <a:spcAft>
                <a:spcPts val="1800"/>
              </a:spcAft>
              <a:buChar char="•"/>
              <a:defRPr sz="2325" b="0">
                <a:solidFill>
                  <a:srgbClr val="152C3B"/>
                </a:solidFill>
                <a:latin typeface="Arial"/>
                <a:ea typeface="Arial"/>
                <a:cs typeface="Arial"/>
              </a:defRPr>
            </a:pPr>
            <a:r>
              <a:t>Mapped each known hero to its side in the match metadata draft</a:t>
            </a:r>
          </a:p>
          <a:p xmlns:a="http://schemas.openxmlformats.org/drawingml/2006/main">
            <a:pPr marL="228600" indent="-114300">
              <a:spcAft>
                <a:spcPts val="1800"/>
              </a:spcAft>
              <a:buChar char="•"/>
              <a:defRPr sz="2325" b="0">
                <a:solidFill>
                  <a:srgbClr val="152C3B"/>
                </a:solidFill>
                <a:latin typeface="Arial"/>
                <a:ea typeface="Arial"/>
                <a:cs typeface="Arial"/>
              </a:defRPr>
            </a:pPr>
            <a:r>
              <a:t>Required ten distinct identified heroes and five players per team</a:t>
            </a:r>
          </a:p>
          <a:p xmlns:a="http://schemas.openxmlformats.org/drawingml/2006/main">
            <a:pPr marL="228600" indent="-114300">
              <a:spcAft>
                <a:spcPts val="1800"/>
              </a:spcAft>
              <a:buChar char="•"/>
              <a:defRPr sz="2325" b="0">
                <a:solidFill>
                  <a:srgbClr val="152C3B"/>
                </a:solidFill>
                <a:latin typeface="Arial"/>
                <a:ea typeface="Arial"/>
                <a:cs typeface="Arial"/>
              </a:defRPr>
            </a:pPr>
            <a:r>
              <a:t>Why: correct the unreliable slot assumption; unresolved identities were excluded</a:t>
            </a:r>
          </a:p>
        </p:txBody>
      </p:sp>
    </p:spTree>
    <p:extLst>
      <p:ext uri="{BB962C8B-B14F-4D97-AF65-F5344CB8AC3E}">
        <p14:creationId xmlns:p14="http://schemas.microsoft.com/office/powerpoint/2010/main" val="109389710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17">
            <a:extLst xmlns:a="http://schemas.openxmlformats.org/drawingml/2006/main">
              <a:ext uri="{FF2B5EF4-FFF2-40B4-BE49-F238E27FC236}">
                <a16:creationId xmlns:a16="http://schemas.microsoft.com/office/drawing/2014/main" id="{FFF5474F-4919-4AF6-AE7B-BC4899F86E40}"/>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construct the prediction inputs?</a:t>
            </a:r>
          </a:p>
        </p:txBody>
      </p:sp>
      <p:sp>
        <p:nvSpPr>
          <p:cNvPr id="3" name="Answer bullets">
            <a:extLst xmlns:a="http://schemas.openxmlformats.org/drawingml/2006/main">
              <a:ext uri="{FF2B5EF4-FFF2-40B4-BE49-F238E27FC236}">
                <a16:creationId xmlns:a16="http://schemas.microsoft.com/office/drawing/2014/main" id="{6A9EBF9D-FE39-48A7-AEC6-15706BFC7E75}"/>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Did: used Radiant minus Dire totals at fixed observation times</a:t>
            </a:r>
          </a:p>
          <a:p xmlns:a="http://schemas.openxmlformats.org/drawingml/2006/main">
            <a:pPr marL="228600" indent="-114300">
              <a:spcAft>
                <a:spcPts val="1800"/>
              </a:spcAft>
              <a:buChar char="•"/>
              <a:defRPr sz="2325" b="0">
                <a:solidFill>
                  <a:srgbClr val="152C3B"/>
                </a:solidFill>
                <a:latin typeface="Arial"/>
                <a:ea typeface="Arial"/>
                <a:cs typeface="Arial"/>
              </a:defRPr>
            </a:pPr>
            <a:r>
              <a:t>Economy and progression: net worth, experience and level</a:t>
            </a:r>
          </a:p>
          <a:p xmlns:a="http://schemas.openxmlformats.org/drawingml/2006/main">
            <a:pPr marL="228600" indent="-114300">
              <a:spcAft>
                <a:spcPts val="1800"/>
              </a:spcAft>
              <a:buChar char="•"/>
              <a:defRPr sz="2325" b="0">
                <a:solidFill>
                  <a:srgbClr val="152C3B"/>
                </a:solidFill>
                <a:latin typeface="Arial"/>
                <a:ea typeface="Arial"/>
                <a:cs typeface="Arial"/>
              </a:defRPr>
            </a:pPr>
            <a:r>
              <a:t>Combat and farming: kills, assists, last hits and denies</a:t>
            </a:r>
          </a:p>
          <a:p xmlns:a="http://schemas.openxmlformats.org/drawingml/2006/main">
            <a:pPr marL="228600" indent="-114300">
              <a:spcAft>
                <a:spcPts val="1800"/>
              </a:spcAft>
              <a:buChar char="•"/>
              <a:defRPr sz="2325" b="0">
                <a:solidFill>
                  <a:srgbClr val="152C3B"/>
                </a:solidFill>
                <a:latin typeface="Arial"/>
                <a:ea typeface="Arial"/>
                <a:cs typeface="Arial"/>
              </a:defRPr>
            </a:pPr>
            <a:r>
              <a:t>Current survival and objectives: health, alive players and alive towers</a:t>
            </a:r>
          </a:p>
          <a:p xmlns:a="http://schemas.openxmlformats.org/drawingml/2006/main">
            <a:pPr marL="228600" indent="-114300">
              <a:spcAft>
                <a:spcPts val="1800"/>
              </a:spcAft>
              <a:buChar char="•"/>
              <a:defRPr sz="2325" b="0">
                <a:solidFill>
                  <a:srgbClr val="152C3B"/>
                </a:solidFill>
                <a:latin typeface="Arial"/>
                <a:ea typeface="Arial"/>
                <a:cs typeface="Arial"/>
              </a:defRPr>
            </a:pPr>
            <a:r>
              <a:t>Used all ten features together; final statistics and identifiers were excluded</a:t>
            </a:r>
          </a:p>
        </p:txBody>
      </p:sp>
    </p:spTree>
    <p:extLst>
      <p:ext uri="{BB962C8B-B14F-4D97-AF65-F5344CB8AC3E}">
        <p14:creationId xmlns:p14="http://schemas.microsoft.com/office/powerpoint/2010/main" val="40012732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18">
            <a:extLst xmlns:a="http://schemas.openxmlformats.org/drawingml/2006/main">
              <a:ext uri="{FF2B5EF4-FFF2-40B4-BE49-F238E27FC236}">
                <a16:creationId xmlns:a16="http://schemas.microsoft.com/office/drawing/2014/main" id="{1704B668-02DC-4259-BB7B-F2A7C6BB915B}"/>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player statistics become a team feature vector?</a:t>
            </a:r>
          </a:p>
        </p:txBody>
      </p:sp>
      <p:sp>
        <p:nvSpPr>
          <p:cNvPr id="3" name="Answer bullets">
            <a:extLst xmlns:a="http://schemas.openxmlformats.org/drawingml/2006/main">
              <a:ext uri="{FF2B5EF4-FFF2-40B4-BE49-F238E27FC236}">
                <a16:creationId xmlns:a16="http://schemas.microsoft.com/office/drawing/2014/main" id="{8A2536DD-9778-4986-8FA9-FC3181E220AB}"/>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How: summed each observed statistic within each team at the same horizon</a:t>
            </a:r>
          </a:p>
          <a:p xmlns:a="http://schemas.openxmlformats.org/drawingml/2006/main">
            <a:pPr marL="228600" indent="-114300">
              <a:spcAft>
                <a:spcPts val="1800"/>
              </a:spcAft>
              <a:buChar char="•"/>
              <a:defRPr sz="2325" b="0">
                <a:solidFill>
                  <a:srgbClr val="152C3B"/>
                </a:solidFill>
                <a:latin typeface="Arial"/>
                <a:ea typeface="Arial"/>
                <a:cs typeface="Arial"/>
              </a:defRPr>
            </a:pPr>
            <a:r>
              <a:t>Subtracted Dire totals from Radiant totals; positive means more for Radiant</a:t>
            </a:r>
          </a:p>
          <a:p xmlns:a="http://schemas.openxmlformats.org/drawingml/2006/main">
            <a:pPr marL="228600" indent="-114300">
              <a:spcAft>
                <a:spcPts val="1800"/>
              </a:spcAft>
              <a:buChar char="•"/>
              <a:defRPr sz="2325" b="0">
                <a:solidFill>
                  <a:srgbClr val="152C3B"/>
                </a:solidFill>
                <a:latin typeface="Arial"/>
                <a:ea typeface="Arial"/>
                <a:cs typeface="Arial"/>
              </a:defRPr>
            </a:pPr>
            <a:r>
              <a:t>Counted living towers separately; unavailable barracks were omitted rather than filled with zeros</a:t>
            </a:r>
          </a:p>
          <a:p xmlns:a="http://schemas.openxmlformats.org/drawingml/2006/main">
            <a:pPr marL="228600" indent="-114300">
              <a:spcAft>
                <a:spcPts val="1800"/>
              </a:spcAft>
              <a:buChar char="•"/>
              <a:defRPr sz="2325" b="0">
                <a:solidFill>
                  <a:srgbClr val="152C3B"/>
                </a:solidFill>
                <a:latin typeface="Arial"/>
                <a:ea typeface="Arial"/>
                <a:cs typeface="Arial"/>
              </a:defRPr>
            </a:pPr>
            <a:r>
              <a:t>Why: represent the current team advantage without using final scores or identities</a:t>
            </a:r>
          </a:p>
        </p:txBody>
      </p:sp>
    </p:spTree>
    <p:extLst>
      <p:ext uri="{BB962C8B-B14F-4D97-AF65-F5344CB8AC3E}">
        <p14:creationId xmlns:p14="http://schemas.microsoft.com/office/powerpoint/2010/main" val="192383904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19">
            <a:extLst xmlns:a="http://schemas.openxmlformats.org/drawingml/2006/main">
              <a:ext uri="{FF2B5EF4-FFF2-40B4-BE49-F238E27FC236}">
                <a16:creationId xmlns:a16="http://schemas.microsoft.com/office/drawing/2014/main" id="{A7CDCEA1-5A1C-4FDE-8B9B-B15771CB6CBB}"/>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track which snapshots remained eligible?</a:t>
            </a:r>
          </a:p>
        </p:txBody>
      </p:sp>
      <p:sp>
        <p:nvSpPr>
          <p:cNvPr id="3" name="Answer bullets">
            <a:extLst xmlns:a="http://schemas.openxmlformats.org/drawingml/2006/main">
              <a:ext uri="{FF2B5EF4-FFF2-40B4-BE49-F238E27FC236}">
                <a16:creationId xmlns:a16="http://schemas.microsoft.com/office/drawing/2014/main" id="{5051DBD9-0D51-4D13-9EA2-572A2FC20B04}"/>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Counted match and time groups after each filtering stage</a:t>
            </a:r>
          </a:p>
          <a:p xmlns:a="http://schemas.openxmlformats.org/drawingml/2006/main">
            <a:pPr marL="228600" indent="-114300">
              <a:spcAft>
                <a:spcPts val="1600"/>
              </a:spcAft>
              <a:buChar char="•"/>
              <a:defRPr sz="2100" b="0">
                <a:solidFill>
                  <a:srgbClr val="152C3B"/>
                </a:solidFill>
                <a:latin typeface="Arial"/>
                <a:ea typeface="Arial"/>
                <a:cs typeface="Arial"/>
              </a:defRPr>
            </a:pPr>
            <a:r>
              <a:t>Required known teams, active games and finite features</a:t>
            </a:r>
          </a:p>
          <a:p xmlns:a="http://schemas.openxmlformats.org/drawingml/2006/main">
            <a:pPr marL="228600" indent="-114300">
              <a:spcAft>
                <a:spcPts val="1600"/>
              </a:spcAft>
              <a:buChar char="•"/>
              <a:defRPr sz="2100" b="0">
                <a:solidFill>
                  <a:srgbClr val="152C3B"/>
                </a:solidFill>
                <a:latin typeface="Arial"/>
                <a:ea typeface="Arial"/>
                <a:cs typeface="Arial"/>
              </a:defRPr>
            </a:pPr>
            <a:r>
              <a:t>21,040 rows span three times; they are not independent games</a:t>
            </a:r>
          </a:p>
          <a:p xmlns:a="http://schemas.openxmlformats.org/drawingml/2006/main">
            <a:pPr marL="228600" indent="-114300">
              <a:spcAft>
                <a:spcPts val="1600"/>
              </a:spcAft>
              <a:buChar char="•"/>
              <a:defRPr sz="2100" b="0">
                <a:solidFill>
                  <a:srgbClr val="152C3B"/>
                </a:solidFill>
                <a:latin typeface="Arial"/>
                <a:ea typeface="Arial"/>
                <a:cs typeface="Arial"/>
              </a:defRPr>
            </a:pPr>
            <a:r>
              <a:t>Why: keep the changing study population visible</a:t>
            </a:r>
          </a:p>
        </p:txBody>
      </p:sp>
      <p:graphicFrame>
        <p:nvGraphicFramePr>
          <p:cNvPr id="4" name="Chart">
            <a:extLst xmlns:a="http://schemas.openxmlformats.org/drawingml/2006/main">
              <a:ext uri="{FF2B5EF4-FFF2-40B4-BE49-F238E27FC236}">
                <a16:creationId xmlns:a16="http://schemas.microsoft.com/office/drawing/2014/main" id="{3376D4FC-A12A-4072-9361-F4FAC48D3907}"/>
              </a:ext>
            </a:extLst>
          </p:cNvPr>
          <p:cNvGraphicFramePr/>
          <p:nvPr/>
        </p:nvGraphicFramePr>
        <p:xfrm>
          <a:off xmlns:a="http://schemas.openxmlformats.org/drawingml/2006/main" x="552450" y="1714500"/>
          <a:ext xmlns:a="http://schemas.openxmlformats.org/drawingml/2006/main" cx="6858000" cy="4286250"/>
        </p:xfrm>
        <a:graphic xmlns:a="http://schemas.openxmlformats.org/drawingml/2006/main">
          <a:graphicData uri="http://schemas.openxmlformats.org/drawingml/2006/chart">
            <c:chart xmlns:r="http://schemas.openxmlformats.org/officeDocument/2006/relationships" xmlns:c="http://schemas.openxmlformats.org/drawingml/2006/chart" r:id="Re7194acb95c2414c"/>
          </a:graphicData>
        </a:graphic>
      </p:graphicFrame>
    </p:spTree>
    <p:extLst>
      <p:ext uri="{BB962C8B-B14F-4D97-AF65-F5344CB8AC3E}">
        <p14:creationId xmlns:p14="http://schemas.microsoft.com/office/powerpoint/2010/main" val="5840404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20">
            <a:extLst xmlns:a="http://schemas.openxmlformats.org/drawingml/2006/main">
              <a:ext uri="{FF2B5EF4-FFF2-40B4-BE49-F238E27FC236}">
                <a16:creationId xmlns:a16="http://schemas.microsoft.com/office/drawing/2014/main" id="{3034BDAB-969A-4198-BEAF-389C935D485B}"/>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prevent match leakage?</a:t>
            </a:r>
          </a:p>
        </p:txBody>
      </p:sp>
      <p:sp>
        <p:nvSpPr>
          <p:cNvPr id="3" name="Answer bullets">
            <a:extLst xmlns:a="http://schemas.openxmlformats.org/drawingml/2006/main">
              <a:ext uri="{FF2B5EF4-FFF2-40B4-BE49-F238E27FC236}">
                <a16:creationId xmlns:a16="http://schemas.microsoft.com/office/drawing/2014/main" id="{B871D9BE-D22A-4A24-B6AD-D23F6FD6135E}"/>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Did: kept every observation from a match in one chronological partition</a:t>
            </a:r>
          </a:p>
          <a:p xmlns:a="http://schemas.openxmlformats.org/drawingml/2006/main">
            <a:pPr marL="228600" indent="-114300">
              <a:spcAft>
                <a:spcPts val="1600"/>
              </a:spcAft>
              <a:buChar char="•"/>
              <a:defRPr sz="2100" b="0">
                <a:solidFill>
                  <a:srgbClr val="152C3B"/>
                </a:solidFill>
                <a:latin typeface="Arial"/>
                <a:ea typeface="Arial"/>
                <a:cs typeface="Arial"/>
              </a:defRPr>
            </a:pPr>
            <a:r>
              <a:t>Why: related observations must not appear in both training and evaluation</a:t>
            </a:r>
          </a:p>
          <a:p xmlns:a="http://schemas.openxmlformats.org/drawingml/2006/main">
            <a:pPr marL="228600" indent="-114300">
              <a:spcAft>
                <a:spcPts val="1600"/>
              </a:spcAft>
              <a:buChar char="•"/>
              <a:defRPr sz="2100" b="0">
                <a:solidFill>
                  <a:srgbClr val="152C3B"/>
                </a:solidFill>
                <a:latin typeface="Arial"/>
                <a:ea typeface="Arial"/>
                <a:cs typeface="Arial"/>
              </a:defRPr>
            </a:pPr>
            <a:r>
              <a:t>Separated training, validation, calibration and final test periods</a:t>
            </a:r>
          </a:p>
          <a:p xmlns:a="http://schemas.openxmlformats.org/drawingml/2006/main">
            <a:pPr marL="228600" indent="-114300">
              <a:spcAft>
                <a:spcPts val="1600"/>
              </a:spcAft>
              <a:buChar char="•"/>
              <a:defRPr sz="2100" b="0">
                <a:solidFill>
                  <a:srgbClr val="152C3B"/>
                </a:solidFill>
                <a:latin typeface="Arial"/>
                <a:ea typeface="Arial"/>
                <a:cs typeface="Arial"/>
              </a:defRPr>
            </a:pPr>
            <a:r>
              <a:t>Whole UTC dates stayed together; teams could still recur across dates</a:t>
            </a:r>
          </a:p>
        </p:txBody>
      </p:sp>
      <p:graphicFrame>
        <p:nvGraphicFramePr>
          <p:cNvPr id="4" name="Chart">
            <a:extLst xmlns:a="http://schemas.openxmlformats.org/drawingml/2006/main">
              <a:ext uri="{FF2B5EF4-FFF2-40B4-BE49-F238E27FC236}">
                <a16:creationId xmlns:a16="http://schemas.microsoft.com/office/drawing/2014/main" id="{808EDEAA-71FA-4C61-B0AB-9E41CD769A06}"/>
              </a:ext>
            </a:extLst>
          </p:cNvPr>
          <p:cNvGraphicFramePr/>
          <p:nvPr/>
        </p:nvGraphicFramePr>
        <p:xfrm>
          <a:off xmlns:a="http://schemas.openxmlformats.org/drawingml/2006/main" x="552450" y="1714500"/>
          <a:ext xmlns:a="http://schemas.openxmlformats.org/drawingml/2006/main" cx="6858000" cy="4286250"/>
        </p:xfrm>
        <a:graphic xmlns:a="http://schemas.openxmlformats.org/drawingml/2006/main">
          <a:graphicData uri="http://schemas.openxmlformats.org/drawingml/2006/chart">
            <c:chart xmlns:r="http://schemas.openxmlformats.org/officeDocument/2006/relationships" xmlns:c="http://schemas.openxmlformats.org/drawingml/2006/chart" r:id="Rb381fda918984ec8"/>
          </a:graphicData>
        </a:graphic>
      </p:graphicFrame>
    </p:spTree>
    <p:extLst>
      <p:ext uri="{BB962C8B-B14F-4D97-AF65-F5344CB8AC3E}">
        <p14:creationId xmlns:p14="http://schemas.microsoft.com/office/powerpoint/2010/main" val="107597014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21">
            <a:extLst xmlns:a="http://schemas.openxmlformats.org/drawingml/2006/main">
              <a:ext uri="{FF2B5EF4-FFF2-40B4-BE49-F238E27FC236}">
                <a16:creationId xmlns:a16="http://schemas.microsoft.com/office/drawing/2014/main" id="{C50E2B44-2B81-4841-8E0F-FA3417BC43E5}"/>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standardise inputs without leaking information?</a:t>
            </a:r>
          </a:p>
        </p:txBody>
      </p:sp>
      <p:sp>
        <p:nvSpPr>
          <p:cNvPr id="3" name="Answer bullets">
            <a:extLst xmlns:a="http://schemas.openxmlformats.org/drawingml/2006/main">
              <a:ext uri="{FF2B5EF4-FFF2-40B4-BE49-F238E27FC236}">
                <a16:creationId xmlns:a16="http://schemas.microsoft.com/office/drawing/2014/main" id="{CD566090-9868-4427-8965-D38744BCE3F4}"/>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How: estimated each feature mean and standard deviation from training matches only</a:t>
            </a:r>
          </a:p>
          <a:p xmlns:a="http://schemas.openxmlformats.org/drawingml/2006/main">
            <a:pPr marL="228600" indent="-114300">
              <a:spcAft>
                <a:spcPts val="1800"/>
              </a:spcAft>
              <a:buChar char="•"/>
              <a:defRPr sz="2325" b="0">
                <a:solidFill>
                  <a:srgbClr val="152C3B"/>
                </a:solidFill>
                <a:latin typeface="Arial"/>
                <a:ea typeface="Arial"/>
                <a:cs typeface="Arial"/>
              </a:defRPr>
            </a:pPr>
            <a:r>
              <a:t>Transformed a feature by subtracting that training mean and dividing by that training standard deviation</a:t>
            </a:r>
          </a:p>
          <a:p xmlns:a="http://schemas.openxmlformats.org/drawingml/2006/main">
            <a:pPr marL="228600" indent="-114300">
              <a:spcAft>
                <a:spcPts val="1800"/>
              </a:spcAft>
              <a:buChar char="•"/>
              <a:defRPr sz="2325" b="0">
                <a:solidFill>
                  <a:srgbClr val="152C3B"/>
                </a:solidFill>
                <a:latin typeface="Arial"/>
                <a:ea typeface="Arial"/>
                <a:cs typeface="Arial"/>
              </a:defRPr>
            </a:pPr>
            <a:r>
              <a:t>Reused the same transform for validation, calibration and final prediction</a:t>
            </a:r>
          </a:p>
          <a:p xmlns:a="http://schemas.openxmlformats.org/drawingml/2006/main">
            <a:pPr marL="228600" indent="-114300">
              <a:spcAft>
                <a:spcPts val="1800"/>
              </a:spcAft>
              <a:buChar char="•"/>
              <a:defRPr sz="2325" b="0">
                <a:solidFill>
                  <a:srgbClr val="152C3B"/>
                </a:solidFill>
                <a:latin typeface="Arial"/>
                <a:ea typeface="Arial"/>
                <a:cs typeface="Arial"/>
              </a:defRPr>
            </a:pPr>
            <a:r>
              <a:t>Why: help linear and neural optimisation; tree models did not need this scaling</a:t>
            </a:r>
          </a:p>
        </p:txBody>
      </p:sp>
    </p:spTree>
    <p:extLst>
      <p:ext uri="{BB962C8B-B14F-4D97-AF65-F5344CB8AC3E}">
        <p14:creationId xmlns:p14="http://schemas.microsoft.com/office/powerpoint/2010/main" val="41605291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22">
            <a:extLst xmlns:a="http://schemas.openxmlformats.org/drawingml/2006/main">
              <a:ext uri="{FF2B5EF4-FFF2-40B4-BE49-F238E27FC236}">
                <a16:creationId xmlns:a16="http://schemas.microsoft.com/office/drawing/2014/main" id="{97CA9213-DD16-4709-92A3-AC87DC775F3D}"/>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use the RTX 3090?</a:t>
            </a:r>
          </a:p>
        </p:txBody>
      </p:sp>
      <p:sp>
        <p:nvSpPr>
          <p:cNvPr id="3" name="Answer bullets">
            <a:extLst xmlns:a="http://schemas.openxmlformats.org/drawingml/2006/main">
              <a:ext uri="{FF2B5EF4-FFF2-40B4-BE49-F238E27FC236}">
                <a16:creationId xmlns:a16="http://schemas.microsoft.com/office/drawing/2014/main" id="{835C5022-917E-44C9-BF15-82EBE78668C2}"/>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Did: verified CUDA computation and the fitted model devices</a:t>
            </a:r>
          </a:p>
          <a:p xmlns:a="http://schemas.openxmlformats.org/drawingml/2006/main">
            <a:pPr marL="228600" indent="-114300">
              <a:spcAft>
                <a:spcPts val="1800"/>
              </a:spcAft>
              <a:buChar char="•"/>
              <a:defRPr sz="2325" b="0">
                <a:solidFill>
                  <a:srgbClr val="152C3B"/>
                </a:solidFill>
                <a:latin typeface="Arial"/>
                <a:ea typeface="Arial"/>
                <a:cs typeface="Arial"/>
              </a:defRPr>
            </a:pPr>
            <a:r>
              <a:t>Neural training and XGBoost used the RTX 3090</a:t>
            </a:r>
          </a:p>
          <a:p xmlns:a="http://schemas.openxmlformats.org/drawingml/2006/main">
            <a:pPr marL="228600" indent="-114300">
              <a:spcAft>
                <a:spcPts val="1800"/>
              </a:spcAft>
              <a:buChar char="•"/>
              <a:defRPr sz="2325" b="0">
                <a:solidFill>
                  <a:srgbClr val="152C3B"/>
                </a:solidFill>
                <a:latin typeface="Arial"/>
                <a:ea typeface="Arial"/>
                <a:cs typeface="Arial"/>
              </a:defRPr>
            </a:pPr>
            <a:r>
              <a:t>Logistic regression and random forest used CPU threads</a:t>
            </a:r>
          </a:p>
          <a:p xmlns:a="http://schemas.openxmlformats.org/drawingml/2006/main">
            <a:pPr marL="228600" indent="-114300">
              <a:spcAft>
                <a:spcPts val="1800"/>
              </a:spcAft>
              <a:buChar char="•"/>
              <a:defRPr sz="2325" b="0">
                <a:solidFill>
                  <a:srgbClr val="152C3B"/>
                </a:solidFill>
                <a:latin typeface="Arial"/>
                <a:ea typeface="Arial"/>
                <a:cs typeface="Arial"/>
              </a:defRPr>
            </a:pPr>
            <a:r>
              <a:t>Why: use appropriate hardware while preserving the same evaluation protocol</a:t>
            </a:r>
          </a:p>
          <a:p xmlns:a="http://schemas.openxmlformats.org/drawingml/2006/main">
            <a:pPr marL="228600" indent="-114300">
              <a:spcAft>
                <a:spcPts val="1800"/>
              </a:spcAft>
              <a:buChar char="•"/>
              <a:defRPr sz="2325" b="0">
                <a:solidFill>
                  <a:srgbClr val="152C3B"/>
                </a:solidFill>
                <a:latin typeface="Arial"/>
                <a:ea typeface="Arial"/>
                <a:cs typeface="Arial"/>
              </a:defRPr>
            </a:pPr>
            <a:r>
              <a:t>Saved package versions, settings and seeds for reproduction</a:t>
            </a:r>
          </a:p>
        </p:txBody>
      </p:sp>
    </p:spTree>
    <p:extLst>
      <p:ext uri="{BB962C8B-B14F-4D97-AF65-F5344CB8AC3E}">
        <p14:creationId xmlns:p14="http://schemas.microsoft.com/office/powerpoint/2010/main" val="24532753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23">
            <a:extLst xmlns:a="http://schemas.openxmlformats.org/drawingml/2006/main">
              <a:ext uri="{FF2B5EF4-FFF2-40B4-BE49-F238E27FC236}">
                <a16:creationId xmlns:a16="http://schemas.microsoft.com/office/drawing/2014/main" id="{38E7B830-7623-43B5-94BE-5ACDEBFEBD84}"/>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What blocked the first GPU setup, and how was it fixed?</a:t>
            </a:r>
          </a:p>
        </p:txBody>
      </p:sp>
      <p:sp>
        <p:nvSpPr>
          <p:cNvPr id="3" name="Answer bullets">
            <a:extLst xmlns:a="http://schemas.openxmlformats.org/drawingml/2006/main">
              <a:ext uri="{FF2B5EF4-FFF2-40B4-BE49-F238E27FC236}">
                <a16:creationId xmlns:a16="http://schemas.microsoft.com/office/drawing/2014/main" id="{F55DED8F-57B6-4D41-86EB-48EFEEF55786}"/>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Problem encountered: the initial PyTorch build failed to import its Windows fbgemm DLL</a:t>
            </a:r>
          </a:p>
          <a:p xmlns:a="http://schemas.openxmlformats.org/drawingml/2006/main">
            <a:pPr marL="228600" indent="-114300">
              <a:spcAft>
                <a:spcPts val="1800"/>
              </a:spcAft>
              <a:buChar char="•"/>
              <a:defRPr sz="2325" b="0">
                <a:solidFill>
                  <a:srgbClr val="152C3B"/>
                </a:solidFill>
                <a:latin typeface="Arial"/>
                <a:ea typeface="Arial"/>
                <a:cs typeface="Arial"/>
              </a:defRPr>
            </a:pPr>
            <a:r>
              <a:t>Replaced that build with the official PyTorch 2.6.0 CUDA 12.6 wheel</a:t>
            </a:r>
          </a:p>
          <a:p xmlns:a="http://schemas.openxmlformats.org/drawingml/2006/main">
            <a:pPr marL="228600" indent="-114300">
              <a:spcAft>
                <a:spcPts val="1800"/>
              </a:spcAft>
              <a:buChar char="•"/>
              <a:defRPr sz="2325" b="0">
                <a:solidFill>
                  <a:srgbClr val="152C3B"/>
                </a:solidFill>
                <a:latin typeface="Arial"/>
                <a:ea typeface="Arial"/>
                <a:cs typeface="Arial"/>
              </a:defRPr>
            </a:pPr>
            <a:r>
              <a:t>Checked an actual CUDA matrix calculation and the fitted XGBoost device</a:t>
            </a:r>
          </a:p>
          <a:p xmlns:a="http://schemas.openxmlformats.org/drawingml/2006/main">
            <a:pPr marL="228600" indent="-114300">
              <a:spcAft>
                <a:spcPts val="1800"/>
              </a:spcAft>
              <a:buChar char="•"/>
              <a:defRPr sz="2325" b="0">
                <a:solidFill>
                  <a:srgbClr val="152C3B"/>
                </a:solidFill>
                <a:latin typeface="Arial"/>
                <a:ea typeface="Arial"/>
                <a:cs typeface="Arial"/>
              </a:defRPr>
            </a:pPr>
            <a:r>
              <a:t>Why: a claimed GPU run needed successful computation, not only an installed driver</a:t>
            </a:r>
          </a:p>
        </p:txBody>
      </p:sp>
    </p:spTree>
    <p:extLst>
      <p:ext uri="{BB962C8B-B14F-4D97-AF65-F5344CB8AC3E}">
        <p14:creationId xmlns:p14="http://schemas.microsoft.com/office/powerpoint/2010/main" val="8626688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24">
            <a:extLst xmlns:a="http://schemas.openxmlformats.org/drawingml/2006/main">
              <a:ext uri="{FF2B5EF4-FFF2-40B4-BE49-F238E27FC236}">
                <a16:creationId xmlns:a16="http://schemas.microsoft.com/office/drawing/2014/main" id="{2E65A374-4634-409E-A449-3E5047762B58}"/>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handle Windows path and array warnings?</a:t>
            </a:r>
          </a:p>
        </p:txBody>
      </p:sp>
      <p:sp>
        <p:nvSpPr>
          <p:cNvPr id="3" name="Answer bullets">
            <a:extLst xmlns:a="http://schemas.openxmlformats.org/drawingml/2006/main">
              <a:ext uri="{FF2B5EF4-FFF2-40B4-BE49-F238E27FC236}">
                <a16:creationId xmlns:a16="http://schemas.microsoft.com/office/drawing/2014/main" id="{7205667B-68E8-4173-BB31-3CC89AC92BEF}"/>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Problem: environment commands failed with the spaces in the project path</a:t>
            </a:r>
          </a:p>
          <a:p xmlns:a="http://schemas.openxmlformats.org/drawingml/2006/main">
            <a:pPr marL="228600" indent="-114300">
              <a:spcAft>
                <a:spcPts val="1800"/>
              </a:spcAft>
              <a:buChar char="•"/>
              <a:defRPr sz="2325" b="0">
                <a:solidFill>
                  <a:srgbClr val="152C3B"/>
                </a:solidFill>
                <a:latin typeface="Arial"/>
                <a:ea typeface="Arial"/>
                <a:cs typeface="Arial"/>
              </a:defRPr>
            </a:pPr>
            <a:r>
              <a:t>Used the environment Python directly and exposed its Windows library directories</a:t>
            </a:r>
          </a:p>
          <a:p xmlns:a="http://schemas.openxmlformats.org/drawingml/2006/main">
            <a:pPr marL="228600" indent="-114300">
              <a:spcAft>
                <a:spcPts val="1800"/>
              </a:spcAft>
              <a:buChar char="•"/>
              <a:defRPr sz="2325" b="0">
                <a:solidFill>
                  <a:srgbClr val="152C3B"/>
                </a:solidFill>
                <a:latin typeface="Arial"/>
                <a:ea typeface="Arial"/>
                <a:cs typeface="Arial"/>
              </a:defRPr>
            </a:pPr>
            <a:r>
              <a:t>Copied read-only label arrays before tensor conversion to remove the buffer warning</a:t>
            </a:r>
          </a:p>
          <a:p xmlns:a="http://schemas.openxmlformats.org/drawingml/2006/main">
            <a:pPr marL="228600" indent="-114300">
              <a:spcAft>
                <a:spcPts val="1800"/>
              </a:spcAft>
              <a:buChar char="•"/>
              <a:defRPr sz="2325" b="0">
                <a:solidFill>
                  <a:srgbClr val="152C3B"/>
                </a:solidFill>
                <a:latin typeface="Arial"/>
                <a:ea typeface="Arial"/>
                <a:cs typeface="Arial"/>
              </a:defRPr>
            </a:pPr>
            <a:r>
              <a:t>Why: fix execution and buffer handling while preserving the labels and model settings</a:t>
            </a:r>
          </a:p>
        </p:txBody>
      </p:sp>
    </p:spTree>
    <p:extLst>
      <p:ext uri="{BB962C8B-B14F-4D97-AF65-F5344CB8AC3E}">
        <p14:creationId xmlns:p14="http://schemas.microsoft.com/office/powerpoint/2010/main" val="106337161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25">
            <a:extLst xmlns:a="http://schemas.openxmlformats.org/drawingml/2006/main">
              <a:ext uri="{FF2B5EF4-FFF2-40B4-BE49-F238E27FC236}">
                <a16:creationId xmlns:a16="http://schemas.microsoft.com/office/drawing/2014/main" id="{19E81F5B-D656-40A5-9FDF-CFCED1427431}"/>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What did I do when early development outputs were wrong?</a:t>
            </a:r>
          </a:p>
        </p:txBody>
      </p:sp>
      <p:sp>
        <p:nvSpPr>
          <p:cNvPr id="3" name="Answer bullets">
            <a:extLst xmlns:a="http://schemas.openxmlformats.org/drawingml/2006/main">
              <a:ext uri="{FF2B5EF4-FFF2-40B4-BE49-F238E27FC236}">
                <a16:creationId xmlns:a16="http://schemas.microsoft.com/office/drawing/2014/main" id="{AA5D04DC-C30B-4F43-A172-5F978CC18053}"/>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Problem: early extraction used incorrect clock and team assumptions</a:t>
            </a:r>
          </a:p>
          <a:p xmlns:a="http://schemas.openxmlformats.org/drawingml/2006/main">
            <a:pPr marL="228600" indent="-114300">
              <a:spcAft>
                <a:spcPts val="1800"/>
              </a:spcAft>
              <a:buChar char="•"/>
              <a:defRPr sz="2325" b="0">
                <a:solidFill>
                  <a:srgbClr val="152C3B"/>
                </a:solidFill>
                <a:latin typeface="Arial"/>
                <a:ea typeface="Arial"/>
                <a:cs typeface="Arial"/>
              </a:defRPr>
            </a:pPr>
            <a:r>
              <a:t>Preserved the withdrawn development diagnostics privately and corrected extraction</a:t>
            </a:r>
          </a:p>
          <a:p xmlns:a="http://schemas.openxmlformats.org/drawingml/2006/main">
            <a:pPr marL="228600" indent="-114300">
              <a:spcAft>
                <a:spcPts val="1800"/>
              </a:spcAft>
              <a:buChar char="•"/>
              <a:defRPr sz="2325" b="0">
                <a:solidFill>
                  <a:srgbClr val="152C3B"/>
                </a:solidFill>
                <a:latin typeface="Arial"/>
                <a:ea typeface="Arial"/>
                <a:cs typeface="Arial"/>
              </a:defRPr>
            </a:pPr>
            <a:r>
              <a:t>Rebuilt the snapshots and development experiments with the corrected mapping</a:t>
            </a:r>
          </a:p>
          <a:p xmlns:a="http://schemas.openxmlformats.org/drawingml/2006/main">
            <a:pPr marL="228600" indent="-114300">
              <a:spcAft>
                <a:spcPts val="1800"/>
              </a:spcAft>
              <a:buChar char="•"/>
              <a:defRPr sz="2325" b="0">
                <a:solidFill>
                  <a:srgbClr val="152C3B"/>
                </a:solidFill>
                <a:latin typeface="Arial"/>
                <a:ea typeface="Arial"/>
                <a:cs typeface="Arial"/>
              </a:defRPr>
            </a:pPr>
            <a:r>
              <a:t>Only then froze the protocol and evaluated the final period; old diagnostic scores were not reported as findings</a:t>
            </a:r>
          </a:p>
        </p:txBody>
      </p:sp>
    </p:spTree>
    <p:extLst>
      <p:ext uri="{BB962C8B-B14F-4D97-AF65-F5344CB8AC3E}">
        <p14:creationId xmlns:p14="http://schemas.microsoft.com/office/powerpoint/2010/main" val="24820464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26">
            <a:extLst xmlns:a="http://schemas.openxmlformats.org/drawingml/2006/main">
              <a:ext uri="{FF2B5EF4-FFF2-40B4-BE49-F238E27FC236}">
                <a16:creationId xmlns:a16="http://schemas.microsoft.com/office/drawing/2014/main" id="{41207BA9-14C5-4FE4-83C4-899AA1351131}"/>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Which statistics did I use, and what did each answer?</a:t>
            </a:r>
          </a:p>
        </p:txBody>
      </p:sp>
      <p:sp>
        <p:nvSpPr>
          <p:cNvPr id="3" name="Answer bullets">
            <a:extLst xmlns:a="http://schemas.openxmlformats.org/drawingml/2006/main">
              <a:ext uri="{FF2B5EF4-FFF2-40B4-BE49-F238E27FC236}">
                <a16:creationId xmlns:a16="http://schemas.microsoft.com/office/drawing/2014/main" id="{C2FBEBB2-B25C-46D3-8C67-1454CB9912E1}"/>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Counts, missing values and duplicate keys checked data coverage and structure</a:t>
            </a:r>
          </a:p>
          <a:p xmlns:a="http://schemas.openxmlformats.org/drawingml/2006/main">
            <a:pPr marL="228600" indent="-114300">
              <a:spcAft>
                <a:spcPts val="1800"/>
              </a:spcAft>
              <a:buChar char="•"/>
              <a:defRPr sz="2325" b="0">
                <a:solidFill>
                  <a:srgbClr val="152C3B"/>
                </a:solidFill>
                <a:latin typeface="Arial"/>
                <a:ea typeface="Arial"/>
                <a:cs typeface="Arial"/>
              </a:defRPr>
            </a:pPr>
            <a:r>
              <a:t>Means and sample standard deviations described repeated training seed results</a:t>
            </a:r>
          </a:p>
          <a:p xmlns:a="http://schemas.openxmlformats.org/drawingml/2006/main">
            <a:pPr marL="228600" indent="-114300">
              <a:spcAft>
                <a:spcPts val="1800"/>
              </a:spcAft>
              <a:buChar char="•"/>
              <a:defRPr sz="2325" b="0">
                <a:solidFill>
                  <a:srgbClr val="152C3B"/>
                </a:solidFill>
                <a:latin typeface="Arial"/>
                <a:ea typeface="Arial"/>
                <a:cs typeface="Arial"/>
              </a:defRPr>
            </a:pPr>
            <a:r>
              <a:t>Medians and interquartile ranges described the movement ratios without relying on a mean alone</a:t>
            </a:r>
          </a:p>
          <a:p xmlns:a="http://schemas.openxmlformats.org/drawingml/2006/main">
            <a:pPr marL="228600" indent="-114300">
              <a:spcAft>
                <a:spcPts val="1800"/>
              </a:spcAft>
              <a:buChar char="•"/>
              <a:defRPr sz="2325" b="0">
                <a:solidFill>
                  <a:srgbClr val="152C3B"/>
                </a:solidFill>
                <a:latin typeface="Arial"/>
                <a:ea typeface="Arial"/>
                <a:cs typeface="Arial"/>
              </a:defRPr>
            </a:pPr>
            <a:r>
              <a:t>Rank correlation and bootstrap intervals checked stability and sample uncertainty</a:t>
            </a:r>
          </a:p>
        </p:txBody>
      </p:sp>
    </p:spTree>
    <p:extLst>
      <p:ext uri="{BB962C8B-B14F-4D97-AF65-F5344CB8AC3E}">
        <p14:creationId xmlns:p14="http://schemas.microsoft.com/office/powerpoint/2010/main" val="74306386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27">
            <a:extLst xmlns:a="http://schemas.openxmlformats.org/drawingml/2006/main">
              <a:ext uri="{FF2B5EF4-FFF2-40B4-BE49-F238E27FC236}">
                <a16:creationId xmlns:a16="http://schemas.microsoft.com/office/drawing/2014/main" id="{3B555FB2-ED4F-46E1-B278-A4E12B0146A8}"/>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ROC AUC and accuracy answer different questions?</a:t>
            </a:r>
          </a:p>
        </p:txBody>
      </p:sp>
      <p:sp>
        <p:nvSpPr>
          <p:cNvPr id="3" name="Answer bullets">
            <a:extLst xmlns:a="http://schemas.openxmlformats.org/drawingml/2006/main">
              <a:ext uri="{FF2B5EF4-FFF2-40B4-BE49-F238E27FC236}">
                <a16:creationId xmlns:a16="http://schemas.microsoft.com/office/drawing/2014/main" id="{E0155A9D-99F7-40A0-A170-BFBDB2CF528A}"/>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ROC AUC checks whether eventual winners receive higher scores than losers across thresholds</a:t>
            </a:r>
          </a:p>
          <a:p xmlns:a="http://schemas.openxmlformats.org/drawingml/2006/main">
            <a:pPr marL="228600" indent="-114300">
              <a:spcAft>
                <a:spcPts val="1800"/>
              </a:spcAft>
              <a:buChar char="•"/>
              <a:defRPr sz="2325" b="0">
                <a:solidFill>
                  <a:srgbClr val="152C3B"/>
                </a:solidFill>
                <a:latin typeface="Arial"/>
                <a:ea typeface="Arial"/>
                <a:cs typeface="Arial"/>
              </a:defRPr>
            </a:pPr>
            <a:r>
              <a:t>Accuracy counts correct outcomes after applying a fixed probability threshold of 0.5</a:t>
            </a:r>
          </a:p>
          <a:p xmlns:a="http://schemas.openxmlformats.org/drawingml/2006/main">
            <a:pPr marL="228600" indent="-114300">
              <a:spcAft>
                <a:spcPts val="1800"/>
              </a:spcAft>
              <a:buChar char="•"/>
              <a:defRPr sz="2325" b="0">
                <a:solidFill>
                  <a:srgbClr val="152C3B"/>
                </a:solidFill>
                <a:latin typeface="Arial"/>
                <a:ea typeface="Arial"/>
                <a:cs typeface="Arial"/>
              </a:defRPr>
            </a:pPr>
            <a:r>
              <a:t>Why both: ranking ability and decisions at one threshold are different properties</a:t>
            </a:r>
          </a:p>
          <a:p xmlns:a="http://schemas.openxmlformats.org/drawingml/2006/main">
            <a:pPr marL="228600" indent="-114300">
              <a:spcAft>
                <a:spcPts val="1800"/>
              </a:spcAft>
              <a:buChar char="•"/>
              <a:defRPr sz="2325" b="0">
                <a:solidFill>
                  <a:srgbClr val="152C3B"/>
                </a:solidFill>
                <a:latin typeface="Arial"/>
                <a:ea typeface="Arial"/>
                <a:cs typeface="Arial"/>
              </a:defRPr>
            </a:pPr>
            <a:r>
              <a:t>Used identical eligible games for every model; neither metric proves reliable probability confidence</a:t>
            </a:r>
          </a:p>
        </p:txBody>
      </p:sp>
    </p:spTree>
    <p:extLst>
      <p:ext uri="{BB962C8B-B14F-4D97-AF65-F5344CB8AC3E}">
        <p14:creationId xmlns:p14="http://schemas.microsoft.com/office/powerpoint/2010/main" val="198298103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28">
            <a:extLst xmlns:a="http://schemas.openxmlformats.org/drawingml/2006/main">
              <a:ext uri="{FF2B5EF4-FFF2-40B4-BE49-F238E27FC236}">
                <a16:creationId xmlns:a16="http://schemas.microsoft.com/office/drawing/2014/main" id="{F6F5F093-3ED2-439A-8144-ED9F11273DBC}"/>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measure the quality of predicted probabilities?</a:t>
            </a:r>
          </a:p>
        </p:txBody>
      </p:sp>
      <p:sp>
        <p:nvSpPr>
          <p:cNvPr id="3" name="Answer bullets">
            <a:extLst xmlns:a="http://schemas.openxmlformats.org/drawingml/2006/main">
              <a:ext uri="{FF2B5EF4-FFF2-40B4-BE49-F238E27FC236}">
                <a16:creationId xmlns:a16="http://schemas.microsoft.com/office/drawing/2014/main" id="{6CE4248C-0DA7-4BD7-8D3D-0C609A2730A3}"/>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Brier score: averaged the squared difference between predicted probability and the zero or one outcome</a:t>
            </a:r>
          </a:p>
          <a:p xmlns:a="http://schemas.openxmlformats.org/drawingml/2006/main">
            <a:pPr marL="228600" indent="-114300">
              <a:spcAft>
                <a:spcPts val="1800"/>
              </a:spcAft>
              <a:buChar char="•"/>
              <a:defRPr sz="2325" b="0">
                <a:solidFill>
                  <a:srgbClr val="152C3B"/>
                </a:solidFill>
                <a:latin typeface="Arial"/>
                <a:ea typeface="Arial"/>
                <a:cs typeface="Arial"/>
              </a:defRPr>
            </a:pPr>
            <a:r>
              <a:t>Log loss: averaged the negative log probability assigned to the observed outcome</a:t>
            </a:r>
          </a:p>
          <a:p xmlns:a="http://schemas.openxmlformats.org/drawingml/2006/main">
            <a:pPr marL="228600" indent="-114300">
              <a:spcAft>
                <a:spcPts val="1800"/>
              </a:spcAft>
              <a:buChar char="•"/>
              <a:defRPr sz="2325" b="0">
                <a:solidFill>
                  <a:srgbClr val="152C3B"/>
                </a:solidFill>
                <a:latin typeface="Arial"/>
                <a:ea typeface="Arial"/>
                <a:cs typeface="Arial"/>
              </a:defRPr>
            </a:pPr>
            <a:r>
              <a:t>Why both: Brier measures probability error; log loss penalises confident mistakes more strongly</a:t>
            </a:r>
          </a:p>
          <a:p xmlns:a="http://schemas.openxmlformats.org/drawingml/2006/main">
            <a:pPr marL="228600" indent="-114300">
              <a:spcAft>
                <a:spcPts val="1800"/>
              </a:spcAft>
              <a:buChar char="•"/>
              <a:defRPr sz="2325" b="0">
                <a:solidFill>
                  <a:srgbClr val="152C3B"/>
                </a:solidFill>
                <a:latin typeface="Arial"/>
                <a:ea typeface="Arial"/>
                <a:cs typeface="Arial"/>
              </a:defRPr>
            </a:pPr>
            <a:r>
              <a:t>Lower is better; these losses combine calibration and discrimination rather than isolating calibration alone</a:t>
            </a:r>
          </a:p>
        </p:txBody>
      </p:sp>
    </p:spTree>
    <p:extLst>
      <p:ext uri="{BB962C8B-B14F-4D97-AF65-F5344CB8AC3E}">
        <p14:creationId xmlns:p14="http://schemas.microsoft.com/office/powerpoint/2010/main" val="136594792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29">
            <a:extLst xmlns:a="http://schemas.openxmlformats.org/drawingml/2006/main">
              <a:ext uri="{FF2B5EF4-FFF2-40B4-BE49-F238E27FC236}">
                <a16:creationId xmlns:a16="http://schemas.microsoft.com/office/drawing/2014/main" id="{5CF2CDD9-1CEE-4ED8-BB6F-720464E965EC}"/>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logistic regression work, and why include it?</a:t>
            </a:r>
          </a:p>
        </p:txBody>
      </p:sp>
      <p:sp>
        <p:nvSpPr>
          <p:cNvPr id="3" name="Answer bullets">
            <a:extLst xmlns:a="http://schemas.openxmlformats.org/drawingml/2006/main">
              <a:ext uri="{FF2B5EF4-FFF2-40B4-BE49-F238E27FC236}">
                <a16:creationId xmlns:a16="http://schemas.microsoft.com/office/drawing/2014/main" id="{02BAD04E-28E2-4B33-80B0-875DB71AA28E}"/>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How: fitted a regularised weighted sum of standardised team differences and converted log odds to probabilities</a:t>
            </a:r>
          </a:p>
          <a:p xmlns:a="http://schemas.openxmlformats.org/drawingml/2006/main">
            <a:pPr marL="228600" indent="-114300">
              <a:spcAft>
                <a:spcPts val="1800"/>
              </a:spcAft>
              <a:buChar char="•"/>
              <a:defRPr sz="2325" b="0">
                <a:solidFill>
                  <a:srgbClr val="152C3B"/>
                </a:solidFill>
                <a:latin typeface="Arial"/>
                <a:ea typeface="Arial"/>
                <a:cs typeface="Arial"/>
              </a:defRPr>
            </a:pPr>
            <a:r>
              <a:t>Why: provide a simple linear reference that is easy to compare with more flexible models</a:t>
            </a:r>
          </a:p>
          <a:p xmlns:a="http://schemas.openxmlformats.org/drawingml/2006/main">
            <a:pPr marL="228600" indent="-114300">
              <a:spcAft>
                <a:spcPts val="1800"/>
              </a:spcAft>
              <a:buChar char="•"/>
              <a:defRPr sz="2325" b="0">
                <a:solidFill>
                  <a:srgbClr val="152C3B"/>
                </a:solidFill>
                <a:latin typeface="Arial"/>
                <a:ea typeface="Arial"/>
                <a:cs typeface="Arial"/>
              </a:defRPr>
            </a:pPr>
            <a:r>
              <a:t>Used C = 1 and a maximum of 2,000 optimisation iterations; scaling was fitted on training only</a:t>
            </a:r>
          </a:p>
          <a:p xmlns:a="http://schemas.openxmlformats.org/drawingml/2006/main">
            <a:pPr marL="228600" indent="-114300">
              <a:spcAft>
                <a:spcPts val="1800"/>
              </a:spcAft>
              <a:buChar char="•"/>
              <a:defRPr sz="2325" b="0">
                <a:solidFill>
                  <a:srgbClr val="152C3B"/>
                </a:solidFill>
                <a:latin typeface="Arial"/>
                <a:ea typeface="Arial"/>
                <a:cs typeface="Arial"/>
              </a:defRPr>
            </a:pPr>
            <a:r>
              <a:t>It need not capture every interaction; its primary advantage was an observed result, not an assumption</a:t>
            </a:r>
          </a:p>
        </p:txBody>
      </p:sp>
    </p:spTree>
    <p:extLst>
      <p:ext uri="{BB962C8B-B14F-4D97-AF65-F5344CB8AC3E}">
        <p14:creationId xmlns:p14="http://schemas.microsoft.com/office/powerpoint/2010/main" val="40818034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30">
            <a:extLst xmlns:a="http://schemas.openxmlformats.org/drawingml/2006/main">
              <a:ext uri="{FF2B5EF4-FFF2-40B4-BE49-F238E27FC236}">
                <a16:creationId xmlns:a16="http://schemas.microsoft.com/office/drawing/2014/main" id="{676C2E93-D6A9-4A38-B8A8-4BBA6236CFEC}"/>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the random forest work, and why include it?</a:t>
            </a:r>
          </a:p>
        </p:txBody>
      </p:sp>
      <p:sp>
        <p:nvSpPr>
          <p:cNvPr id="3" name="Answer bullets">
            <a:extLst xmlns:a="http://schemas.openxmlformats.org/drawingml/2006/main">
              <a:ext uri="{FF2B5EF4-FFF2-40B4-BE49-F238E27FC236}">
                <a16:creationId xmlns:a16="http://schemas.microsoft.com/office/drawing/2014/main" id="{04D69366-B17E-441B-99E7-BB6040226425}"/>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How: fitted 300 trees on bootstrap training samples and averaged their predicted probabilities</a:t>
            </a:r>
          </a:p>
          <a:p xmlns:a="http://schemas.openxmlformats.org/drawingml/2006/main">
            <a:pPr marL="228600" indent="-114300">
              <a:spcAft>
                <a:spcPts val="1800"/>
              </a:spcAft>
              <a:buChar char="•"/>
              <a:defRPr sz="2325" b="0">
                <a:solidFill>
                  <a:srgbClr val="152C3B"/>
                </a:solidFill>
                <a:latin typeface="Arial"/>
                <a:ea typeface="Arial"/>
                <a:cs typeface="Arial"/>
              </a:defRPr>
            </a:pPr>
            <a:r>
              <a:t>Why: allow nonlinear thresholds and interactions without standardising each feature</a:t>
            </a:r>
          </a:p>
          <a:p xmlns:a="http://schemas.openxmlformats.org/drawingml/2006/main">
            <a:pPr marL="228600" indent="-114300">
              <a:spcAft>
                <a:spcPts val="1800"/>
              </a:spcAft>
              <a:buChar char="•"/>
              <a:defRPr sz="2325" b="0">
                <a:solidFill>
                  <a:srgbClr val="152C3B"/>
                </a:solidFill>
                <a:latin typeface="Arial"/>
                <a:ea typeface="Arial"/>
                <a:cs typeface="Arial"/>
              </a:defRPr>
            </a:pPr>
            <a:r>
              <a:t>Limited depth to 8 and minimum leaf size to 10; used square root feature sampling</a:t>
            </a:r>
          </a:p>
          <a:p xmlns:a="http://schemas.openxmlformats.org/drawingml/2006/main">
            <a:pPr marL="228600" indent="-114300">
              <a:spcAft>
                <a:spcPts val="1800"/>
              </a:spcAft>
              <a:buChar char="•"/>
              <a:defRPr sz="2325" b="0">
                <a:solidFill>
                  <a:srgbClr val="152C3B"/>
                </a:solidFill>
                <a:latin typeface="Arial"/>
                <a:ea typeface="Arial"/>
                <a:cs typeface="Arial"/>
              </a:defRPr>
            </a:pPr>
            <a:r>
              <a:t>These fixed complexity choices controlled the reference comparison; they were not claimed to be optimal</a:t>
            </a:r>
          </a:p>
        </p:txBody>
      </p:sp>
    </p:spTree>
    <p:extLst>
      <p:ext uri="{BB962C8B-B14F-4D97-AF65-F5344CB8AC3E}">
        <p14:creationId xmlns:p14="http://schemas.microsoft.com/office/powerpoint/2010/main" val="28807876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31">
            <a:extLst xmlns:a="http://schemas.openxmlformats.org/drawingml/2006/main">
              <a:ext uri="{FF2B5EF4-FFF2-40B4-BE49-F238E27FC236}">
                <a16:creationId xmlns:a16="http://schemas.microsoft.com/office/drawing/2014/main" id="{55BA5FEE-A8A2-40CB-8DD9-C7699EEB59C3}"/>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XGBoost work, and why include it?</a:t>
            </a:r>
          </a:p>
        </p:txBody>
      </p:sp>
      <p:sp>
        <p:nvSpPr>
          <p:cNvPr id="3" name="Answer bullets">
            <a:extLst xmlns:a="http://schemas.openxmlformats.org/drawingml/2006/main">
              <a:ext uri="{FF2B5EF4-FFF2-40B4-BE49-F238E27FC236}">
                <a16:creationId xmlns:a16="http://schemas.microsoft.com/office/drawing/2014/main" id="{9505609A-0D86-4FB8-B577-0D3D76BAFA4E}"/>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How: added trees sequentially to reduce remaining prediction error</a:t>
            </a:r>
          </a:p>
          <a:p xmlns:a="http://schemas.openxmlformats.org/drawingml/2006/main">
            <a:pPr marL="228600" indent="-114300">
              <a:spcAft>
                <a:spcPts val="1800"/>
              </a:spcAft>
              <a:buChar char="•"/>
              <a:defRPr sz="2325" b="0">
                <a:solidFill>
                  <a:srgbClr val="152C3B"/>
                </a:solidFill>
                <a:latin typeface="Arial"/>
                <a:ea typeface="Arial"/>
                <a:cs typeface="Arial"/>
              </a:defRPr>
            </a:pPr>
            <a:r>
              <a:t>Why: compare the neural adaptation with an established model for tabular data</a:t>
            </a:r>
          </a:p>
          <a:p xmlns:a="http://schemas.openxmlformats.org/drawingml/2006/main">
            <a:pPr marL="228600" indent="-114300">
              <a:spcAft>
                <a:spcPts val="1800"/>
              </a:spcAft>
              <a:buChar char="•"/>
              <a:defRPr sz="2325" b="0">
                <a:solidFill>
                  <a:srgbClr val="152C3B"/>
                </a:solidFill>
                <a:latin typeface="Arial"/>
                <a:ea typeface="Arial"/>
                <a:cs typeface="Arial"/>
              </a:defRPr>
            </a:pPr>
            <a:r>
              <a:t>Used 400 trees, depth 3, learning rate 0.05 and row and column sampling of 0.8</a:t>
            </a:r>
          </a:p>
          <a:p xmlns:a="http://schemas.openxmlformats.org/drawingml/2006/main">
            <a:pPr marL="228600" indent="-114300">
              <a:spcAft>
                <a:spcPts val="1800"/>
              </a:spcAft>
              <a:buChar char="•"/>
              <a:defRPr sz="2325" b="0">
                <a:solidFill>
                  <a:srgbClr val="152C3B"/>
                </a:solidFill>
                <a:latin typeface="Arial"/>
                <a:ea typeface="Arial"/>
                <a:cs typeface="Arial"/>
              </a:defRPr>
            </a:pPr>
            <a:r>
              <a:t>Used GPU histogram training and L2 regularisation of 1; fixed settings kept the final comparison controlled</a:t>
            </a:r>
          </a:p>
        </p:txBody>
      </p:sp>
    </p:spTree>
    <p:extLst>
      <p:ext uri="{BB962C8B-B14F-4D97-AF65-F5344CB8AC3E}">
        <p14:creationId xmlns:p14="http://schemas.microsoft.com/office/powerpoint/2010/main" val="62152200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32">
            <a:extLst xmlns:a="http://schemas.openxmlformats.org/drawingml/2006/main">
              <a:ext uri="{FF2B5EF4-FFF2-40B4-BE49-F238E27FC236}">
                <a16:creationId xmlns:a16="http://schemas.microsoft.com/office/drawing/2014/main" id="{0190872B-59E8-410D-9A34-B9890D66A306}"/>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many neurons did the neural network use?</a:t>
            </a:r>
          </a:p>
        </p:txBody>
      </p:sp>
      <p:sp>
        <p:nvSpPr>
          <p:cNvPr id="3" name="Answer bullets">
            <a:extLst xmlns:a="http://schemas.openxmlformats.org/drawingml/2006/main">
              <a:ext uri="{FF2B5EF4-FFF2-40B4-BE49-F238E27FC236}">
                <a16:creationId xmlns:a16="http://schemas.microsoft.com/office/drawing/2014/main" id="{363088CC-8CBB-4EAF-A35C-0939CD09CB5B}"/>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10 input features; two hidden layers of 64 neurons</a:t>
            </a:r>
          </a:p>
          <a:p xmlns:a="http://schemas.openxmlformats.org/drawingml/2006/main">
            <a:pPr marL="228600" indent="-114300">
              <a:spcAft>
                <a:spcPts val="1600"/>
              </a:spcAft>
              <a:buChar char="•"/>
              <a:defRPr sz="2100" b="0">
                <a:solidFill>
                  <a:srgbClr val="152C3B"/>
                </a:solidFill>
                <a:latin typeface="Arial"/>
                <a:ea typeface="Arial"/>
                <a:cs typeface="Arial"/>
              </a:defRPr>
            </a:pPr>
            <a:r>
              <a:t>128 hidden neurons; sigmoid gives Radiant’s win probability</a:t>
            </a:r>
          </a:p>
          <a:p xmlns:a="http://schemas.openxmlformats.org/drawingml/2006/main">
            <a:pPr marL="228600" indent="-114300">
              <a:spcAft>
                <a:spcPts val="1600"/>
              </a:spcAft>
              <a:buChar char="•"/>
              <a:defRPr sz="2100" b="0">
                <a:solidFill>
                  <a:srgbClr val="152C3B"/>
                </a:solidFill>
                <a:latin typeface="Arial"/>
                <a:ea typeface="Arial"/>
                <a:cs typeface="Arial"/>
              </a:defRPr>
            </a:pPr>
            <a:r>
              <a:t>Why: a fixed reference, with no width search</a:t>
            </a:r>
          </a:p>
          <a:p xmlns:a="http://schemas.openxmlformats.org/drawingml/2006/main">
            <a:pPr marL="228600" indent="-114300">
              <a:spcAft>
                <a:spcPts val="1600"/>
              </a:spcAft>
              <a:buChar char="•"/>
              <a:defRPr sz="2100" b="0">
                <a:solidFill>
                  <a:srgbClr val="152C3B"/>
                </a:solidFill>
                <a:latin typeface="Arial"/>
                <a:ea typeface="Arial"/>
                <a:cs typeface="Arial"/>
              </a:defRPr>
            </a:pPr>
            <a:r>
              <a:t>4,929 trainable weights and biases</a:t>
            </a:r>
          </a:p>
        </p:txBody>
      </p:sp>
      <p:graphicFrame>
        <p:nvGraphicFramePr>
          <p:cNvPr id="4" name="Chart">
            <a:extLst xmlns:a="http://schemas.openxmlformats.org/drawingml/2006/main">
              <a:ext uri="{FF2B5EF4-FFF2-40B4-BE49-F238E27FC236}">
                <a16:creationId xmlns:a16="http://schemas.microsoft.com/office/drawing/2014/main" id="{25D32E69-C47B-4068-ACAB-4DD60D6C7767}"/>
              </a:ext>
            </a:extLst>
          </p:cNvPr>
          <p:cNvGraphicFramePr/>
          <p:nvPr/>
        </p:nvGraphicFramePr>
        <p:xfrm>
          <a:off xmlns:a="http://schemas.openxmlformats.org/drawingml/2006/main" x="552450" y="1714500"/>
          <a:ext xmlns:a="http://schemas.openxmlformats.org/drawingml/2006/main" cx="6858000" cy="4286250"/>
        </p:xfrm>
        <a:graphic xmlns:a="http://schemas.openxmlformats.org/drawingml/2006/main">
          <a:graphicData uri="http://schemas.openxmlformats.org/drawingml/2006/chart">
            <c:chart xmlns:r="http://schemas.openxmlformats.org/officeDocument/2006/relationships" xmlns:c="http://schemas.openxmlformats.org/drawingml/2006/chart" r:id="R611aee0142c24ce4"/>
          </a:graphicData>
        </a:graphic>
      </p:graphicFrame>
    </p:spTree>
    <p:extLst>
      <p:ext uri="{BB962C8B-B14F-4D97-AF65-F5344CB8AC3E}">
        <p14:creationId xmlns:p14="http://schemas.microsoft.com/office/powerpoint/2010/main" val="26219275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33">
            <a:extLst xmlns:a="http://schemas.openxmlformats.org/drawingml/2006/main">
              <a:ext uri="{FF2B5EF4-FFF2-40B4-BE49-F238E27FC236}">
                <a16:creationId xmlns:a16="http://schemas.microsoft.com/office/drawing/2014/main" id="{CAA10916-64B8-401B-8133-A7DABABE4737}"/>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Why did I choose two hidden layers of 64?</a:t>
            </a:r>
          </a:p>
        </p:txBody>
      </p:sp>
      <p:sp>
        <p:nvSpPr>
          <p:cNvPr id="3" name="Answer bullets">
            <a:extLst xmlns:a="http://schemas.openxmlformats.org/drawingml/2006/main">
              <a:ext uri="{FF2B5EF4-FFF2-40B4-BE49-F238E27FC236}">
                <a16:creationId xmlns:a16="http://schemas.microsoft.com/office/drawing/2014/main" id="{4C238B37-B572-4BF9-9A43-DE71562689E3}"/>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Ten inputs came from the ten audited team features; one output matched the binary win outcome</a:t>
            </a:r>
          </a:p>
          <a:p xmlns:a="http://schemas.openxmlformats.org/drawingml/2006/main">
            <a:pPr marL="228600" indent="-114300">
              <a:spcAft>
                <a:spcPts val="1800"/>
              </a:spcAft>
              <a:buChar char="•"/>
              <a:defRPr sz="2325" b="0">
                <a:solidFill>
                  <a:srgbClr val="152C3B"/>
                </a:solidFill>
                <a:latin typeface="Arial"/>
                <a:ea typeface="Arial"/>
                <a:cs typeface="Arial"/>
              </a:defRPr>
            </a:pPr>
            <a:r>
              <a:t>Two hidden layers allowed nonlinear combinations of those inputs</a:t>
            </a:r>
          </a:p>
          <a:p xmlns:a="http://schemas.openxmlformats.org/drawingml/2006/main">
            <a:pPr marL="228600" indent="-114300">
              <a:spcAft>
                <a:spcPts val="1800"/>
              </a:spcAft>
              <a:buChar char="•"/>
              <a:defRPr sz="2325" b="0">
                <a:solidFill>
                  <a:srgbClr val="152C3B"/>
                </a:solidFill>
                <a:latin typeface="Arial"/>
                <a:ea typeface="Arial"/>
                <a:cs typeface="Arial"/>
              </a:defRPr>
            </a:pPr>
            <a:r>
              <a:t>The 64 plus 64 width was adopted as a compact reference choice for the adaptation</a:t>
            </a:r>
          </a:p>
          <a:p xmlns:a="http://schemas.openxmlformats.org/drawingml/2006/main">
            <a:pPr marL="228600" indent="-114300">
              <a:spcAft>
                <a:spcPts val="1800"/>
              </a:spcAft>
              <a:buChar char="•"/>
              <a:defRPr sz="2325" b="0">
                <a:solidFill>
                  <a:srgbClr val="152C3B"/>
                </a:solidFill>
                <a:latin typeface="Arial"/>
                <a:ea typeface="Arial"/>
                <a:cs typeface="Arial"/>
              </a:defRPr>
            </a:pPr>
            <a:r>
              <a:t>I did not compare alternative widths, so the study cannot establish that 64 was the best choice</a:t>
            </a:r>
          </a:p>
        </p:txBody>
      </p:sp>
    </p:spTree>
    <p:extLst>
      <p:ext uri="{BB962C8B-B14F-4D97-AF65-F5344CB8AC3E}">
        <p14:creationId xmlns:p14="http://schemas.microsoft.com/office/powerpoint/2010/main" val="34651967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34">
            <a:extLst xmlns:a="http://schemas.openxmlformats.org/drawingml/2006/main">
              <a:ext uri="{FF2B5EF4-FFF2-40B4-BE49-F238E27FC236}">
                <a16:creationId xmlns:a16="http://schemas.microsoft.com/office/drawing/2014/main" id="{A7D1C3BB-0554-45FB-9C57-E7C53FEC3909}"/>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the neural network learn from the data?</a:t>
            </a:r>
          </a:p>
        </p:txBody>
      </p:sp>
      <p:sp>
        <p:nvSpPr>
          <p:cNvPr id="3" name="Answer bullets">
            <a:extLst xmlns:a="http://schemas.openxmlformats.org/drawingml/2006/main">
              <a:ext uri="{FF2B5EF4-FFF2-40B4-BE49-F238E27FC236}">
                <a16:creationId xmlns:a16="http://schemas.microsoft.com/office/drawing/2014/main" id="{9045375D-D8D7-48E5-8C9B-1BE541763ECC}"/>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How: standardised inputs and used weighted layers with ReLU, which sets negative activations to zero</a:t>
            </a:r>
          </a:p>
          <a:p xmlns:a="http://schemas.openxmlformats.org/drawingml/2006/main">
            <a:pPr marL="228600" indent="-114300">
              <a:spcAft>
                <a:spcPts val="1800"/>
              </a:spcAft>
              <a:buChar char="•"/>
              <a:defRPr sz="2325" b="0">
                <a:solidFill>
                  <a:srgbClr val="152C3B"/>
                </a:solidFill>
                <a:latin typeface="Arial"/>
                <a:ea typeface="Arial"/>
                <a:cs typeface="Arial"/>
              </a:defRPr>
            </a:pPr>
            <a:r>
              <a:t>Binary cross entropy compared output logits with the training outcomes</a:t>
            </a:r>
          </a:p>
          <a:p xmlns:a="http://schemas.openxmlformats.org/drawingml/2006/main">
            <a:pPr marL="228600" indent="-114300">
              <a:spcAft>
                <a:spcPts val="1800"/>
              </a:spcAft>
              <a:buChar char="•"/>
              <a:defRPr sz="2325" b="0">
                <a:solidFill>
                  <a:srgbClr val="152C3B"/>
                </a:solidFill>
                <a:latin typeface="Arial"/>
                <a:ea typeface="Arial"/>
                <a:cs typeface="Arial"/>
              </a:defRPr>
            </a:pPr>
            <a:r>
              <a:t>Backpropagation calculated how weights affected loss; Adam updated them at learning rate 0.001 in batches of 512</a:t>
            </a:r>
          </a:p>
          <a:p xmlns:a="http://schemas.openxmlformats.org/drawingml/2006/main">
            <a:pPr marL="228600" indent="-114300">
              <a:spcAft>
                <a:spcPts val="1800"/>
              </a:spcAft>
              <a:buChar char="•"/>
              <a:defRPr sz="2325" b="0">
                <a:solidFill>
                  <a:srgbClr val="152C3B"/>
                </a:solidFill>
                <a:latin typeface="Arial"/>
                <a:ea typeface="Arial"/>
                <a:cs typeface="Arial"/>
              </a:defRPr>
            </a:pPr>
            <a:r>
              <a:t>Why: dropout 0.5 masked hidden activations during training; weight decay 0.00001 discouraged large weights</a:t>
            </a:r>
          </a:p>
        </p:txBody>
      </p:sp>
    </p:spTree>
    <p:extLst>
      <p:ext uri="{BB962C8B-B14F-4D97-AF65-F5344CB8AC3E}">
        <p14:creationId xmlns:p14="http://schemas.microsoft.com/office/powerpoint/2010/main" val="55485528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35">
            <a:extLst xmlns:a="http://schemas.openxmlformats.org/drawingml/2006/main">
              <a:ext uri="{FF2B5EF4-FFF2-40B4-BE49-F238E27FC236}">
                <a16:creationId xmlns:a16="http://schemas.microsoft.com/office/drawing/2014/main" id="{77E7C4C0-45A7-4855-9918-9CA4A32D9E63}"/>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monitor and limit neural overfitting?</a:t>
            </a:r>
          </a:p>
        </p:txBody>
      </p:sp>
      <p:sp>
        <p:nvSpPr>
          <p:cNvPr id="3" name="Answer bullets">
            <a:extLst xmlns:a="http://schemas.openxmlformats.org/drawingml/2006/main">
              <a:ext uri="{FF2B5EF4-FFF2-40B4-BE49-F238E27FC236}">
                <a16:creationId xmlns:a16="http://schemas.microsoft.com/office/drawing/2014/main" id="{B74BDE72-5F63-4C8F-9757-9F6349F45C6D}"/>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How: monitored validation loss while updating weights using training examples only</a:t>
            </a:r>
          </a:p>
          <a:p xmlns:a="http://schemas.openxmlformats.org/drawingml/2006/main">
            <a:pPr marL="228600" indent="-114300">
              <a:spcAft>
                <a:spcPts val="1800"/>
              </a:spcAft>
              <a:buChar char="•"/>
              <a:defRPr sz="2325" b="0">
                <a:solidFill>
                  <a:srgbClr val="152C3B"/>
                </a:solidFill>
                <a:latin typeface="Arial"/>
                <a:ea typeface="Arial"/>
                <a:cs typeface="Arial"/>
              </a:defRPr>
            </a:pPr>
            <a:r>
              <a:t>Allowed at most 200 epochs and stopped after 25 epochs without sufficient validation improvement</a:t>
            </a:r>
          </a:p>
          <a:p xmlns:a="http://schemas.openxmlformats.org/drawingml/2006/main">
            <a:pPr marL="228600" indent="-114300">
              <a:spcAft>
                <a:spcPts val="1800"/>
              </a:spcAft>
              <a:buChar char="•"/>
              <a:defRPr sz="2325" b="0">
                <a:solidFill>
                  <a:srgbClr val="152C3B"/>
                </a:solidFill>
                <a:latin typeface="Arial"/>
                <a:ea typeface="Arial"/>
                <a:cs typeface="Arial"/>
              </a:defRPr>
            </a:pPr>
            <a:r>
              <a:t>In the primary seed zero run, trained 44 epochs and restored epoch 19</a:t>
            </a:r>
          </a:p>
          <a:p xmlns:a="http://schemas.openxmlformats.org/drawingml/2006/main">
            <a:pPr marL="228600" indent="-114300">
              <a:spcAft>
                <a:spcPts val="1800"/>
              </a:spcAft>
              <a:buChar char="•"/>
              <a:defRPr sz="2325" b="0">
                <a:solidFill>
                  <a:srgbClr val="152C3B"/>
                </a:solidFill>
                <a:latin typeface="Arial"/>
                <a:ea typeface="Arial"/>
                <a:cs typeface="Arial"/>
              </a:defRPr>
            </a:pPr>
            <a:r>
              <a:t>Why: keep the best validation checkpoint; dropout was disabled for validation and inference</a:t>
            </a:r>
          </a:p>
        </p:txBody>
      </p:sp>
    </p:spTree>
    <p:extLst>
      <p:ext uri="{BB962C8B-B14F-4D97-AF65-F5344CB8AC3E}">
        <p14:creationId xmlns:p14="http://schemas.microsoft.com/office/powerpoint/2010/main" val="133833880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36">
            <a:extLst xmlns:a="http://schemas.openxmlformats.org/drawingml/2006/main">
              <a:ext uri="{FF2B5EF4-FFF2-40B4-BE49-F238E27FC236}">
                <a16:creationId xmlns:a16="http://schemas.microsoft.com/office/drawing/2014/main" id="{727F6E93-6745-4ABD-A7AA-423D086ED7BD}"/>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check that the corrections actually worked?</a:t>
            </a:r>
          </a:p>
        </p:txBody>
      </p:sp>
      <p:sp>
        <p:nvSpPr>
          <p:cNvPr id="3" name="Answer bullets">
            <a:extLst xmlns:a="http://schemas.openxmlformats.org/drawingml/2006/main">
              <a:ext uri="{FF2B5EF4-FFF2-40B4-BE49-F238E27FC236}">
                <a16:creationId xmlns:a16="http://schemas.microsoft.com/office/drawing/2014/main" id="{71871030-00BD-4108-987E-F43C2D6E017C}"/>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Tested that synthetic future and anchor states were excluded from extraction</a:t>
            </a:r>
          </a:p>
          <a:p xmlns:a="http://schemas.openxmlformats.org/drawingml/2006/main">
            <a:pPr marL="228600" indent="-114300">
              <a:spcAft>
                <a:spcPts val="1800"/>
              </a:spcAft>
              <a:buChar char="•"/>
              <a:defRPr sz="2325" b="0">
                <a:solidFill>
                  <a:srgbClr val="152C3B"/>
                </a:solidFill>
                <a:latin typeface="Arial"/>
                <a:ea typeface="Arial"/>
                <a:cs typeface="Arial"/>
              </a:defRPr>
            </a:pPr>
            <a:r>
              <a:t>Checked a known corner path and verified that a death prevented a coarse connection</a:t>
            </a:r>
          </a:p>
          <a:p xmlns:a="http://schemas.openxmlformats.org/drawingml/2006/main">
            <a:pPr marL="228600" indent="-114300">
              <a:spcAft>
                <a:spcPts val="1800"/>
              </a:spcAft>
              <a:buChar char="•"/>
              <a:defRPr sz="2325" b="0">
                <a:solidFill>
                  <a:srgbClr val="152C3B"/>
                </a:solidFill>
                <a:latin typeface="Arial"/>
                <a:ea typeface="Arial"/>
                <a:cs typeface="Arial"/>
              </a:defRPr>
            </a:pPr>
            <a:r>
              <a:t>Validated draft and winner field consistency, active match eligibility and unchanged partition fingerprint</a:t>
            </a:r>
          </a:p>
          <a:p xmlns:a="http://schemas.openxmlformats.org/drawingml/2006/main">
            <a:pPr marL="228600" indent="-114300">
              <a:spcAft>
                <a:spcPts val="1800"/>
              </a:spcAft>
              <a:buChar char="•"/>
              <a:defRPr sz="2325" b="0">
                <a:solidFill>
                  <a:srgbClr val="152C3B"/>
                </a:solidFill>
                <a:latin typeface="Arial"/>
                <a:ea typeface="Arial"/>
                <a:cs typeface="Arial"/>
              </a:defRPr>
            </a:pPr>
            <a:r>
              <a:t>Why: test the extraction rules before trusting model scores; these checks still do not provide independent ground truth</a:t>
            </a:r>
          </a:p>
        </p:txBody>
      </p:sp>
    </p:spTree>
    <p:extLst>
      <p:ext uri="{BB962C8B-B14F-4D97-AF65-F5344CB8AC3E}">
        <p14:creationId xmlns:p14="http://schemas.microsoft.com/office/powerpoint/2010/main" val="84692344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37">
            <a:extLst xmlns:a="http://schemas.openxmlformats.org/drawingml/2006/main">
              <a:ext uri="{FF2B5EF4-FFF2-40B4-BE49-F238E27FC236}">
                <a16:creationId xmlns:a16="http://schemas.microsoft.com/office/drawing/2014/main" id="{53106C87-B60D-4E50-8031-C435FA4688E7}"/>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When did I evaluate the final models?</a:t>
            </a:r>
          </a:p>
        </p:txBody>
      </p:sp>
      <p:sp>
        <p:nvSpPr>
          <p:cNvPr id="3" name="Answer bullets">
            <a:extLst xmlns:a="http://schemas.openxmlformats.org/drawingml/2006/main">
              <a:ext uri="{FF2B5EF4-FFF2-40B4-BE49-F238E27FC236}">
                <a16:creationId xmlns:a16="http://schemas.microsoft.com/office/drawing/2014/main" id="{B1947E5D-F2AD-46C4-99B0-1F2AAE871C67}"/>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Did: finished development checks and froze the analysis protocol first</a:t>
            </a:r>
          </a:p>
          <a:p xmlns:a="http://schemas.openxmlformats.org/drawingml/2006/main">
            <a:pPr marL="228600" indent="-114300">
              <a:spcAft>
                <a:spcPts val="1800"/>
              </a:spcAft>
              <a:buChar char="•"/>
              <a:defRPr sz="2325" b="0">
                <a:solidFill>
                  <a:srgbClr val="152C3B"/>
                </a:solidFill>
                <a:latin typeface="Arial"/>
                <a:ea typeface="Arial"/>
                <a:cs typeface="Arial"/>
              </a:defRPr>
            </a:pPr>
            <a:r>
              <a:t>Specified the primary comparison, calibration reporting and uncertainty summaries</a:t>
            </a:r>
          </a:p>
          <a:p xmlns:a="http://schemas.openxmlformats.org/drawingml/2006/main">
            <a:pPr marL="228600" indent="-114300">
              <a:spcAft>
                <a:spcPts val="1800"/>
              </a:spcAft>
              <a:buChar char="•"/>
              <a:defRPr sz="2325" b="0">
                <a:solidFill>
                  <a:srgbClr val="152C3B"/>
                </a:solidFill>
                <a:latin typeface="Arial"/>
                <a:ea typeface="Arial"/>
                <a:cs typeface="Arial"/>
              </a:defRPr>
            </a:pPr>
            <a:r>
              <a:t>Evaluated the final period once; saved predictions support later summaries</a:t>
            </a:r>
          </a:p>
          <a:p xmlns:a="http://schemas.openxmlformats.org/drawingml/2006/main">
            <a:pPr marL="228600" indent="-114300">
              <a:spcAft>
                <a:spcPts val="1800"/>
              </a:spcAft>
              <a:buChar char="•"/>
              <a:defRPr sz="2325" b="0">
                <a:solidFill>
                  <a:srgbClr val="152C3B"/>
                </a:solidFill>
                <a:latin typeface="Arial"/>
                <a:ea typeface="Arial"/>
                <a:cs typeface="Arial"/>
              </a:defRPr>
            </a:pPr>
            <a:r>
              <a:t>Why: final outcomes must not guide model selection or the choice of reported adjustment</a:t>
            </a:r>
          </a:p>
          <a:p xmlns:a="http://schemas.openxmlformats.org/drawingml/2006/main">
            <a:pPr marL="228600" indent="-114300">
              <a:spcAft>
                <a:spcPts val="1800"/>
              </a:spcAft>
              <a:buChar char="•"/>
              <a:defRPr sz="2325" b="0">
                <a:solidFill>
                  <a:srgbClr val="152C3B"/>
                </a:solidFill>
                <a:latin typeface="Arial"/>
                <a:ea typeface="Arial"/>
                <a:cs typeface="Arial"/>
              </a:defRPr>
            </a:pPr>
            <a:r>
              <a:t>Source integrity checks used metadata earlier; they did not choose the fitted models</a:t>
            </a:r>
          </a:p>
        </p:txBody>
      </p:sp>
    </p:spTree>
    <p:extLst>
      <p:ext uri="{BB962C8B-B14F-4D97-AF65-F5344CB8AC3E}">
        <p14:creationId xmlns:p14="http://schemas.microsoft.com/office/powerpoint/2010/main" val="79351850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38">
            <a:extLst xmlns:a="http://schemas.openxmlformats.org/drawingml/2006/main">
              <a:ext uri="{FF2B5EF4-FFF2-40B4-BE49-F238E27FC236}">
                <a16:creationId xmlns:a16="http://schemas.microsoft.com/office/drawing/2014/main" id="{10AFFDD2-3809-4DE7-9BF1-82B773A8B91E}"/>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A1: Could I adapt the neural prediction workflow?</a:t>
            </a:r>
          </a:p>
        </p:txBody>
      </p:sp>
      <p:sp>
        <p:nvSpPr>
          <p:cNvPr id="3" name="Answer bullets">
            <a:extLst xmlns:a="http://schemas.openxmlformats.org/drawingml/2006/main">
              <a:ext uri="{FF2B5EF4-FFF2-40B4-BE49-F238E27FC236}">
                <a16:creationId xmlns:a16="http://schemas.microsoft.com/office/drawing/2014/main" id="{FF6AD02E-2BAD-495E-972C-07CE9BF128CC}"/>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Did: used two hidden layers of 64 units, with dropout and early stopping</a:t>
            </a:r>
          </a:p>
          <a:p xmlns:a="http://schemas.openxmlformats.org/drawingml/2006/main">
            <a:pPr marL="228600" indent="-114300">
              <a:spcAft>
                <a:spcPts val="1600"/>
              </a:spcAft>
              <a:buChar char="•"/>
              <a:defRPr sz="2100" b="0">
                <a:solidFill>
                  <a:srgbClr val="152C3B"/>
                </a:solidFill>
                <a:latin typeface="Arial"/>
                <a:ea typeface="Arial"/>
                <a:cs typeface="Arial"/>
              </a:defRPr>
            </a:pPr>
            <a:r>
              <a:t>Why: establish a reference before the reliability checks</a:t>
            </a:r>
          </a:p>
          <a:p xmlns:a="http://schemas.openxmlformats.org/drawingml/2006/main">
            <a:pPr marL="228600" indent="-114300">
              <a:spcAft>
                <a:spcPts val="1600"/>
              </a:spcAft>
              <a:buChar char="•"/>
              <a:defRPr sz="2100" b="0">
                <a:solidFill>
                  <a:srgbClr val="152C3B"/>
                </a:solidFill>
                <a:latin typeface="Arial"/>
                <a:ea typeface="Arial"/>
                <a:cs typeface="Arial"/>
              </a:defRPr>
            </a:pPr>
            <a:r>
              <a:t>Final ROC AUC at 20 minutes: 0.8149; seed SD 0.0020</a:t>
            </a:r>
          </a:p>
          <a:p xmlns:a="http://schemas.openxmlformats.org/drawingml/2006/main">
            <a:pPr marL="228600" indent="-114300">
              <a:spcAft>
                <a:spcPts val="1600"/>
              </a:spcAft>
              <a:buChar char="•"/>
              <a:defRPr sz="2100" b="0">
                <a:solidFill>
                  <a:srgbClr val="152C3B"/>
                </a:solidFill>
                <a:latin typeface="Arial"/>
                <a:ea typeface="Arial"/>
                <a:cs typeface="Arial"/>
              </a:defRPr>
            </a:pPr>
            <a:r>
              <a:t>This reproduces a workflow idea on Dota, not the published LoL result</a:t>
            </a:r>
          </a:p>
        </p:txBody>
      </p:sp>
      <p:pic>
        <p:nvPicPr>
          <p:cNvPr id="4" name="">
            <a:extLst xmlns:a="http://schemas.openxmlformats.org/drawingml/2006/main">
              <a:ext uri="{FF2B5EF4-FFF2-40B4-BE49-F238E27FC236}">
                <a16:creationId xmlns:a16="http://schemas.microsoft.com/office/drawing/2014/main" id="{7D56C5F1-CC25-4E88-93A6-D1720F6237E9}"/>
              </a:ext>
            </a:extLst>
          </p:cNvPr>
          <p:cNvPicPr>
            <a:picLocks xmlns:a="http://schemas.openxmlformats.org/drawingml/2006/main" noChangeAspect="1"/>
          </p:cNvPicPr>
          <p:nvPr/>
        </p:nvPicPr>
        <p:blipFill>
          <a:blip xmlns:r="http://schemas.openxmlformats.org/officeDocument/2006/relationships" xmlns:a="http://schemas.openxmlformats.org/drawingml/2006/main" r:embed="R78685254ae6e45e7"/>
          <a:stretch xmlns:a="http://schemas.openxmlformats.org/drawingml/2006/main"/>
        </p:blipFill>
        <p:spPr>
          <a:xfrm xmlns:a="http://schemas.openxmlformats.org/drawingml/2006/main">
            <a:off x="552450" y="2196495"/>
            <a:ext cx="6858000" cy="3322261"/>
          </a:xfrm>
          <a:prstGeom xmlns:a="http://schemas.openxmlformats.org/drawingml/2006/main" prst="rect">
            <a:avLst/>
          </a:prstGeom>
        </p:spPr>
      </p:pic>
    </p:spTree>
    <p:extLst>
      <p:ext uri="{BB962C8B-B14F-4D97-AF65-F5344CB8AC3E}">
        <p14:creationId xmlns:p14="http://schemas.microsoft.com/office/powerpoint/2010/main" val="166859929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39">
            <a:extLst xmlns:a="http://schemas.openxmlformats.org/drawingml/2006/main">
              <a:ext uri="{FF2B5EF4-FFF2-40B4-BE49-F238E27FC236}">
                <a16:creationId xmlns:a16="http://schemas.microsoft.com/office/drawing/2014/main" id="{706F6A9C-E817-4178-9749-7CAB1639C351}"/>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A2: Which statistics contributed to predictions?</a:t>
            </a:r>
          </a:p>
        </p:txBody>
      </p:sp>
      <p:sp>
        <p:nvSpPr>
          <p:cNvPr id="3" name="Answer bullets">
            <a:extLst xmlns:a="http://schemas.openxmlformats.org/drawingml/2006/main">
              <a:ext uri="{FF2B5EF4-FFF2-40B4-BE49-F238E27FC236}">
                <a16:creationId xmlns:a16="http://schemas.microsoft.com/office/drawing/2014/main" id="{1D605684-2165-412F-88D9-4F9D147C3973}"/>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Did: explained development predictions with SHAP</a:t>
            </a:r>
          </a:p>
          <a:p xmlns:a="http://schemas.openxmlformats.org/drawingml/2006/main">
            <a:pPr marL="228600" indent="-114300">
              <a:spcAft>
                <a:spcPts val="1600"/>
              </a:spcAft>
              <a:buChar char="•"/>
              <a:defRPr sz="2100" b="0">
                <a:solidFill>
                  <a:srgbClr val="152C3B"/>
                </a:solidFill>
                <a:latin typeface="Arial"/>
                <a:ea typeface="Arial"/>
                <a:cs typeface="Arial"/>
              </a:defRPr>
            </a:pPr>
            <a:r>
              <a:t>Why: see which inputs the fitted model uses</a:t>
            </a:r>
          </a:p>
          <a:p xmlns:a="http://schemas.openxmlformats.org/drawingml/2006/main">
            <a:pPr marL="228600" indent="-114300">
              <a:spcAft>
                <a:spcPts val="1600"/>
              </a:spcAft>
              <a:buChar char="•"/>
              <a:defRPr sz="2100" b="0">
                <a:solidFill>
                  <a:srgbClr val="152C3B"/>
                </a:solidFill>
                <a:latin typeface="Arial"/>
                <a:ea typeface="Arial"/>
                <a:cs typeface="Arial"/>
              </a:defRPr>
            </a:pPr>
            <a:r>
              <a:t>Net worth, experience and towers contributed prominently</a:t>
            </a:r>
          </a:p>
          <a:p xmlns:a="http://schemas.openxmlformats.org/drawingml/2006/main">
            <a:pPr marL="228600" indent="-114300">
              <a:spcAft>
                <a:spcPts val="1600"/>
              </a:spcAft>
              <a:buChar char="•"/>
              <a:defRPr sz="2100" b="0">
                <a:solidFill>
                  <a:srgbClr val="152C3B"/>
                </a:solidFill>
                <a:latin typeface="Arial"/>
                <a:ea typeface="Arial"/>
                <a:cs typeface="Arial"/>
              </a:defRPr>
            </a:pPr>
            <a:r>
              <a:t>Predictive association does not establish a cause of winning</a:t>
            </a:r>
          </a:p>
        </p:txBody>
      </p:sp>
      <p:graphicFrame>
        <p:nvGraphicFramePr>
          <p:cNvPr id="4" name="Chart">
            <a:extLst xmlns:a="http://schemas.openxmlformats.org/drawingml/2006/main">
              <a:ext uri="{FF2B5EF4-FFF2-40B4-BE49-F238E27FC236}">
                <a16:creationId xmlns:a16="http://schemas.microsoft.com/office/drawing/2014/main" id="{25027CFA-51A4-46D6-9E0A-4FE3F4AEE979}"/>
              </a:ext>
            </a:extLst>
          </p:cNvPr>
          <p:cNvGraphicFramePr/>
          <p:nvPr/>
        </p:nvGraphicFramePr>
        <p:xfrm>
          <a:off xmlns:a="http://schemas.openxmlformats.org/drawingml/2006/main" x="552450" y="1714500"/>
          <a:ext xmlns:a="http://schemas.openxmlformats.org/drawingml/2006/main" cx="6858000" cy="4286250"/>
        </p:xfrm>
        <a:graphic xmlns:a="http://schemas.openxmlformats.org/drawingml/2006/main">
          <a:graphicData uri="http://schemas.openxmlformats.org/drawingml/2006/chart">
            <c:chart xmlns:r="http://schemas.openxmlformats.org/officeDocument/2006/relationships" xmlns:c="http://schemas.openxmlformats.org/drawingml/2006/chart" r:id="R76033905be8c4cee"/>
          </a:graphicData>
        </a:graphic>
      </p:graphicFrame>
    </p:spTree>
    <p:extLst>
      <p:ext uri="{BB962C8B-B14F-4D97-AF65-F5344CB8AC3E}">
        <p14:creationId xmlns:p14="http://schemas.microsoft.com/office/powerpoint/2010/main" val="59879958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40">
            <a:extLst xmlns:a="http://schemas.openxmlformats.org/drawingml/2006/main">
              <a:ext uri="{FF2B5EF4-FFF2-40B4-BE49-F238E27FC236}">
                <a16:creationId xmlns:a16="http://schemas.microsoft.com/office/drawing/2014/main" id="{3D420BE0-121C-4F9A-8478-B353CE6D64A2}"/>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were SHAP explanations calculated?</a:t>
            </a:r>
          </a:p>
        </p:txBody>
      </p:sp>
      <p:sp>
        <p:nvSpPr>
          <p:cNvPr id="3" name="Answer bullets">
            <a:extLst xmlns:a="http://schemas.openxmlformats.org/drawingml/2006/main">
              <a:ext uri="{FF2B5EF4-FFF2-40B4-BE49-F238E27FC236}">
                <a16:creationId xmlns:a16="http://schemas.microsoft.com/office/drawing/2014/main" id="{45627005-A1EF-4CCD-B9A9-6C34C513A545}"/>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How: used 64 training rows as a common background and 256 validation matches for explanation</a:t>
            </a:r>
          </a:p>
          <a:p xmlns:a="http://schemas.openxmlformats.org/drawingml/2006/main">
            <a:pPr marL="228600" indent="-114300">
              <a:spcAft>
                <a:spcPts val="1800"/>
              </a:spcAft>
              <a:buChar char="•"/>
              <a:defRPr sz="2325" b="0">
                <a:solidFill>
                  <a:srgbClr val="152C3B"/>
                </a:solidFill>
                <a:latin typeface="Arial"/>
                <a:ea typeface="Arial"/>
                <a:cs typeface="Arial"/>
              </a:defRPr>
            </a:pPr>
            <a:r>
              <a:t>Computed a contribution for every feature and explained match</a:t>
            </a:r>
          </a:p>
          <a:p xmlns:a="http://schemas.openxmlformats.org/drawingml/2006/main">
            <a:pPr marL="228600" indent="-114300">
              <a:spcAft>
                <a:spcPts val="1800"/>
              </a:spcAft>
              <a:buChar char="•"/>
              <a:defRPr sz="2325" b="0">
                <a:solidFill>
                  <a:srgbClr val="152C3B"/>
                </a:solidFill>
                <a:latin typeface="Arial"/>
                <a:ea typeface="Arial"/>
                <a:cs typeface="Arial"/>
              </a:defRPr>
            </a:pPr>
            <a:r>
              <a:t>Averaged absolute contributions to describe global influence, then ranked larger values first</a:t>
            </a:r>
          </a:p>
          <a:p xmlns:a="http://schemas.openxmlformats.org/drawingml/2006/main">
            <a:pPr marL="228600" indent="-114300">
              <a:spcAft>
                <a:spcPts val="1800"/>
              </a:spcAft>
              <a:buChar char="•"/>
              <a:defRPr sz="2325" b="0">
                <a:solidFill>
                  <a:srgbClr val="152C3B"/>
                </a:solidFill>
                <a:latin typeface="Arial"/>
                <a:ea typeface="Arial"/>
                <a:cs typeface="Arial"/>
              </a:defRPr>
            </a:pPr>
            <a:r>
              <a:t>Why: explain the fitted prediction function; linear, tree and deep explainers matched the respective models</a:t>
            </a:r>
          </a:p>
        </p:txBody>
      </p:sp>
    </p:spTree>
    <p:extLst>
      <p:ext uri="{BB962C8B-B14F-4D97-AF65-F5344CB8AC3E}">
        <p14:creationId xmlns:p14="http://schemas.microsoft.com/office/powerpoint/2010/main" val="211713625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41">
            <a:extLst xmlns:a="http://schemas.openxmlformats.org/drawingml/2006/main">
              <a:ext uri="{FF2B5EF4-FFF2-40B4-BE49-F238E27FC236}">
                <a16:creationId xmlns:a16="http://schemas.microsoft.com/office/drawing/2014/main" id="{FE7B52FE-F368-44E4-96D8-8B23CB5EB30A}"/>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Why did I compare ranks rather than raw SHAP sizes?</a:t>
            </a:r>
          </a:p>
        </p:txBody>
      </p:sp>
      <p:sp>
        <p:nvSpPr>
          <p:cNvPr id="3" name="Answer bullets">
            <a:extLst xmlns:a="http://schemas.openxmlformats.org/drawingml/2006/main">
              <a:ext uri="{FF2B5EF4-FFF2-40B4-BE49-F238E27FC236}">
                <a16:creationId xmlns:a16="http://schemas.microsoft.com/office/drawing/2014/main" id="{80A64FA1-09C3-4092-889D-D007C134AE5E}"/>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Forest explanations used probability units; logistic and neural outputs used log odds or logits</a:t>
            </a:r>
          </a:p>
          <a:p xmlns:a="http://schemas.openxmlformats.org/drawingml/2006/main">
            <a:pPr marL="228600" indent="-114300">
              <a:spcAft>
                <a:spcPts val="1800"/>
              </a:spcAft>
              <a:buChar char="•"/>
              <a:defRPr sz="2325" b="0">
                <a:solidFill>
                  <a:srgbClr val="152C3B"/>
                </a:solidFill>
                <a:latin typeface="Arial"/>
                <a:ea typeface="Arial"/>
                <a:cs typeface="Arial"/>
              </a:defRPr>
            </a:pPr>
            <a:r>
              <a:t>Comparing those magnitudes directly would mix different scales</a:t>
            </a:r>
          </a:p>
          <a:p xmlns:a="http://schemas.openxmlformats.org/drawingml/2006/main">
            <a:pPr marL="228600" indent="-114300">
              <a:spcAft>
                <a:spcPts val="1800"/>
              </a:spcAft>
              <a:buChar char="•"/>
              <a:defRPr sz="2325" b="0">
                <a:solidFill>
                  <a:srgbClr val="152C3B"/>
                </a:solidFill>
                <a:latin typeface="Arial"/>
                <a:ea typeface="Arial"/>
                <a:cs typeface="Arial"/>
              </a:defRPr>
            </a:pPr>
            <a:r>
              <a:t>Compared feature order across model families and treated dependent predictors cautiously</a:t>
            </a:r>
          </a:p>
          <a:p xmlns:a="http://schemas.openxmlformats.org/drawingml/2006/main">
            <a:pPr marL="228600" indent="-114300">
              <a:spcAft>
                <a:spcPts val="1800"/>
              </a:spcAft>
              <a:buChar char="•"/>
              <a:defRPr sz="2325" b="0">
                <a:solidFill>
                  <a:srgbClr val="152C3B"/>
                </a:solidFill>
                <a:latin typeface="Arial"/>
                <a:ea typeface="Arial"/>
                <a:cs typeface="Arial"/>
              </a:defRPr>
            </a:pPr>
            <a:r>
              <a:t>Why: correlated economy, experience and combat measurements can share attribution; a stable rank is still not causal</a:t>
            </a:r>
          </a:p>
        </p:txBody>
      </p:sp>
    </p:spTree>
    <p:extLst>
      <p:ext uri="{BB962C8B-B14F-4D97-AF65-F5344CB8AC3E}">
        <p14:creationId xmlns:p14="http://schemas.microsoft.com/office/powerpoint/2010/main" val="1646362494"/>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42">
            <a:extLst xmlns:a="http://schemas.openxmlformats.org/drawingml/2006/main">
              <a:ext uri="{FF2B5EF4-FFF2-40B4-BE49-F238E27FC236}">
                <a16:creationId xmlns:a16="http://schemas.microsoft.com/office/drawing/2014/main" id="{2E82CB5F-BD96-44C9-A571-9016ED030654}"/>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A3: Did KPI rankings change during a match?</a:t>
            </a:r>
          </a:p>
        </p:txBody>
      </p:sp>
      <p:sp>
        <p:nvSpPr>
          <p:cNvPr id="3" name="Answer bullets">
            <a:extLst xmlns:a="http://schemas.openxmlformats.org/drawingml/2006/main">
              <a:ext uri="{FF2B5EF4-FFF2-40B4-BE49-F238E27FC236}">
                <a16:creationId xmlns:a16="http://schemas.microsoft.com/office/drawing/2014/main" id="{9AE1AA67-4EA5-4F9B-945D-80C0A80D6548}"/>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Compared neural ranks at 10, 20 and 30 minutes</a:t>
            </a:r>
          </a:p>
          <a:p xmlns:a="http://schemas.openxmlformats.org/drawingml/2006/main">
            <a:pPr marL="228600" indent="-114300">
              <a:spcAft>
                <a:spcPts val="1600"/>
              </a:spcAft>
              <a:buChar char="•"/>
              <a:defRPr sz="2100" b="0">
                <a:solidFill>
                  <a:srgbClr val="152C3B"/>
                </a:solidFill>
                <a:latin typeface="Arial"/>
                <a:ea typeface="Arial"/>
                <a:cs typeface="Arial"/>
              </a:defRPr>
            </a:pPr>
            <a:r>
              <a:t>Why: game state may change a feature’s relevance</a:t>
            </a:r>
          </a:p>
          <a:p xmlns:a="http://schemas.openxmlformats.org/drawingml/2006/main">
            <a:pPr marL="228600" indent="-114300">
              <a:spcAft>
                <a:spcPts val="1600"/>
              </a:spcAft>
              <a:buChar char="•"/>
              <a:defRPr sz="2100" b="0">
                <a:solidFill>
                  <a:srgbClr val="152C3B"/>
                </a:solidFill>
                <a:latin typeface="Arial"/>
                <a:ea typeface="Arial"/>
                <a:cs typeface="Arial"/>
              </a:defRPr>
            </a:pPr>
            <a:r>
              <a:t>Net worth stayed prominent</a:t>
            </a:r>
          </a:p>
          <a:p xmlns:a="http://schemas.openxmlformats.org/drawingml/2006/main">
            <a:pPr marL="228600" indent="-114300">
              <a:spcAft>
                <a:spcPts val="1600"/>
              </a:spcAft>
              <a:buChar char="•"/>
              <a:defRPr sz="2100" b="0">
                <a:solidFill>
                  <a:srgbClr val="152C3B"/>
                </a:solidFill>
                <a:latin typeface="Arial"/>
                <a:ea typeface="Arial"/>
                <a:cs typeface="Arial"/>
              </a:defRPr>
            </a:pPr>
            <a:r>
              <a:t>Towers and survival changed rank; cohorts also differed</a:t>
            </a:r>
          </a:p>
        </p:txBody>
      </p:sp>
      <p:graphicFrame>
        <p:nvGraphicFramePr>
          <p:cNvPr id="4" name="Chart">
            <a:extLst xmlns:a="http://schemas.openxmlformats.org/drawingml/2006/main">
              <a:ext uri="{FF2B5EF4-FFF2-40B4-BE49-F238E27FC236}">
                <a16:creationId xmlns:a16="http://schemas.microsoft.com/office/drawing/2014/main" id="{F2AB7794-89F1-47A9-B788-B81959A9AFAF}"/>
              </a:ext>
            </a:extLst>
          </p:cNvPr>
          <p:cNvGraphicFramePr/>
          <p:nvPr/>
        </p:nvGraphicFramePr>
        <p:xfrm>
          <a:off xmlns:a="http://schemas.openxmlformats.org/drawingml/2006/main" x="552450" y="1714500"/>
          <a:ext xmlns:a="http://schemas.openxmlformats.org/drawingml/2006/main" cx="6858000" cy="4286250"/>
        </p:xfrm>
        <a:graphic xmlns:a="http://schemas.openxmlformats.org/drawingml/2006/main">
          <a:graphicData uri="http://schemas.openxmlformats.org/drawingml/2006/chart">
            <c:chart xmlns:r="http://schemas.openxmlformats.org/officeDocument/2006/relationships" xmlns:c="http://schemas.openxmlformats.org/drawingml/2006/chart" r:id="R74a6798e94b84deb"/>
          </a:graphicData>
        </a:graphic>
      </p:graphicFrame>
    </p:spTree>
    <p:extLst>
      <p:ext uri="{BB962C8B-B14F-4D97-AF65-F5344CB8AC3E}">
        <p14:creationId xmlns:p14="http://schemas.microsoft.com/office/powerpoint/2010/main" val="60920868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43">
            <a:extLst xmlns:a="http://schemas.openxmlformats.org/drawingml/2006/main">
              <a:ext uri="{FF2B5EF4-FFF2-40B4-BE49-F238E27FC236}">
                <a16:creationId xmlns:a16="http://schemas.microsoft.com/office/drawing/2014/main" id="{B3D2EEDC-218F-4D77-844E-1E088A110EFB}"/>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B1: Did the neural model beat simpler models?</a:t>
            </a:r>
          </a:p>
        </p:txBody>
      </p:sp>
      <p:sp>
        <p:nvSpPr>
          <p:cNvPr id="3" name="Answer bullets">
            <a:extLst xmlns:a="http://schemas.openxmlformats.org/drawingml/2006/main">
              <a:ext uri="{FF2B5EF4-FFF2-40B4-BE49-F238E27FC236}">
                <a16:creationId xmlns:a16="http://schemas.microsoft.com/office/drawing/2014/main" id="{68A485F0-44C5-4D13-A3F4-D1428B9AEA67}"/>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Did: compared all models on identical eligible matches and features</a:t>
            </a:r>
          </a:p>
          <a:p xmlns:a="http://schemas.openxmlformats.org/drawingml/2006/main">
            <a:pPr marL="228600" indent="-114300">
              <a:spcAft>
                <a:spcPts val="1600"/>
              </a:spcAft>
              <a:buChar char="•"/>
              <a:defRPr sz="2100" b="0">
                <a:solidFill>
                  <a:srgbClr val="152C3B"/>
                </a:solidFill>
                <a:latin typeface="Arial"/>
                <a:ea typeface="Arial"/>
                <a:cs typeface="Arial"/>
              </a:defRPr>
            </a:pPr>
            <a:r>
              <a:t>Why: distinguish information in the data from dependence on one model</a:t>
            </a:r>
          </a:p>
          <a:p xmlns:a="http://schemas.openxmlformats.org/drawingml/2006/main">
            <a:pPr marL="228600" indent="-114300">
              <a:spcAft>
                <a:spcPts val="1600"/>
              </a:spcAft>
              <a:buChar char="•"/>
              <a:defRPr sz="2100" b="0">
                <a:solidFill>
                  <a:srgbClr val="152C3B"/>
                </a:solidFill>
                <a:latin typeface="Arial"/>
                <a:ea typeface="Arial"/>
                <a:cs typeface="Arial"/>
              </a:defRPr>
            </a:pPr>
            <a:r>
              <a:t>Logistic AUC 0.8213; neural AUC 0.8149</a:t>
            </a:r>
          </a:p>
          <a:p xmlns:a="http://schemas.openxmlformats.org/drawingml/2006/main">
            <a:pPr marL="228600" indent="-114300">
              <a:spcAft>
                <a:spcPts val="1600"/>
              </a:spcAft>
              <a:buChar char="•"/>
              <a:defRPr sz="2100" b="0">
                <a:solidFill>
                  <a:srgbClr val="152C3B"/>
                </a:solidFill>
                <a:latin typeface="Arial"/>
                <a:ea typeface="Arial"/>
                <a:cs typeface="Arial"/>
              </a:defRPr>
            </a:pPr>
            <a:r>
              <a:t>The advantage is small and conditional on these fixed settings</a:t>
            </a:r>
          </a:p>
        </p:txBody>
      </p:sp>
      <p:graphicFrame>
        <p:nvGraphicFramePr>
          <p:cNvPr id="4" name="Chart">
            <a:extLst xmlns:a="http://schemas.openxmlformats.org/drawingml/2006/main">
              <a:ext uri="{FF2B5EF4-FFF2-40B4-BE49-F238E27FC236}">
                <a16:creationId xmlns:a16="http://schemas.microsoft.com/office/drawing/2014/main" id="{DD6DEC58-61C6-4228-B479-07E2C01A39CA}"/>
              </a:ext>
            </a:extLst>
          </p:cNvPr>
          <p:cNvGraphicFramePr/>
          <p:nvPr/>
        </p:nvGraphicFramePr>
        <p:xfrm>
          <a:off xmlns:a="http://schemas.openxmlformats.org/drawingml/2006/main" x="552450" y="1714500"/>
          <a:ext xmlns:a="http://schemas.openxmlformats.org/drawingml/2006/main" cx="6858000" cy="4286250"/>
        </p:xfrm>
        <a:graphic xmlns:a="http://schemas.openxmlformats.org/drawingml/2006/main">
          <a:graphicData uri="http://schemas.openxmlformats.org/drawingml/2006/chart">
            <c:chart xmlns:r="http://schemas.openxmlformats.org/officeDocument/2006/relationships" xmlns:c="http://schemas.openxmlformats.org/drawingml/2006/chart" r:id="Rb4f058b119b9484c"/>
          </a:graphicData>
        </a:graphic>
      </p:graphicFrame>
    </p:spTree>
    <p:extLst>
      <p:ext uri="{BB962C8B-B14F-4D97-AF65-F5344CB8AC3E}">
        <p14:creationId xmlns:p14="http://schemas.microsoft.com/office/powerpoint/2010/main" val="1298300181"/>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44">
            <a:extLst xmlns:a="http://schemas.openxmlformats.org/drawingml/2006/main">
              <a:ext uri="{FF2B5EF4-FFF2-40B4-BE49-F238E27FC236}">
                <a16:creationId xmlns:a16="http://schemas.microsoft.com/office/drawing/2014/main" id="{B5424C2B-421B-4B6A-B017-3FF9ED1D59E2}"/>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Did prediction improve at later times?</a:t>
            </a:r>
          </a:p>
        </p:txBody>
      </p:sp>
      <p:sp>
        <p:nvSpPr>
          <p:cNvPr id="3" name="Answer bullets">
            <a:extLst xmlns:a="http://schemas.openxmlformats.org/drawingml/2006/main">
              <a:ext uri="{FF2B5EF4-FFF2-40B4-BE49-F238E27FC236}">
                <a16:creationId xmlns:a16="http://schemas.microsoft.com/office/drawing/2014/main" id="{141D07A4-3C1D-4D2D-888D-7C2CF3FEF3A6}"/>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Did: compared the neural model on 664 common final matches</a:t>
            </a:r>
          </a:p>
          <a:p xmlns:a="http://schemas.openxmlformats.org/drawingml/2006/main">
            <a:pPr marL="228600" indent="-114300">
              <a:spcAft>
                <a:spcPts val="1600"/>
              </a:spcAft>
              <a:buChar char="•"/>
              <a:defRPr sz="2100" b="0">
                <a:solidFill>
                  <a:srgbClr val="152C3B"/>
                </a:solidFill>
                <a:latin typeface="Arial"/>
                <a:ea typeface="Arial"/>
                <a:cs typeface="Arial"/>
              </a:defRPr>
            </a:pPr>
            <a:r>
              <a:t>Why: avoid changing match membership when comparing observation times</a:t>
            </a:r>
          </a:p>
          <a:p xmlns:a="http://schemas.openxmlformats.org/drawingml/2006/main">
            <a:pPr marL="228600" indent="-114300">
              <a:spcAft>
                <a:spcPts val="1600"/>
              </a:spcAft>
              <a:buChar char="•"/>
              <a:defRPr sz="2100" b="0">
                <a:solidFill>
                  <a:srgbClr val="152C3B"/>
                </a:solidFill>
                <a:latin typeface="Arial"/>
                <a:ea typeface="Arial"/>
                <a:cs typeface="Arial"/>
              </a:defRPr>
            </a:pPr>
            <a:r>
              <a:t>AUC increased from 0.6231 to 0.9356</a:t>
            </a:r>
          </a:p>
          <a:p xmlns:a="http://schemas.openxmlformats.org/drawingml/2006/main">
            <a:pPr marL="228600" indent="-114300">
              <a:spcAft>
                <a:spcPts val="1600"/>
              </a:spcAft>
              <a:buChar char="•"/>
              <a:defRPr sz="2100" b="0">
                <a:solidFill>
                  <a:srgbClr val="152C3B"/>
                </a:solidFill>
                <a:latin typeface="Arial"/>
                <a:ea typeface="Arial"/>
                <a:cs typeface="Arial"/>
              </a:defRPr>
            </a:pPr>
            <a:r>
              <a:t>These are selected games observed at every horizon, not all games</a:t>
            </a:r>
          </a:p>
        </p:txBody>
      </p:sp>
      <p:graphicFrame>
        <p:nvGraphicFramePr>
          <p:cNvPr id="4" name="Chart">
            <a:extLst xmlns:a="http://schemas.openxmlformats.org/drawingml/2006/main">
              <a:ext uri="{FF2B5EF4-FFF2-40B4-BE49-F238E27FC236}">
                <a16:creationId xmlns:a16="http://schemas.microsoft.com/office/drawing/2014/main" id="{B0FCDF23-6D0B-4CD7-AF4D-B2B6CB67FF87}"/>
              </a:ext>
            </a:extLst>
          </p:cNvPr>
          <p:cNvGraphicFramePr/>
          <p:nvPr/>
        </p:nvGraphicFramePr>
        <p:xfrm>
          <a:off xmlns:a="http://schemas.openxmlformats.org/drawingml/2006/main" x="552450" y="1714500"/>
          <a:ext xmlns:a="http://schemas.openxmlformats.org/drawingml/2006/main" cx="6858000" cy="4286250"/>
        </p:xfrm>
        <a:graphic xmlns:a="http://schemas.openxmlformats.org/drawingml/2006/main">
          <a:graphicData uri="http://schemas.openxmlformats.org/drawingml/2006/chart">
            <c:chart xmlns:r="http://schemas.openxmlformats.org/officeDocument/2006/relationships" xmlns:c="http://schemas.openxmlformats.org/drawingml/2006/chart" r:id="R978d97bf32814d8d"/>
          </a:graphicData>
        </a:graphic>
      </p:graphicFrame>
    </p:spTree>
    <p:extLst>
      <p:ext uri="{BB962C8B-B14F-4D97-AF65-F5344CB8AC3E}">
        <p14:creationId xmlns:p14="http://schemas.microsoft.com/office/powerpoint/2010/main" val="21127393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45">
            <a:extLst xmlns:a="http://schemas.openxmlformats.org/drawingml/2006/main">
              <a:ext uri="{FF2B5EF4-FFF2-40B4-BE49-F238E27FC236}">
                <a16:creationId xmlns:a16="http://schemas.microsoft.com/office/drawing/2014/main" id="{9AF5EC49-F40A-40FB-88D5-3BD739962D14}"/>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B2: Did calibration improve the probabilities?</a:t>
            </a:r>
          </a:p>
        </p:txBody>
      </p:sp>
      <p:sp>
        <p:nvSpPr>
          <p:cNvPr id="3" name="Answer bullets">
            <a:extLst xmlns:a="http://schemas.openxmlformats.org/drawingml/2006/main">
              <a:ext uri="{FF2B5EF4-FFF2-40B4-BE49-F238E27FC236}">
                <a16:creationId xmlns:a16="http://schemas.microsoft.com/office/drawing/2014/main" id="{C35A51F9-B0F8-4200-BCA9-13826BDA7FA8}"/>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Did: fitted temperature scaling on a separate calibration period</a:t>
            </a:r>
          </a:p>
          <a:p xmlns:a="http://schemas.openxmlformats.org/drawingml/2006/main">
            <a:pPr marL="228600" indent="-114300">
              <a:spcAft>
                <a:spcPts val="1600"/>
              </a:spcAft>
              <a:buChar char="•"/>
              <a:defRPr sz="2100" b="0">
                <a:solidFill>
                  <a:srgbClr val="152C3B"/>
                </a:solidFill>
                <a:latin typeface="Arial"/>
                <a:ea typeface="Arial"/>
                <a:cs typeface="Arial"/>
              </a:defRPr>
            </a:pPr>
            <a:r>
              <a:t>Why: good ranking does not guarantee reliable confidence</a:t>
            </a:r>
          </a:p>
          <a:p xmlns:a="http://schemas.openxmlformats.org/drawingml/2006/main">
            <a:pPr marL="228600" indent="-114300">
              <a:spcAft>
                <a:spcPts val="1600"/>
              </a:spcAft>
              <a:buChar char="•"/>
              <a:defRPr sz="2100" b="0">
                <a:solidFill>
                  <a:srgbClr val="152C3B"/>
                </a:solidFill>
                <a:latin typeface="Arial"/>
                <a:ea typeface="Arial"/>
                <a:cs typeface="Arial"/>
              </a:defRPr>
            </a:pPr>
            <a:r>
              <a:t>Reported both versions; improvement was not uniform</a:t>
            </a:r>
          </a:p>
          <a:p xmlns:a="http://schemas.openxmlformats.org/drawingml/2006/main">
            <a:pPr marL="228600" indent="-114300">
              <a:spcAft>
                <a:spcPts val="1600"/>
              </a:spcAft>
              <a:buChar char="•"/>
              <a:defRPr sz="2100" b="0">
                <a:solidFill>
                  <a:srgbClr val="152C3B"/>
                </a:solidFill>
                <a:latin typeface="Arial"/>
                <a:ea typeface="Arial"/>
                <a:cs typeface="Arial"/>
              </a:defRPr>
            </a:pPr>
            <a:r>
              <a:t>Negative Brier change is better; log loss was also recorded</a:t>
            </a:r>
          </a:p>
        </p:txBody>
      </p:sp>
      <p:graphicFrame>
        <p:nvGraphicFramePr>
          <p:cNvPr id="4" name="Chart">
            <a:extLst xmlns:a="http://schemas.openxmlformats.org/drawingml/2006/main">
              <a:ext uri="{FF2B5EF4-FFF2-40B4-BE49-F238E27FC236}">
                <a16:creationId xmlns:a16="http://schemas.microsoft.com/office/drawing/2014/main" id="{DD75CB29-9AD7-4BE0-B691-C9F549652191}"/>
              </a:ext>
            </a:extLst>
          </p:cNvPr>
          <p:cNvGraphicFramePr/>
          <p:nvPr/>
        </p:nvGraphicFramePr>
        <p:xfrm>
          <a:off xmlns:a="http://schemas.openxmlformats.org/drawingml/2006/main" x="552450" y="1714500"/>
          <a:ext xmlns:a="http://schemas.openxmlformats.org/drawingml/2006/main" cx="6858000" cy="4286250"/>
        </p:xfrm>
        <a:graphic xmlns:a="http://schemas.openxmlformats.org/drawingml/2006/main">
          <a:graphicData uri="http://schemas.openxmlformats.org/drawingml/2006/chart">
            <c:chart xmlns:r="http://schemas.openxmlformats.org/officeDocument/2006/relationships" xmlns:c="http://schemas.openxmlformats.org/drawingml/2006/chart" r:id="R05cefe17d62d41f5"/>
          </a:graphicData>
        </a:graphic>
      </p:graphicFrame>
    </p:spTree>
    <p:extLst>
      <p:ext uri="{BB962C8B-B14F-4D97-AF65-F5344CB8AC3E}">
        <p14:creationId xmlns:p14="http://schemas.microsoft.com/office/powerpoint/2010/main" val="122028161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46">
            <a:extLst xmlns:a="http://schemas.openxmlformats.org/drawingml/2006/main">
              <a:ext uri="{FF2B5EF4-FFF2-40B4-BE49-F238E27FC236}">
                <a16:creationId xmlns:a16="http://schemas.microsoft.com/office/drawing/2014/main" id="{60CF8823-4EB3-4DD2-AD0A-3F1D422BB50C}"/>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fit and apply temperature scaling?</a:t>
            </a:r>
          </a:p>
        </p:txBody>
      </p:sp>
      <p:sp>
        <p:nvSpPr>
          <p:cNvPr id="3" name="Answer bullets">
            <a:extLst xmlns:a="http://schemas.openxmlformats.org/drawingml/2006/main">
              <a:ext uri="{FF2B5EF4-FFF2-40B4-BE49-F238E27FC236}">
                <a16:creationId xmlns:a16="http://schemas.microsoft.com/office/drawing/2014/main" id="{F2A196A2-212B-4A12-A8A5-50BF5D714F9E}"/>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How: converted probabilities into log odds and divided them by a positive temperature</a:t>
            </a:r>
          </a:p>
          <a:p xmlns:a="http://schemas.openxmlformats.org/drawingml/2006/main">
            <a:pPr marL="228600" indent="-114300">
              <a:spcAft>
                <a:spcPts val="1800"/>
              </a:spcAft>
              <a:buChar char="•"/>
              <a:defRPr sz="2325" b="0">
                <a:solidFill>
                  <a:srgbClr val="152C3B"/>
                </a:solidFill>
                <a:latin typeface="Arial"/>
                <a:ea typeface="Arial"/>
                <a:cs typeface="Arial"/>
              </a:defRPr>
            </a:pPr>
            <a:r>
              <a:t>Fitted that one parameter by minimising log loss on the separate calibration period, within 0.25 to 4</a:t>
            </a:r>
          </a:p>
          <a:p xmlns:a="http://schemas.openxmlformats.org/drawingml/2006/main">
            <a:pPr marL="228600" indent="-114300">
              <a:spcAft>
                <a:spcPts val="1800"/>
              </a:spcAft>
              <a:buChar char="•"/>
              <a:defRPr sz="2325" b="0">
                <a:solidFill>
                  <a:srgbClr val="152C3B"/>
                </a:solidFill>
                <a:latin typeface="Arial"/>
                <a:ea typeface="Arial"/>
                <a:cs typeface="Arial"/>
              </a:defRPr>
            </a:pPr>
            <a:r>
              <a:t>Applied the fitted value unchanged to final predictions; ranking was preserved</a:t>
            </a:r>
          </a:p>
          <a:p xmlns:a="http://schemas.openxmlformats.org/drawingml/2006/main">
            <a:pPr marL="228600" indent="-114300">
              <a:spcAft>
                <a:spcPts val="1800"/>
              </a:spcAft>
              <a:buChar char="•"/>
              <a:defRPr sz="2325" b="0">
                <a:solidFill>
                  <a:srgbClr val="152C3B"/>
                </a:solidFill>
                <a:latin typeface="Arial"/>
                <a:ea typeface="Arial"/>
                <a:cs typeface="Arial"/>
              </a:defRPr>
            </a:pPr>
            <a:r>
              <a:t>Why: test confidence adjustment without refitting weights or selecting a version on final outcomes</a:t>
            </a:r>
          </a:p>
        </p:txBody>
      </p:sp>
    </p:spTree>
    <p:extLst>
      <p:ext uri="{BB962C8B-B14F-4D97-AF65-F5344CB8AC3E}">
        <p14:creationId xmlns:p14="http://schemas.microsoft.com/office/powerpoint/2010/main" val="853188845"/>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47">
            <a:extLst xmlns:a="http://schemas.openxmlformats.org/drawingml/2006/main">
              <a:ext uri="{FF2B5EF4-FFF2-40B4-BE49-F238E27FC236}">
                <a16:creationId xmlns:a16="http://schemas.microsoft.com/office/drawing/2014/main" id="{4E036B6F-C05C-4DF2-A02D-C67BAA88267B}"/>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check calibration visually?</a:t>
            </a:r>
          </a:p>
        </p:txBody>
      </p:sp>
      <p:sp>
        <p:nvSpPr>
          <p:cNvPr id="3" name="Answer bullets">
            <a:extLst xmlns:a="http://schemas.openxmlformats.org/drawingml/2006/main">
              <a:ext uri="{FF2B5EF4-FFF2-40B4-BE49-F238E27FC236}">
                <a16:creationId xmlns:a16="http://schemas.microsoft.com/office/drawing/2014/main" id="{301AB359-C860-47FD-AE85-3B8E9177A98B}"/>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Grouped averaged probabilities into ten fixed bins</a:t>
            </a:r>
          </a:p>
          <a:p xmlns:a="http://schemas.openxmlformats.org/drawingml/2006/main">
            <a:pPr marL="228600" indent="-114300">
              <a:spcAft>
                <a:spcPts val="1600"/>
              </a:spcAft>
              <a:buChar char="•"/>
              <a:defRPr sz="2100" b="0">
                <a:solidFill>
                  <a:srgbClr val="152C3B"/>
                </a:solidFill>
                <a:latin typeface="Arial"/>
                <a:ea typeface="Arial"/>
                <a:cs typeface="Arial"/>
              </a:defRPr>
            </a:pPr>
            <a:r>
              <a:t>Compared mean predictions with observed win fractions</a:t>
            </a:r>
          </a:p>
          <a:p xmlns:a="http://schemas.openxmlformats.org/drawingml/2006/main">
            <a:pPr marL="228600" indent="-114300">
              <a:spcAft>
                <a:spcPts val="1600"/>
              </a:spcAft>
              <a:buChar char="•"/>
              <a:defRPr sz="2100" b="0">
                <a:solidFill>
                  <a:srgbClr val="152C3B"/>
                </a:solidFill>
                <a:latin typeface="Arial"/>
                <a:ea typeface="Arial"/>
                <a:cs typeface="Arial"/>
              </a:defRPr>
            </a:pPr>
            <a:r>
              <a:t>Why: check confidence alongside probability losses</a:t>
            </a:r>
          </a:p>
          <a:p xmlns:a="http://schemas.openxmlformats.org/drawingml/2006/main">
            <a:pPr marL="228600" indent="-114300">
              <a:spcAft>
                <a:spcPts val="1600"/>
              </a:spcAft>
              <a:buChar char="•"/>
              <a:defRPr sz="2100" b="0">
                <a:solidFill>
                  <a:srgbClr val="152C3B"/>
                </a:solidFill>
                <a:latin typeface="Arial"/>
                <a:ea typeface="Arial"/>
                <a:cs typeface="Arial"/>
              </a:defRPr>
            </a:pPr>
            <a:r>
              <a:t>Sparse bins and dependent games limit interpretation</a:t>
            </a:r>
          </a:p>
        </p:txBody>
      </p:sp>
      <p:graphicFrame>
        <p:nvGraphicFramePr>
          <p:cNvPr id="4" name="Chart">
            <a:extLst xmlns:a="http://schemas.openxmlformats.org/drawingml/2006/main">
              <a:ext uri="{FF2B5EF4-FFF2-40B4-BE49-F238E27FC236}">
                <a16:creationId xmlns:a16="http://schemas.microsoft.com/office/drawing/2014/main" id="{64CE609F-4D10-411E-A4DC-DE2DB60DA5B5}"/>
              </a:ext>
            </a:extLst>
          </p:cNvPr>
          <p:cNvGraphicFramePr/>
          <p:nvPr/>
        </p:nvGraphicFramePr>
        <p:xfrm>
          <a:off xmlns:a="http://schemas.openxmlformats.org/drawingml/2006/main" x="552450" y="1714500"/>
          <a:ext xmlns:a="http://schemas.openxmlformats.org/drawingml/2006/main" cx="6858000" cy="4286250"/>
        </p:xfrm>
        <a:graphic xmlns:a="http://schemas.openxmlformats.org/drawingml/2006/main">
          <a:graphicData uri="http://schemas.openxmlformats.org/drawingml/2006/chart">
            <c:chart xmlns:r="http://schemas.openxmlformats.org/officeDocument/2006/relationships" xmlns:c="http://schemas.openxmlformats.org/drawingml/2006/chart" r:id="R0e07a300f194425f"/>
          </a:graphicData>
        </a:graphic>
      </p:graphicFrame>
    </p:spTree>
    <p:extLst>
      <p:ext uri="{BB962C8B-B14F-4D97-AF65-F5344CB8AC3E}">
        <p14:creationId xmlns:p14="http://schemas.microsoft.com/office/powerpoint/2010/main" val="12515020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48">
            <a:extLst xmlns:a="http://schemas.openxmlformats.org/drawingml/2006/main">
              <a:ext uri="{FF2B5EF4-FFF2-40B4-BE49-F238E27FC236}">
                <a16:creationId xmlns:a16="http://schemas.microsoft.com/office/drawing/2014/main" id="{C811BAB3-63B1-42CE-9687-73B1D8ED0A35}"/>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B3: How uncertain was the performance difference?</a:t>
            </a:r>
          </a:p>
        </p:txBody>
      </p:sp>
      <p:sp>
        <p:nvSpPr>
          <p:cNvPr id="3" name="Answer bullets">
            <a:extLst xmlns:a="http://schemas.openxmlformats.org/drawingml/2006/main">
              <a:ext uri="{FF2B5EF4-FFF2-40B4-BE49-F238E27FC236}">
                <a16:creationId xmlns:a16="http://schemas.microsoft.com/office/drawing/2014/main" id="{E601A1E0-5AF3-4139-8C94-A48D2DE8436B}"/>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Did: paired whole match and UTC day block bootstraps</a:t>
            </a:r>
          </a:p>
          <a:p xmlns:a="http://schemas.openxmlformats.org/drawingml/2006/main">
            <a:pPr marL="228600" indent="-114300">
              <a:spcAft>
                <a:spcPts val="1600"/>
              </a:spcAft>
              <a:buChar char="•"/>
              <a:defRPr sz="2100" b="0">
                <a:solidFill>
                  <a:srgbClr val="152C3B"/>
                </a:solidFill>
                <a:latin typeface="Arial"/>
                <a:ea typeface="Arial"/>
                <a:cs typeface="Arial"/>
              </a:defRPr>
            </a:pPr>
            <a:r>
              <a:t>Why: estimate uncertainty while keeping the model comparison matched</a:t>
            </a:r>
          </a:p>
          <a:p xmlns:a="http://schemas.openxmlformats.org/drawingml/2006/main">
            <a:pPr marL="228600" indent="-114300">
              <a:spcAft>
                <a:spcPts val="1600"/>
              </a:spcAft>
              <a:buChar char="•"/>
              <a:defRPr sz="2100" b="0">
                <a:solidFill>
                  <a:srgbClr val="152C3B"/>
                </a:solidFill>
                <a:latin typeface="Arial"/>
                <a:ea typeface="Arial"/>
                <a:cs typeface="Arial"/>
              </a:defRPr>
            </a:pPr>
            <a:r>
              <a:t>Observed logistic minus neural AUC: 0.0057</a:t>
            </a:r>
          </a:p>
          <a:p xmlns:a="http://schemas.openxmlformats.org/drawingml/2006/main">
            <a:pPr marL="228600" indent="-114300">
              <a:spcAft>
                <a:spcPts val="1600"/>
              </a:spcAft>
              <a:buChar char="•"/>
              <a:defRPr sz="2100" b="0">
                <a:solidFill>
                  <a:srgbClr val="152C3B"/>
                </a:solidFill>
                <a:latin typeface="Arial"/>
                <a:ea typeface="Arial"/>
                <a:cs typeface="Arial"/>
              </a:defRPr>
            </a:pPr>
            <a:r>
              <a:t>Both AUC intervals favour logistic; the accuracy interval includes zero</a:t>
            </a:r>
          </a:p>
        </p:txBody>
      </p:sp>
      <p:graphicFrame>
        <p:nvGraphicFramePr>
          <p:cNvPr id="4" name="Chart">
            <a:extLst xmlns:a="http://schemas.openxmlformats.org/drawingml/2006/main">
              <a:ext uri="{FF2B5EF4-FFF2-40B4-BE49-F238E27FC236}">
                <a16:creationId xmlns:a16="http://schemas.microsoft.com/office/drawing/2014/main" id="{1A51537C-8D3F-4E34-8584-E100B02BB83A}"/>
              </a:ext>
            </a:extLst>
          </p:cNvPr>
          <p:cNvGraphicFramePr/>
          <p:nvPr/>
        </p:nvGraphicFramePr>
        <p:xfrm>
          <a:off xmlns:a="http://schemas.openxmlformats.org/drawingml/2006/main" x="552450" y="1714500"/>
          <a:ext xmlns:a="http://schemas.openxmlformats.org/drawingml/2006/main" cx="6858000" cy="4286250"/>
        </p:xfrm>
        <a:graphic xmlns:a="http://schemas.openxmlformats.org/drawingml/2006/main">
          <a:graphicData uri="http://schemas.openxmlformats.org/drawingml/2006/chart">
            <c:chart xmlns:r="http://schemas.openxmlformats.org/officeDocument/2006/relationships" xmlns:c="http://schemas.openxmlformats.org/drawingml/2006/chart" r:id="Re4199b6783404a9b"/>
          </a:graphicData>
        </a:graphic>
      </p:graphicFrame>
    </p:spTree>
    <p:extLst>
      <p:ext uri="{BB962C8B-B14F-4D97-AF65-F5344CB8AC3E}">
        <p14:creationId xmlns:p14="http://schemas.microsoft.com/office/powerpoint/2010/main" val="1557375442"/>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49">
            <a:extLst xmlns:a="http://schemas.openxmlformats.org/drawingml/2006/main">
              <a:ext uri="{FF2B5EF4-FFF2-40B4-BE49-F238E27FC236}">
                <a16:creationId xmlns:a16="http://schemas.microsoft.com/office/drawing/2014/main" id="{5F328A66-015C-45C0-A0AB-9F701EAC6512}"/>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the paired performance bootstrap work?</a:t>
            </a:r>
          </a:p>
        </p:txBody>
      </p:sp>
      <p:sp>
        <p:nvSpPr>
          <p:cNvPr id="3" name="Answer bullets">
            <a:extLst xmlns:a="http://schemas.openxmlformats.org/drawingml/2006/main">
              <a:ext uri="{FF2B5EF4-FFF2-40B4-BE49-F238E27FC236}">
                <a16:creationId xmlns:a16="http://schemas.microsoft.com/office/drawing/2014/main" id="{54CF32DC-A738-4CAB-B158-7A3CAEA26FAA}"/>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How: aligned logistic and neural predictions by match and averaged probabilities across the fixed seeds</a:t>
            </a:r>
          </a:p>
          <a:p xmlns:a="http://schemas.openxmlformats.org/drawingml/2006/main">
            <a:pPr marL="228600" indent="-114300">
              <a:spcAft>
                <a:spcPts val="1800"/>
              </a:spcAft>
              <a:buChar char="•"/>
              <a:defRPr sz="2325" b="0">
                <a:solidFill>
                  <a:srgbClr val="152C3B"/>
                </a:solidFill>
                <a:latin typeface="Arial"/>
                <a:ea typeface="Arial"/>
                <a:cs typeface="Arial"/>
              </a:defRPr>
            </a:pPr>
            <a:r>
              <a:t>Resampled whole matches with replacement 1,000 times and evaluated both models on each identical resample</a:t>
            </a:r>
          </a:p>
          <a:p xmlns:a="http://schemas.openxmlformats.org/drawingml/2006/main">
            <a:pPr marL="228600" indent="-114300">
              <a:spcAft>
                <a:spcPts val="1800"/>
              </a:spcAft>
              <a:buChar char="•"/>
              <a:defRPr sz="2325" b="0">
                <a:solidFill>
                  <a:srgbClr val="152C3B"/>
                </a:solidFill>
                <a:latin typeface="Arial"/>
                <a:ea typeface="Arial"/>
                <a:cs typeface="Arial"/>
              </a:defRPr>
            </a:pPr>
            <a:r>
              <a:t>Saved logistic minus neural metric differences; the 2.5th and 97.5th percentiles formed the interval</a:t>
            </a:r>
          </a:p>
          <a:p xmlns:a="http://schemas.openxmlformats.org/drawingml/2006/main">
            <a:pPr marL="228600" indent="-114300">
              <a:spcAft>
                <a:spcPts val="1800"/>
              </a:spcAft>
              <a:buChar char="•"/>
              <a:defRPr sz="2325" b="0">
                <a:solidFill>
                  <a:srgbClr val="152C3B"/>
                </a:solidFill>
                <a:latin typeface="Arial"/>
                <a:ea typeface="Arial"/>
                <a:cs typeface="Arial"/>
              </a:defRPr>
            </a:pPr>
            <a:r>
              <a:t>Why: quantify match sample uncertainty for fixed predictions rather than treat seed spread as a confidence interval</a:t>
            </a:r>
          </a:p>
        </p:txBody>
      </p:sp>
    </p:spTree>
    <p:extLst>
      <p:ext uri="{BB962C8B-B14F-4D97-AF65-F5344CB8AC3E}">
        <p14:creationId xmlns:p14="http://schemas.microsoft.com/office/powerpoint/2010/main" val="991191744"/>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50">
            <a:extLst xmlns:a="http://schemas.openxmlformats.org/drawingml/2006/main">
              <a:ext uri="{FF2B5EF4-FFF2-40B4-BE49-F238E27FC236}">
                <a16:creationId xmlns:a16="http://schemas.microsoft.com/office/drawing/2014/main" id="{49223C7F-EC53-4EE5-8BC8-D253B76B9BD1}"/>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Why did I also resample complete UTC days?</a:t>
            </a:r>
          </a:p>
        </p:txBody>
      </p:sp>
      <p:sp>
        <p:nvSpPr>
          <p:cNvPr id="3" name="Answer bullets">
            <a:extLst xmlns:a="http://schemas.openxmlformats.org/drawingml/2006/main">
              <a:ext uri="{FF2B5EF4-FFF2-40B4-BE49-F238E27FC236}">
                <a16:creationId xmlns:a16="http://schemas.microsoft.com/office/drawing/2014/main" id="{9CC78774-12A4-473D-80C8-C84F821A802C}"/>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How: grouped the primary final matches into 49 UTC day blocks</a:t>
            </a:r>
          </a:p>
          <a:p xmlns:a="http://schemas.openxmlformats.org/drawingml/2006/main">
            <a:pPr marL="228600" indent="-114300">
              <a:spcAft>
                <a:spcPts val="1800"/>
              </a:spcAft>
              <a:buChar char="•"/>
              <a:defRPr sz="2325" b="0">
                <a:solidFill>
                  <a:srgbClr val="152C3B"/>
                </a:solidFill>
                <a:latin typeface="Arial"/>
                <a:ea typeface="Arial"/>
                <a:cs typeface="Arial"/>
              </a:defRPr>
            </a:pPr>
            <a:r>
              <a:t>Sampled complete days with replacement, retaining all games from each selected day</a:t>
            </a:r>
          </a:p>
          <a:p xmlns:a="http://schemas.openxmlformats.org/drawingml/2006/main">
            <a:pPr marL="228600" indent="-114300">
              <a:spcAft>
                <a:spcPts val="1800"/>
              </a:spcAft>
              <a:buChar char="•"/>
              <a:defRPr sz="2325" b="0">
                <a:solidFill>
                  <a:srgbClr val="152C3B"/>
                </a:solidFill>
                <a:latin typeface="Arial"/>
                <a:ea typeface="Arial"/>
                <a:cs typeface="Arial"/>
              </a:defRPr>
            </a:pPr>
            <a:r>
              <a:t>Why: games played on the same day can be dependent</a:t>
            </a:r>
          </a:p>
          <a:p xmlns:a="http://schemas.openxmlformats.org/drawingml/2006/main">
            <a:pPr marL="228600" indent="-114300">
              <a:spcAft>
                <a:spcPts val="1800"/>
              </a:spcAft>
              <a:buChar char="•"/>
              <a:defRPr sz="2325" b="0">
                <a:solidFill>
                  <a:srgbClr val="152C3B"/>
                </a:solidFill>
                <a:latin typeface="Arial"/>
                <a:ea typeface="Arial"/>
                <a:cs typeface="Arial"/>
              </a:defRPr>
            </a:pPr>
            <a:r>
              <a:t>This was a sensitivity check, not a verified tournament series bootstrap or proof that all dependence was removed</a:t>
            </a:r>
          </a:p>
        </p:txBody>
      </p:sp>
    </p:spTree>
    <p:extLst>
      <p:ext uri="{BB962C8B-B14F-4D97-AF65-F5344CB8AC3E}">
        <p14:creationId xmlns:p14="http://schemas.microsoft.com/office/powerpoint/2010/main" val="2137660976"/>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51">
            <a:extLst xmlns:a="http://schemas.openxmlformats.org/drawingml/2006/main">
              <a:ext uri="{FF2B5EF4-FFF2-40B4-BE49-F238E27FC236}">
                <a16:creationId xmlns:a16="http://schemas.microsoft.com/office/drawing/2014/main" id="{8CDA5A96-6B10-44F9-87D6-27DC1F4E21DB}"/>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Why were the two reported AUC differences not identical?</a:t>
            </a:r>
          </a:p>
        </p:txBody>
      </p:sp>
      <p:sp>
        <p:nvSpPr>
          <p:cNvPr id="3" name="Answer bullets">
            <a:extLst xmlns:a="http://schemas.openxmlformats.org/drawingml/2006/main">
              <a:ext uri="{FF2B5EF4-FFF2-40B4-BE49-F238E27FC236}">
                <a16:creationId xmlns:a16="http://schemas.microsoft.com/office/drawing/2014/main" id="{C776ED91-A5CF-4E0D-AF45-16FB6E669537}"/>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The table averages each seed’s AUC; its logistic minus neural difference is 0.0064</a:t>
            </a:r>
          </a:p>
          <a:p xmlns:a="http://schemas.openxmlformats.org/drawingml/2006/main">
            <a:pPr marL="228600" indent="-114300">
              <a:spcAft>
                <a:spcPts val="1800"/>
              </a:spcAft>
              <a:buChar char="•"/>
              <a:defRPr sz="2325" b="0">
                <a:solidFill>
                  <a:srgbClr val="152C3B"/>
                </a:solidFill>
                <a:latin typeface="Arial"/>
                <a:ea typeface="Arial"/>
                <a:cs typeface="Arial"/>
              </a:defRPr>
            </a:pPr>
            <a:r>
              <a:t>The paired analysis first averages probabilities, then computes AUC; its difference is 0.0057</a:t>
            </a:r>
          </a:p>
          <a:p xmlns:a="http://schemas.openxmlformats.org/drawingml/2006/main">
            <a:pPr marL="228600" indent="-114300">
              <a:spcAft>
                <a:spcPts val="1800"/>
              </a:spcAft>
              <a:buChar char="•"/>
              <a:defRPr sz="2325" b="0">
                <a:solidFill>
                  <a:srgbClr val="152C3B"/>
                </a:solidFill>
                <a:latin typeface="Arial"/>
                <a:ea typeface="Arial"/>
                <a:cs typeface="Arial"/>
              </a:defRPr>
            </a:pPr>
            <a:r>
              <a:t>AUC is nonlinear, so changing the order of averaging and scoring can change the answer</a:t>
            </a:r>
          </a:p>
          <a:p xmlns:a="http://schemas.openxmlformats.org/drawingml/2006/main">
            <a:pPr marL="228600" indent="-114300">
              <a:spcAft>
                <a:spcPts val="1800"/>
              </a:spcAft>
              <a:buChar char="•"/>
              <a:defRPr sz="2325" b="0">
                <a:solidFill>
                  <a:srgbClr val="152C3B"/>
                </a:solidFill>
                <a:latin typeface="Arial"/>
                <a:ea typeface="Arial"/>
                <a:cs typeface="Arial"/>
              </a:defRPr>
            </a:pPr>
            <a:r>
              <a:t>Resolution: label the two summaries explicitly; this is a definition difference, not a corrected model result</a:t>
            </a:r>
          </a:p>
        </p:txBody>
      </p:sp>
    </p:spTree>
    <p:extLst>
      <p:ext uri="{BB962C8B-B14F-4D97-AF65-F5344CB8AC3E}">
        <p14:creationId xmlns:p14="http://schemas.microsoft.com/office/powerpoint/2010/main" val="661277381"/>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52">
            <a:extLst xmlns:a="http://schemas.openxmlformats.org/drawingml/2006/main">
              <a:ext uri="{FF2B5EF4-FFF2-40B4-BE49-F238E27FC236}">
                <a16:creationId xmlns:a16="http://schemas.microsoft.com/office/drawing/2014/main" id="{BE525820-2102-4F33-8760-B21AE6DB035B}"/>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B3: Were KPI rankings stable across seeds?</a:t>
            </a:r>
          </a:p>
        </p:txBody>
      </p:sp>
      <p:sp>
        <p:nvSpPr>
          <p:cNvPr id="3" name="Answer bullets">
            <a:extLst xmlns:a="http://schemas.openxmlformats.org/drawingml/2006/main">
              <a:ext uri="{FF2B5EF4-FFF2-40B4-BE49-F238E27FC236}">
                <a16:creationId xmlns:a16="http://schemas.microsoft.com/office/drawing/2014/main" id="{C7AE8D68-F74D-4913-87F5-63799DCD52AD}"/>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Did: repeated training with seeds 0, 1 and 2</a:t>
            </a:r>
          </a:p>
          <a:p xmlns:a="http://schemas.openxmlformats.org/drawingml/2006/main">
            <a:pPr marL="228600" indent="-114300">
              <a:spcAft>
                <a:spcPts val="1600"/>
              </a:spcAft>
              <a:buChar char="•"/>
              <a:defRPr sz="2100" b="0">
                <a:solidFill>
                  <a:srgbClr val="152C3B"/>
                </a:solidFill>
                <a:latin typeface="Arial"/>
                <a:ea typeface="Arial"/>
                <a:cs typeface="Arial"/>
              </a:defRPr>
            </a:pPr>
            <a:r>
              <a:t>Why: a single run can hide sensitivity to random initialisation</a:t>
            </a:r>
          </a:p>
          <a:p xmlns:a="http://schemas.openxmlformats.org/drawingml/2006/main">
            <a:pPr marL="228600" indent="-114300">
              <a:spcAft>
                <a:spcPts val="1600"/>
              </a:spcAft>
              <a:buChar char="•"/>
              <a:defRPr sz="2100" b="0">
                <a:solidFill>
                  <a:srgbClr val="152C3B"/>
                </a:solidFill>
                <a:latin typeface="Arial"/>
                <a:ea typeface="Arial"/>
                <a:cs typeface="Arial"/>
              </a:defRPr>
            </a:pPr>
            <a:r>
              <a:t>Compared Spearman rank order; 100 on the chart means identical order</a:t>
            </a:r>
          </a:p>
          <a:p xmlns:a="http://schemas.openxmlformats.org/drawingml/2006/main">
            <a:pPr marL="228600" indent="-114300">
              <a:spcAft>
                <a:spcPts val="1600"/>
              </a:spcAft>
              <a:buChar char="•"/>
              <a:defRPr sz="2100" b="0">
                <a:solidFill>
                  <a:srgbClr val="152C3B"/>
                </a:solidFill>
                <a:latin typeface="Arial"/>
                <a:ea typeface="Arial"/>
                <a:cs typeface="Arial"/>
              </a:defRPr>
            </a:pPr>
            <a:r>
              <a:t>Logistic repeats deterministically; neural ranks varied most</a:t>
            </a:r>
          </a:p>
        </p:txBody>
      </p:sp>
      <p:graphicFrame>
        <p:nvGraphicFramePr>
          <p:cNvPr id="4" name="Chart">
            <a:extLst xmlns:a="http://schemas.openxmlformats.org/drawingml/2006/main">
              <a:ext uri="{FF2B5EF4-FFF2-40B4-BE49-F238E27FC236}">
                <a16:creationId xmlns:a16="http://schemas.microsoft.com/office/drawing/2014/main" id="{284F6CF8-E5DF-4D6F-948F-F8E75E094C7C}"/>
              </a:ext>
            </a:extLst>
          </p:cNvPr>
          <p:cNvGraphicFramePr/>
          <p:nvPr/>
        </p:nvGraphicFramePr>
        <p:xfrm>
          <a:off xmlns:a="http://schemas.openxmlformats.org/drawingml/2006/main" x="552450" y="1714500"/>
          <a:ext xmlns:a="http://schemas.openxmlformats.org/drawingml/2006/main" cx="6858000" cy="4286250"/>
        </p:xfrm>
        <a:graphic xmlns:a="http://schemas.openxmlformats.org/drawingml/2006/main">
          <a:graphicData uri="http://schemas.openxmlformats.org/drawingml/2006/chart">
            <c:chart xmlns:r="http://schemas.openxmlformats.org/officeDocument/2006/relationships" xmlns:c="http://schemas.openxmlformats.org/drawingml/2006/chart" r:id="Rba2984ff3d2e4b56"/>
          </a:graphicData>
        </a:graphic>
      </p:graphicFrame>
    </p:spTree>
    <p:extLst>
      <p:ext uri="{BB962C8B-B14F-4D97-AF65-F5344CB8AC3E}">
        <p14:creationId xmlns:p14="http://schemas.microsoft.com/office/powerpoint/2010/main" val="889691353"/>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53">
            <a:extLst xmlns:a="http://schemas.openxmlformats.org/drawingml/2006/main">
              <a:ext uri="{FF2B5EF4-FFF2-40B4-BE49-F238E27FC236}">
                <a16:creationId xmlns:a16="http://schemas.microsoft.com/office/drawing/2014/main" id="{505BCC09-D608-4400-84C0-89254F6EE0D0}"/>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calculate agreement between KPI rankings?</a:t>
            </a:r>
          </a:p>
        </p:txBody>
      </p:sp>
      <p:sp>
        <p:nvSpPr>
          <p:cNvPr id="3" name="Answer bullets">
            <a:extLst xmlns:a="http://schemas.openxmlformats.org/drawingml/2006/main">
              <a:ext uri="{FF2B5EF4-FFF2-40B4-BE49-F238E27FC236}">
                <a16:creationId xmlns:a16="http://schemas.microsoft.com/office/drawing/2014/main" id="{6219E05E-4702-4121-A149-ABA944A56C12}"/>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How: aligned the same features and compared their ordered ranks using Spearman correlation</a:t>
            </a:r>
          </a:p>
          <a:p xmlns:a="http://schemas.openxmlformats.org/drawingml/2006/main">
            <a:pPr marL="228600" indent="-114300">
              <a:spcAft>
                <a:spcPts val="1800"/>
              </a:spcAft>
              <a:buChar char="•"/>
              <a:defRPr sz="2325" b="0">
                <a:solidFill>
                  <a:srgbClr val="152C3B"/>
                </a:solidFill>
                <a:latin typeface="Arial"/>
                <a:ea typeface="Arial"/>
                <a:cs typeface="Arial"/>
              </a:defRPr>
            </a:pPr>
            <a:r>
              <a:t>Used every pair among seeds 0, 1 and 2, then reported the mean agreement</a:t>
            </a:r>
          </a:p>
          <a:p xmlns:a="http://schemas.openxmlformats.org/drawingml/2006/main">
            <a:pPr marL="228600" indent="-114300">
              <a:spcAft>
                <a:spcPts val="1800"/>
              </a:spcAft>
              <a:buChar char="•"/>
              <a:defRPr sz="2325" b="0">
                <a:solidFill>
                  <a:srgbClr val="152C3B"/>
                </a:solidFill>
                <a:latin typeface="Arial"/>
                <a:ea typeface="Arial"/>
                <a:cs typeface="Arial"/>
              </a:defRPr>
            </a:pPr>
            <a:r>
              <a:t>Why: compare ordering without assuming that raw SHAP magnitudes have the same scale</a:t>
            </a:r>
          </a:p>
          <a:p xmlns:a="http://schemas.openxmlformats.org/drawingml/2006/main">
            <a:pPr marL="228600" indent="-114300">
              <a:spcAft>
                <a:spcPts val="1800"/>
              </a:spcAft>
              <a:buChar char="•"/>
              <a:defRPr sz="2325" b="0">
                <a:solidFill>
                  <a:srgbClr val="152C3B"/>
                </a:solidFill>
                <a:latin typeface="Arial"/>
                <a:ea typeface="Arial"/>
                <a:cs typeface="Arial"/>
              </a:defRPr>
            </a:pPr>
            <a:r>
              <a:t>This is descriptive agreement; deterministic logistic repeats do not create independent evidence</a:t>
            </a:r>
          </a:p>
        </p:txBody>
      </p:sp>
    </p:spTree>
    <p:extLst>
      <p:ext uri="{BB962C8B-B14F-4D97-AF65-F5344CB8AC3E}">
        <p14:creationId xmlns:p14="http://schemas.microsoft.com/office/powerpoint/2010/main" val="604460396"/>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54">
            <a:extLst xmlns:a="http://schemas.openxmlformats.org/drawingml/2006/main">
              <a:ext uri="{FF2B5EF4-FFF2-40B4-BE49-F238E27FC236}">
                <a16:creationId xmlns:a16="http://schemas.microsoft.com/office/drawing/2014/main" id="{37E123BF-C8D9-4BED-8011-9ECA2FAE2736}"/>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test explanation sample uncertainty?</a:t>
            </a:r>
          </a:p>
        </p:txBody>
      </p:sp>
      <p:sp>
        <p:nvSpPr>
          <p:cNvPr id="3" name="Answer bullets">
            <a:extLst xmlns:a="http://schemas.openxmlformats.org/drawingml/2006/main">
              <a:ext uri="{FF2B5EF4-FFF2-40B4-BE49-F238E27FC236}">
                <a16:creationId xmlns:a16="http://schemas.microsoft.com/office/drawing/2014/main" id="{5ED48B9D-237C-4F4D-9C56-2CAFE46C1DEA}"/>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Did: resampled explained match rows 1,000 times per fitted model</a:t>
            </a:r>
          </a:p>
          <a:p xmlns:a="http://schemas.openxmlformats.org/drawingml/2006/main">
            <a:pPr marL="228600" indent="-114300">
              <a:spcAft>
                <a:spcPts val="1600"/>
              </a:spcAft>
              <a:buChar char="•"/>
              <a:defRPr sz="2100" b="0">
                <a:solidFill>
                  <a:srgbClr val="152C3B"/>
                </a:solidFill>
                <a:latin typeface="Arial"/>
                <a:ea typeface="Arial"/>
                <a:cs typeface="Arial"/>
              </a:defRPr>
            </a:pPr>
            <a:r>
              <a:t>Why: a ranking can depend on which validation matches are explained</a:t>
            </a:r>
          </a:p>
          <a:p xmlns:a="http://schemas.openxmlformats.org/drawingml/2006/main">
            <a:pPr marL="228600" indent="-114300">
              <a:spcAft>
                <a:spcPts val="1600"/>
              </a:spcAft>
              <a:buChar char="•"/>
              <a:defRPr sz="2100" b="0">
                <a:solidFill>
                  <a:srgbClr val="152C3B"/>
                </a:solidFill>
                <a:latin typeface="Arial"/>
                <a:ea typeface="Arial"/>
                <a:cs typeface="Arial"/>
              </a:defRPr>
            </a:pPr>
            <a:r>
              <a:t>Held model weights fixed and reused the training reference background</a:t>
            </a:r>
          </a:p>
          <a:p xmlns:a="http://schemas.openxmlformats.org/drawingml/2006/main">
            <a:pPr marL="228600" indent="-114300">
              <a:spcAft>
                <a:spcPts val="1600"/>
              </a:spcAft>
              <a:buChar char="•"/>
              <a:defRPr sz="2100" b="0">
                <a:solidFill>
                  <a:srgbClr val="152C3B"/>
                </a:solidFill>
                <a:latin typeface="Arial"/>
                <a:ea typeface="Arial"/>
                <a:cs typeface="Arial"/>
              </a:defRPr>
            </a:pPr>
            <a:r>
              <a:t>This tests explanation sampling, not model retraining</a:t>
            </a:r>
          </a:p>
        </p:txBody>
      </p:sp>
      <p:graphicFrame>
        <p:nvGraphicFramePr>
          <p:cNvPr id="4" name="Chart">
            <a:extLst xmlns:a="http://schemas.openxmlformats.org/drawingml/2006/main">
              <a:ext uri="{FF2B5EF4-FFF2-40B4-BE49-F238E27FC236}">
                <a16:creationId xmlns:a16="http://schemas.microsoft.com/office/drawing/2014/main" id="{FC557D6D-69A6-4FF4-8438-CB5F7E571F8A}"/>
              </a:ext>
            </a:extLst>
          </p:cNvPr>
          <p:cNvGraphicFramePr/>
          <p:nvPr/>
        </p:nvGraphicFramePr>
        <p:xfrm>
          <a:off xmlns:a="http://schemas.openxmlformats.org/drawingml/2006/main" x="552450" y="1714500"/>
          <a:ext xmlns:a="http://schemas.openxmlformats.org/drawingml/2006/main" cx="6858000" cy="4286250"/>
        </p:xfrm>
        <a:graphic xmlns:a="http://schemas.openxmlformats.org/drawingml/2006/main">
          <a:graphicData uri="http://schemas.openxmlformats.org/drawingml/2006/chart">
            <c:chart xmlns:r="http://schemas.openxmlformats.org/officeDocument/2006/relationships" xmlns:c="http://schemas.openxmlformats.org/drawingml/2006/chart" r:id="Re9c9de0f4c4348dc"/>
          </a:graphicData>
        </a:graphic>
      </p:graphicFrame>
    </p:spTree>
    <p:extLst>
      <p:ext uri="{BB962C8B-B14F-4D97-AF65-F5344CB8AC3E}">
        <p14:creationId xmlns:p14="http://schemas.microsoft.com/office/powerpoint/2010/main" val="411150866"/>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55">
            <a:extLst xmlns:a="http://schemas.openxmlformats.org/drawingml/2006/main">
              <a:ext uri="{FF2B5EF4-FFF2-40B4-BE49-F238E27FC236}">
                <a16:creationId xmlns:a16="http://schemas.microsoft.com/office/drawing/2014/main" id="{3D1234F9-1C3C-4464-9D0B-E1A8198B35FE}"/>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What changed when I refitted on resampled training games?</a:t>
            </a:r>
          </a:p>
        </p:txBody>
      </p:sp>
      <p:sp>
        <p:nvSpPr>
          <p:cNvPr id="3" name="Answer bullets">
            <a:extLst xmlns:a="http://schemas.openxmlformats.org/drawingml/2006/main">
              <a:ext uri="{FF2B5EF4-FFF2-40B4-BE49-F238E27FC236}">
                <a16:creationId xmlns:a16="http://schemas.microsoft.com/office/drawing/2014/main" id="{35F97175-F104-43CE-9BBB-470526EFE53D}"/>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Did: refitted each model on 30 resampled training sets</a:t>
            </a:r>
          </a:p>
          <a:p xmlns:a="http://schemas.openxmlformats.org/drawingml/2006/main">
            <a:pPr marL="228600" indent="-114300">
              <a:spcAft>
                <a:spcPts val="1600"/>
              </a:spcAft>
              <a:buChar char="•"/>
              <a:defRPr sz="2100" b="0">
                <a:solidFill>
                  <a:srgbClr val="152C3B"/>
                </a:solidFill>
                <a:latin typeface="Arial"/>
                <a:ea typeface="Arial"/>
                <a:cs typeface="Arial"/>
              </a:defRPr>
            </a:pPr>
            <a:r>
              <a:t>Why: test sensitivity to the observed training games</a:t>
            </a:r>
          </a:p>
          <a:p xmlns:a="http://schemas.openxmlformats.org/drawingml/2006/main">
            <a:pPr marL="228600" indent="-114300">
              <a:spcAft>
                <a:spcPts val="1600"/>
              </a:spcAft>
              <a:buChar char="•"/>
              <a:defRPr sz="2100" b="0">
                <a:solidFill>
                  <a:srgbClr val="152C3B"/>
                </a:solidFill>
                <a:latin typeface="Arial"/>
                <a:ea typeface="Arial"/>
                <a:cs typeface="Arial"/>
              </a:defRPr>
            </a:pPr>
            <a:r>
              <a:t>Net worth entered the top three in every refit</a:t>
            </a:r>
          </a:p>
          <a:p xmlns:a="http://schemas.openxmlformats.org/drawingml/2006/main">
            <a:pPr marL="228600" indent="-114300">
              <a:spcAft>
                <a:spcPts val="1600"/>
              </a:spcAft>
              <a:buChar char="•"/>
              <a:defRPr sz="2100" b="0">
                <a:solidFill>
                  <a:srgbClr val="152C3B"/>
                </a:solidFill>
                <a:latin typeface="Arial"/>
                <a:ea typeface="Arial"/>
                <a:cs typeface="Arial"/>
              </a:defRPr>
            </a:pPr>
            <a:r>
              <a:t>Other ranks varied despite a fixed seed and explanation sample</a:t>
            </a:r>
          </a:p>
        </p:txBody>
      </p:sp>
      <p:graphicFrame>
        <p:nvGraphicFramePr>
          <p:cNvPr id="4" name="Chart">
            <a:extLst xmlns:a="http://schemas.openxmlformats.org/drawingml/2006/main">
              <a:ext uri="{FF2B5EF4-FFF2-40B4-BE49-F238E27FC236}">
                <a16:creationId xmlns:a16="http://schemas.microsoft.com/office/drawing/2014/main" id="{E35FE3B7-1640-41E7-96A2-C4E337B1898E}"/>
              </a:ext>
            </a:extLst>
          </p:cNvPr>
          <p:cNvGraphicFramePr/>
          <p:nvPr/>
        </p:nvGraphicFramePr>
        <p:xfrm>
          <a:off xmlns:a="http://schemas.openxmlformats.org/drawingml/2006/main" x="552450" y="1714500"/>
          <a:ext xmlns:a="http://schemas.openxmlformats.org/drawingml/2006/main" cx="6858000" cy="4286250"/>
        </p:xfrm>
        <a:graphic xmlns:a="http://schemas.openxmlformats.org/drawingml/2006/main">
          <a:graphicData uri="http://schemas.openxmlformats.org/drawingml/2006/chart">
            <c:chart xmlns:r="http://schemas.openxmlformats.org/officeDocument/2006/relationships" xmlns:c="http://schemas.openxmlformats.org/drawingml/2006/chart" r:id="Re606caa7b4aa41c3"/>
          </a:graphicData>
        </a:graphic>
      </p:graphicFrame>
    </p:spTree>
    <p:extLst>
      <p:ext uri="{BB962C8B-B14F-4D97-AF65-F5344CB8AC3E}">
        <p14:creationId xmlns:p14="http://schemas.microsoft.com/office/powerpoint/2010/main" val="1675697086"/>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56">
            <a:extLst xmlns:a="http://schemas.openxmlformats.org/drawingml/2006/main">
              <a:ext uri="{FF2B5EF4-FFF2-40B4-BE49-F238E27FC236}">
                <a16:creationId xmlns:a16="http://schemas.microsoft.com/office/drawing/2014/main" id="{937A4B30-4EB6-4A28-B7E7-FD17BE60D65C}"/>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Why did I keep three uncertainty checks separate?</a:t>
            </a:r>
          </a:p>
        </p:txBody>
      </p:sp>
      <p:sp>
        <p:nvSpPr>
          <p:cNvPr id="3" name="Answer bullets">
            <a:extLst xmlns:a="http://schemas.openxmlformats.org/drawingml/2006/main">
              <a:ext uri="{FF2B5EF4-FFF2-40B4-BE49-F238E27FC236}">
                <a16:creationId xmlns:a16="http://schemas.microsoft.com/office/drawing/2014/main" id="{7913CB3D-CE20-47DA-B193-CCA6EA832291}"/>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Changing training seeds tested randomness in fitting and initialisation</a:t>
            </a:r>
          </a:p>
          <a:p xmlns:a="http://schemas.openxmlformats.org/drawingml/2006/main">
            <a:pPr marL="228600" indent="-114300">
              <a:spcAft>
                <a:spcPts val="1800"/>
              </a:spcAft>
              <a:buChar char="•"/>
              <a:defRPr sz="2325" b="0">
                <a:solidFill>
                  <a:srgbClr val="152C3B"/>
                </a:solidFill>
                <a:latin typeface="Arial"/>
                <a:ea typeface="Arial"/>
                <a:cs typeface="Arial"/>
              </a:defRPr>
            </a:pPr>
            <a:r>
              <a:t>Resampling explanation matches held model weights fixed and tested which matches were explained</a:t>
            </a:r>
          </a:p>
          <a:p xmlns:a="http://schemas.openxmlformats.org/drawingml/2006/main">
            <a:pPr marL="228600" indent="-114300">
              <a:spcAft>
                <a:spcPts val="1800"/>
              </a:spcAft>
              <a:buChar char="•"/>
              <a:defRPr sz="2325" b="0">
                <a:solidFill>
                  <a:srgbClr val="152C3B"/>
                </a:solidFill>
                <a:latin typeface="Arial"/>
                <a:ea typeface="Arial"/>
                <a:cs typeface="Arial"/>
              </a:defRPr>
            </a:pPr>
            <a:r>
              <a:t>Refitting on resampled training matches tested sensitivity to the observed training sample</a:t>
            </a:r>
          </a:p>
          <a:p xmlns:a="http://schemas.openxmlformats.org/drawingml/2006/main">
            <a:pPr marL="228600" indent="-114300">
              <a:spcAft>
                <a:spcPts val="1800"/>
              </a:spcAft>
              <a:buChar char="•"/>
              <a:defRPr sz="2325" b="0">
                <a:solidFill>
                  <a:srgbClr val="152C3B"/>
                </a:solidFill>
                <a:latin typeface="Arial"/>
                <a:ea typeface="Arial"/>
                <a:cs typeface="Arial"/>
              </a:defRPr>
            </a:pPr>
            <a:r>
              <a:t>Why: these procedures answer different questions; none measures all uncertainty or future domain changes</a:t>
            </a:r>
          </a:p>
        </p:txBody>
      </p:sp>
    </p:spTree>
    <p:extLst>
      <p:ext uri="{BB962C8B-B14F-4D97-AF65-F5344CB8AC3E}">
        <p14:creationId xmlns:p14="http://schemas.microsoft.com/office/powerpoint/2010/main" val="941752198"/>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57">
            <a:extLst xmlns:a="http://schemas.openxmlformats.org/drawingml/2006/main">
              <a:ext uri="{FF2B5EF4-FFF2-40B4-BE49-F238E27FC236}">
                <a16:creationId xmlns:a16="http://schemas.microsoft.com/office/drawing/2014/main" id="{639384F1-C253-41A0-952A-D2742872F752}"/>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make the movement comparison fair?</a:t>
            </a:r>
          </a:p>
        </p:txBody>
      </p:sp>
      <p:sp>
        <p:nvSpPr>
          <p:cNvPr id="3" name="Answer bullets">
            <a:extLst xmlns:a="http://schemas.openxmlformats.org/drawingml/2006/main">
              <a:ext uri="{FF2B5EF4-FFF2-40B4-BE49-F238E27FC236}">
                <a16:creationId xmlns:a16="http://schemas.microsoft.com/office/drawing/2014/main" id="{1C4B2832-D5AA-4B07-9963-2577F2D918CB}"/>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Did: used development trajectories from the first 20 minutes</a:t>
            </a:r>
          </a:p>
          <a:p xmlns:a="http://schemas.openxmlformats.org/drawingml/2006/main">
            <a:pPr marL="228600" indent="-114300">
              <a:spcAft>
                <a:spcPts val="1800"/>
              </a:spcAft>
              <a:buChar char="•"/>
              <a:defRPr sz="2325" b="0">
                <a:solidFill>
                  <a:srgbClr val="152C3B"/>
                </a:solidFill>
                <a:latin typeface="Arial"/>
                <a:ea typeface="Arial"/>
                <a:cs typeface="Arial"/>
              </a:defRPr>
            </a:pPr>
            <a:r>
              <a:t>Matched the native and minute measurements to identical segment endpoints</a:t>
            </a:r>
          </a:p>
          <a:p xmlns:a="http://schemas.openxmlformats.org/drawingml/2006/main">
            <a:pPr marL="228600" indent="-114300">
              <a:spcAft>
                <a:spcPts val="1800"/>
              </a:spcAft>
              <a:buChar char="•"/>
              <a:defRPr sz="2325" b="0">
                <a:solidFill>
                  <a:srgbClr val="152C3B"/>
                </a:solidFill>
                <a:latin typeface="Arial"/>
                <a:ea typeface="Arial"/>
                <a:cs typeface="Arial"/>
              </a:defRPr>
            </a:pPr>
            <a:r>
              <a:t>Split at deaths, timing gaps and implausible jumps</a:t>
            </a:r>
          </a:p>
          <a:p xmlns:a="http://schemas.openxmlformats.org/drawingml/2006/main">
            <a:pPr marL="228600" indent="-114300">
              <a:spcAft>
                <a:spcPts val="1800"/>
              </a:spcAft>
              <a:buChar char="•"/>
              <a:defRPr sz="2325" b="0">
                <a:solidFill>
                  <a:srgbClr val="152C3B"/>
                </a:solidFill>
                <a:latin typeface="Arial"/>
                <a:ea typeface="Arial"/>
                <a:cs typeface="Arial"/>
              </a:defRPr>
            </a:pPr>
            <a:r>
              <a:t>Why: avoid counting missing paths or teleports as walking distance</a:t>
            </a:r>
          </a:p>
          <a:p xmlns:a="http://schemas.openxmlformats.org/drawingml/2006/main">
            <a:pPr marL="228600" indent="-114300">
              <a:spcAft>
                <a:spcPts val="1800"/>
              </a:spcAft>
              <a:buChar char="•"/>
              <a:defRPr sz="2325" b="0">
                <a:solidFill>
                  <a:srgbClr val="152C3B"/>
                </a:solidFill>
                <a:latin typeface="Arial"/>
                <a:ea typeface="Arial"/>
                <a:cs typeface="Arial"/>
              </a:defRPr>
            </a:pPr>
            <a:r>
              <a:t>Native sampling remains approximate, and filtering restricts coverage</a:t>
            </a:r>
          </a:p>
        </p:txBody>
      </p:sp>
    </p:spTree>
    <p:extLst>
      <p:ext uri="{BB962C8B-B14F-4D97-AF65-F5344CB8AC3E}">
        <p14:creationId xmlns:p14="http://schemas.microsoft.com/office/powerpoint/2010/main" val="257182377"/>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58">
            <a:extLst xmlns:a="http://schemas.openxmlformats.org/drawingml/2006/main">
              <a:ext uri="{FF2B5EF4-FFF2-40B4-BE49-F238E27FC236}">
                <a16:creationId xmlns:a16="http://schemas.microsoft.com/office/drawing/2014/main" id="{F90B5CBE-129B-44FA-86CE-D778B39C9631}"/>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How did I calculate native and minute sampled distances?</a:t>
            </a:r>
          </a:p>
        </p:txBody>
      </p:sp>
      <p:sp>
        <p:nvSpPr>
          <p:cNvPr id="3" name="Answer bullets">
            <a:extLst xmlns:a="http://schemas.openxmlformats.org/drawingml/2006/main">
              <a:ext uri="{FF2B5EF4-FFF2-40B4-BE49-F238E27FC236}">
                <a16:creationId xmlns:a16="http://schemas.microsoft.com/office/drawing/2014/main" id="{D6EC50B0-D4AD-4CB7-84FD-4F0B213B30C3}"/>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How: summed straight line displacements between consecutive valid native positions</a:t>
            </a:r>
          </a:p>
          <a:p xmlns:a="http://schemas.openxmlformats.org/drawingml/2006/main">
            <a:pPr marL="228600" indent="-114300">
              <a:spcAft>
                <a:spcPts val="1800"/>
              </a:spcAft>
              <a:buChar char="•"/>
              <a:defRPr sz="2325" b="0">
                <a:solidFill>
                  <a:srgbClr val="152C3B"/>
                </a:solidFill>
                <a:latin typeface="Arial"/>
                <a:ea typeface="Arial"/>
                <a:cs typeface="Arial"/>
              </a:defRPr>
            </a:pPr>
            <a:r>
              <a:t>Compared that sum with the direct chord between the same eligible minute endpoints</a:t>
            </a:r>
          </a:p>
          <a:p xmlns:a="http://schemas.openxmlformats.org/drawingml/2006/main">
            <a:pPr marL="228600" indent="-114300">
              <a:spcAft>
                <a:spcPts val="1800"/>
              </a:spcAft>
              <a:buChar char="•"/>
              <a:defRPr sz="2325" b="0">
                <a:solidFill>
                  <a:srgbClr val="152C3B"/>
                </a:solidFill>
                <a:latin typeface="Arial"/>
                <a:ea typeface="Arial"/>
                <a:cs typeface="Arial"/>
              </a:defRPr>
            </a:pPr>
            <a:r>
              <a:t>Rejected death boundaries, gaps over 1.2 seconds and speed based implausible jumps</a:t>
            </a:r>
          </a:p>
          <a:p xmlns:a="http://schemas.openxmlformats.org/drawingml/2006/main">
            <a:pPr marL="228600" indent="-114300">
              <a:spcAft>
                <a:spcPts val="1800"/>
              </a:spcAft>
              <a:buChar char="•"/>
              <a:defRPr sz="2325" b="0">
                <a:solidFill>
                  <a:srgbClr val="152C3B"/>
                </a:solidFill>
                <a:latin typeface="Arial"/>
                <a:ea typeface="Arial"/>
                <a:cs typeface="Arial"/>
              </a:defRPr>
            </a:pPr>
            <a:r>
              <a:t>Why: compare measurement resolution on matched paths; map coordinates were not treated as metres</a:t>
            </a:r>
          </a:p>
        </p:txBody>
      </p:sp>
    </p:spTree>
    <p:extLst>
      <p:ext uri="{BB962C8B-B14F-4D97-AF65-F5344CB8AC3E}">
        <p14:creationId xmlns:p14="http://schemas.microsoft.com/office/powerpoint/2010/main" val="2113434260"/>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59">
            <a:extLst xmlns:a="http://schemas.openxmlformats.org/drawingml/2006/main">
              <a:ext uri="{FF2B5EF4-FFF2-40B4-BE49-F238E27FC236}">
                <a16:creationId xmlns:a16="http://schemas.microsoft.com/office/drawing/2014/main" id="{2922141D-AF0B-4310-93A0-8F469A303515}"/>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C1: How much movement did minute sampling retain?</a:t>
            </a:r>
          </a:p>
        </p:txBody>
      </p:sp>
      <p:sp>
        <p:nvSpPr>
          <p:cNvPr id="3" name="Answer bullets">
            <a:extLst xmlns:a="http://schemas.openxmlformats.org/drawingml/2006/main">
              <a:ext uri="{FF2B5EF4-FFF2-40B4-BE49-F238E27FC236}">
                <a16:creationId xmlns:a16="http://schemas.microsoft.com/office/drawing/2014/main" id="{7D2DACC5-649D-4D52-B1F5-3AAD8CBF1773}"/>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Did: compared minute chords with native sampled paths</a:t>
            </a:r>
          </a:p>
          <a:p xmlns:a="http://schemas.openxmlformats.org/drawingml/2006/main">
            <a:pPr marL="228600" indent="-114300">
              <a:spcAft>
                <a:spcPts val="1600"/>
              </a:spcAft>
              <a:buChar char="•"/>
              <a:defRPr sz="2100" b="0">
                <a:solidFill>
                  <a:srgbClr val="152C3B"/>
                </a:solidFill>
                <a:latin typeface="Arial"/>
                <a:ea typeface="Arial"/>
                <a:cs typeface="Arial"/>
              </a:defRPr>
            </a:pPr>
            <a:r>
              <a:t>At zero offset, the median retained fraction was 27.9%</a:t>
            </a:r>
          </a:p>
          <a:p xmlns:a="http://schemas.openxmlformats.org/drawingml/2006/main">
            <a:pPr marL="228600" indent="-114300">
              <a:spcAft>
                <a:spcPts val="1600"/>
              </a:spcAft>
              <a:buChar char="•"/>
              <a:defRPr sz="2100" b="0">
                <a:solidFill>
                  <a:srgbClr val="152C3B"/>
                </a:solidFill>
                <a:latin typeface="Arial"/>
                <a:ea typeface="Arial"/>
                <a:cs typeface="Arial"/>
              </a:defRPr>
            </a:pPr>
            <a:r>
              <a:t>Why: quantify the size of sampling distortion, not just its expected direction</a:t>
            </a:r>
          </a:p>
          <a:p xmlns:a="http://schemas.openxmlformats.org/drawingml/2006/main">
            <a:pPr marL="228600" indent="-114300">
              <a:spcAft>
                <a:spcPts val="1600"/>
              </a:spcAft>
              <a:buChar char="•"/>
              <a:defRPr sz="2100" b="0">
                <a:solidFill>
                  <a:srgbClr val="152C3B"/>
                </a:solidFill>
                <a:latin typeface="Arial"/>
                <a:ea typeface="Arial"/>
                <a:cs typeface="Arial"/>
              </a:defRPr>
            </a:pPr>
            <a:r>
              <a:t>This concerns matched continuous segments, not total match walking distance</a:t>
            </a:r>
          </a:p>
        </p:txBody>
      </p:sp>
      <p:graphicFrame>
        <p:nvGraphicFramePr>
          <p:cNvPr id="4" name="Chart">
            <a:extLst xmlns:a="http://schemas.openxmlformats.org/drawingml/2006/main">
              <a:ext uri="{FF2B5EF4-FFF2-40B4-BE49-F238E27FC236}">
                <a16:creationId xmlns:a16="http://schemas.microsoft.com/office/drawing/2014/main" id="{9E7D9C57-2813-43BB-A85F-4BDF6D6E8BC1}"/>
              </a:ext>
            </a:extLst>
          </p:cNvPr>
          <p:cNvGraphicFramePr/>
          <p:nvPr/>
        </p:nvGraphicFramePr>
        <p:xfrm>
          <a:off xmlns:a="http://schemas.openxmlformats.org/drawingml/2006/main" x="552450" y="1714500"/>
          <a:ext xmlns:a="http://schemas.openxmlformats.org/drawingml/2006/main" cx="6858000" cy="4286250"/>
        </p:xfrm>
        <a:graphic xmlns:a="http://schemas.openxmlformats.org/drawingml/2006/main">
          <a:graphicData uri="http://schemas.openxmlformats.org/drawingml/2006/chart">
            <c:chart xmlns:r="http://schemas.openxmlformats.org/officeDocument/2006/relationships" xmlns:c="http://schemas.openxmlformats.org/drawingml/2006/chart" r:id="R676a9bdbf61f49cf"/>
          </a:graphicData>
        </a:graphic>
      </p:graphicFrame>
    </p:spTree>
    <p:extLst>
      <p:ext uri="{BB962C8B-B14F-4D97-AF65-F5344CB8AC3E}">
        <p14:creationId xmlns:p14="http://schemas.microsoft.com/office/powerpoint/2010/main" val="1988488455"/>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60">
            <a:extLst xmlns:a="http://schemas.openxmlformats.org/drawingml/2006/main">
              <a:ext uri="{FF2B5EF4-FFF2-40B4-BE49-F238E27FC236}">
                <a16:creationId xmlns:a16="http://schemas.microsoft.com/office/drawing/2014/main" id="{3321CEBA-A495-4700-953A-83316D9FE90C}"/>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Why did I report a median, IQR and a bootstrap interval?</a:t>
            </a:r>
          </a:p>
        </p:txBody>
      </p:sp>
      <p:sp>
        <p:nvSpPr>
          <p:cNvPr id="3" name="Answer bullets">
            <a:extLst xmlns:a="http://schemas.openxmlformats.org/drawingml/2006/main">
              <a:ext uri="{FF2B5EF4-FFF2-40B4-BE49-F238E27FC236}">
                <a16:creationId xmlns:a16="http://schemas.microsoft.com/office/drawing/2014/main" id="{EBCDFC85-8ED8-404B-828C-75506B4747F1}"/>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How: aggregated paired distances by match and computed the coarse to native ratio</a:t>
            </a:r>
          </a:p>
          <a:p xmlns:a="http://schemas.openxmlformats.org/drawingml/2006/main">
            <a:pPr marL="228600" indent="-114300">
              <a:spcAft>
                <a:spcPts val="1800"/>
              </a:spcAft>
              <a:buChar char="•"/>
              <a:defRPr sz="2325" b="0">
                <a:solidFill>
                  <a:srgbClr val="152C3B"/>
                </a:solidFill>
                <a:latin typeface="Arial"/>
                <a:ea typeface="Arial"/>
                <a:cs typeface="Arial"/>
              </a:defRPr>
            </a:pPr>
            <a:r>
              <a:t>Reported the median as a typical match and the interquartile range as the middle half of matches</a:t>
            </a:r>
          </a:p>
          <a:p xmlns:a="http://schemas.openxmlformats.org/drawingml/2006/main">
            <a:pPr marL="228600" indent="-114300">
              <a:spcAft>
                <a:spcPts val="1800"/>
              </a:spcAft>
              <a:buChar char="•"/>
              <a:defRPr sz="2325" b="0">
                <a:solidFill>
                  <a:srgbClr val="152C3B"/>
                </a:solidFill>
                <a:latin typeface="Arial"/>
                <a:ea typeface="Arial"/>
                <a:cs typeface="Arial"/>
              </a:defRPr>
            </a:pPr>
            <a:r>
              <a:t>Resampled whole matches 1,000 times to describe uncertainty in the median</a:t>
            </a:r>
          </a:p>
          <a:p xmlns:a="http://schemas.openxmlformats.org/drawingml/2006/main">
            <a:pPr marL="228600" indent="-114300">
              <a:spcAft>
                <a:spcPts val="1800"/>
              </a:spcAft>
              <a:buChar char="•"/>
              <a:defRPr sz="2325" b="0">
                <a:solidFill>
                  <a:srgbClr val="152C3B"/>
                </a:solidFill>
                <a:latin typeface="Arial"/>
                <a:ea typeface="Arial"/>
                <a:cs typeface="Arial"/>
              </a:defRPr>
            </a:pPr>
            <a:r>
              <a:t>Why: avoid a few long paths dominating the summary; intervals remain conditional on eligible segments</a:t>
            </a:r>
          </a:p>
        </p:txBody>
      </p:sp>
    </p:spTree>
    <p:extLst>
      <p:ext uri="{BB962C8B-B14F-4D97-AF65-F5344CB8AC3E}">
        <p14:creationId xmlns:p14="http://schemas.microsoft.com/office/powerpoint/2010/main" val="1060952168"/>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61">
            <a:extLst xmlns:a="http://schemas.openxmlformats.org/drawingml/2006/main">
              <a:ext uri="{FF2B5EF4-FFF2-40B4-BE49-F238E27FC236}">
                <a16:creationId xmlns:a16="http://schemas.microsoft.com/office/drawing/2014/main" id="{78961157-D222-4D69-83C6-ACF9A5252E96}"/>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Did the minute grid offset change the result?</a:t>
            </a:r>
          </a:p>
        </p:txBody>
      </p:sp>
      <p:sp>
        <p:nvSpPr>
          <p:cNvPr id="3" name="Answer bullets">
            <a:extLst xmlns:a="http://schemas.openxmlformats.org/drawingml/2006/main">
              <a:ext uri="{FF2B5EF4-FFF2-40B4-BE49-F238E27FC236}">
                <a16:creationId xmlns:a16="http://schemas.microsoft.com/office/drawing/2014/main" id="{0ECFD0DA-59DD-43DD-8FD4-B4BAB6AF4AB5}"/>
              </a:ext>
            </a:extLst>
          </p:cNvPr>
          <p:cNvSpPr>
            <a:spLocks xmlns:a="http://schemas.openxmlformats.org/drawingml/2006/main" noGrp="1"/>
          </p:cNvSpPr>
          <p:nvPr/>
        </p:nvSpPr>
        <p:spPr>
          <a:xfrm xmlns:a="http://schemas.openxmlformats.org/drawingml/2006/main">
            <a:off x="7848600" y="1866900"/>
            <a:ext cx="37719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52C3B"/>
                </a:solidFill>
                <a:latin typeface="Arial"/>
                <a:ea typeface="Arial"/>
                <a:cs typeface="Arial"/>
              </a:defRPr>
            </a:defPPr>
            <a:lvl1pPr>
              <a:defRPr sz="2100" b="0">
                <a:solidFill>
                  <a:srgbClr val="152C3B"/>
                </a:solidFill>
                <a:latin typeface="Arial"/>
                <a:ea typeface="Arial"/>
                <a:cs typeface="Arial"/>
              </a:defRPr>
            </a:lvl1pPr>
            <a:lvl2pPr>
              <a:defRPr sz="2100" b="0">
                <a:solidFill>
                  <a:srgbClr val="152C3B"/>
                </a:solidFill>
                <a:latin typeface="Arial"/>
                <a:ea typeface="Arial"/>
                <a:cs typeface="Arial"/>
              </a:defRPr>
            </a:lvl2pPr>
            <a:lvl3pPr>
              <a:defRPr sz="2100" b="0">
                <a:solidFill>
                  <a:srgbClr val="152C3B"/>
                </a:solidFill>
                <a:latin typeface="Arial"/>
                <a:ea typeface="Arial"/>
                <a:cs typeface="Arial"/>
              </a:defRPr>
            </a:lvl3pPr>
            <a:lvl4pPr>
              <a:defRPr sz="2100" b="0">
                <a:solidFill>
                  <a:srgbClr val="152C3B"/>
                </a:solidFill>
                <a:latin typeface="Arial"/>
                <a:ea typeface="Arial"/>
                <a:cs typeface="Arial"/>
              </a:defRPr>
            </a:lvl4pPr>
            <a:lvl5pPr>
              <a:defRPr sz="2100" b="0">
                <a:solidFill>
                  <a:srgbClr val="152C3B"/>
                </a:solidFill>
                <a:latin typeface="Arial"/>
                <a:ea typeface="Arial"/>
                <a:cs typeface="Arial"/>
              </a:defRPr>
            </a:lvl5pPr>
            <a:lvl6pPr>
              <a:defRPr sz="2100" b="0">
                <a:solidFill>
                  <a:srgbClr val="152C3B"/>
                </a:solidFill>
                <a:latin typeface="Arial"/>
                <a:ea typeface="Arial"/>
                <a:cs typeface="Arial"/>
              </a:defRPr>
            </a:lvl6pPr>
            <a:lvl7pPr>
              <a:defRPr sz="2100" b="0">
                <a:solidFill>
                  <a:srgbClr val="152C3B"/>
                </a:solidFill>
                <a:latin typeface="Arial"/>
                <a:ea typeface="Arial"/>
                <a:cs typeface="Arial"/>
              </a:defRPr>
            </a:lvl7pPr>
            <a:lvl8pPr>
              <a:defRPr sz="2100" b="0">
                <a:solidFill>
                  <a:srgbClr val="152C3B"/>
                </a:solidFill>
                <a:latin typeface="Arial"/>
                <a:ea typeface="Arial"/>
                <a:cs typeface="Arial"/>
              </a:defRPr>
            </a:lvl8pPr>
            <a:lvl9pPr>
              <a:defRPr sz="2100" b="0">
                <a:solidFill>
                  <a:srgbClr val="152C3B"/>
                </a:solidFill>
                <a:latin typeface="Arial"/>
                <a:ea typeface="Arial"/>
                <a:cs typeface="Arial"/>
              </a:defRPr>
            </a:lvl9pPr>
          </a:lstStyle>
          <a:p xmlns:a="http://schemas.openxmlformats.org/drawingml/2006/main">
            <a:pPr marL="228600" indent="-114300">
              <a:spcAft>
                <a:spcPts val="1600"/>
              </a:spcAft>
              <a:buChar char="•"/>
              <a:defRPr sz="2100" b="0">
                <a:solidFill>
                  <a:srgbClr val="152C3B"/>
                </a:solidFill>
                <a:latin typeface="Arial"/>
                <a:ea typeface="Arial"/>
                <a:cs typeface="Arial"/>
              </a:defRPr>
            </a:pPr>
            <a:r>
              <a:t>Did: compared all offsets on 559 common development matches</a:t>
            </a:r>
          </a:p>
          <a:p xmlns:a="http://schemas.openxmlformats.org/drawingml/2006/main">
            <a:pPr marL="228600" indent="-114300">
              <a:spcAft>
                <a:spcPts val="1600"/>
              </a:spcAft>
              <a:buChar char="•"/>
              <a:defRPr sz="2100" b="0">
                <a:solidFill>
                  <a:srgbClr val="152C3B"/>
                </a:solidFill>
                <a:latin typeface="Arial"/>
                <a:ea typeface="Arial"/>
                <a:cs typeface="Arial"/>
              </a:defRPr>
            </a:pPr>
            <a:r>
              <a:t>Why: hold match membership fixed when comparing sampling grids</a:t>
            </a:r>
          </a:p>
          <a:p xmlns:a="http://schemas.openxmlformats.org/drawingml/2006/main">
            <a:pPr marL="228600" indent="-114300">
              <a:spcAft>
                <a:spcPts val="1600"/>
              </a:spcAft>
              <a:buChar char="•"/>
              <a:defRPr sz="2100" b="0">
                <a:solidFill>
                  <a:srgbClr val="152C3B"/>
                </a:solidFill>
                <a:latin typeface="Arial"/>
                <a:ea typeface="Arial"/>
                <a:cs typeface="Arial"/>
              </a:defRPr>
            </a:pPr>
            <a:r>
              <a:t>The retained fraction remained low across the four offsets</a:t>
            </a:r>
          </a:p>
          <a:p xmlns:a="http://schemas.openxmlformats.org/drawingml/2006/main">
            <a:pPr marL="228600" indent="-114300">
              <a:spcAft>
                <a:spcPts val="1600"/>
              </a:spcAft>
              <a:buChar char="•"/>
              <a:defRPr sz="2100" b="0">
                <a:solidFill>
                  <a:srgbClr val="152C3B"/>
                </a:solidFill>
                <a:latin typeface="Arial"/>
                <a:ea typeface="Arial"/>
                <a:cs typeface="Arial"/>
              </a:defRPr>
            </a:pPr>
            <a:r>
              <a:t>Offsets are correlated; this is not an independent replication</a:t>
            </a:r>
          </a:p>
        </p:txBody>
      </p:sp>
      <p:graphicFrame>
        <p:nvGraphicFramePr>
          <p:cNvPr id="4" name="Chart">
            <a:extLst xmlns:a="http://schemas.openxmlformats.org/drawingml/2006/main">
              <a:ext uri="{FF2B5EF4-FFF2-40B4-BE49-F238E27FC236}">
                <a16:creationId xmlns:a16="http://schemas.microsoft.com/office/drawing/2014/main" id="{96D75BB8-31C6-4257-AF60-236AEAEDB1B7}"/>
              </a:ext>
            </a:extLst>
          </p:cNvPr>
          <p:cNvGraphicFramePr/>
          <p:nvPr/>
        </p:nvGraphicFramePr>
        <p:xfrm>
          <a:off xmlns:a="http://schemas.openxmlformats.org/drawingml/2006/main" x="552450" y="1714500"/>
          <a:ext xmlns:a="http://schemas.openxmlformats.org/drawingml/2006/main" cx="6858000" cy="4286250"/>
        </p:xfrm>
        <a:graphic xmlns:a="http://schemas.openxmlformats.org/drawingml/2006/main">
          <a:graphicData uri="http://schemas.openxmlformats.org/drawingml/2006/chart">
            <c:chart xmlns:r="http://schemas.openxmlformats.org/officeDocument/2006/relationships" xmlns:c="http://schemas.openxmlformats.org/drawingml/2006/chart" r:id="R7e03a3eebd3e47ab"/>
          </a:graphicData>
        </a:graphic>
      </p:graphicFrame>
    </p:spTree>
    <p:extLst>
      <p:ext uri="{BB962C8B-B14F-4D97-AF65-F5344CB8AC3E}">
        <p14:creationId xmlns:p14="http://schemas.microsoft.com/office/powerpoint/2010/main" val="1911597167"/>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62">
            <a:extLst xmlns:a="http://schemas.openxmlformats.org/drawingml/2006/main">
              <a:ext uri="{FF2B5EF4-FFF2-40B4-BE49-F238E27FC236}">
                <a16:creationId xmlns:a16="http://schemas.microsoft.com/office/drawing/2014/main" id="{8E2930C9-A44D-41A4-9EF2-8028FA856318}"/>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C2: Could I test hero, role and item context?</a:t>
            </a:r>
          </a:p>
        </p:txBody>
      </p:sp>
      <p:sp>
        <p:nvSpPr>
          <p:cNvPr id="3" name="Answer bullets">
            <a:extLst xmlns:a="http://schemas.openxmlformats.org/drawingml/2006/main">
              <a:ext uri="{FF2B5EF4-FFF2-40B4-BE49-F238E27FC236}">
                <a16:creationId xmlns:a16="http://schemas.microsoft.com/office/drawing/2014/main" id="{B8167D55-FCB0-40A9-B2AC-296D4CDC8710}"/>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Did: audited role labels and inventory values before extending the model</a:t>
            </a:r>
          </a:p>
          <a:p xmlns:a="http://schemas.openxmlformats.org/drawingml/2006/main">
            <a:pPr marL="228600" indent="-114300">
              <a:spcAft>
                <a:spcPts val="1800"/>
              </a:spcAft>
              <a:buChar char="•"/>
              <a:defRPr sz="2325" b="0">
                <a:solidFill>
                  <a:srgbClr val="152C3B"/>
                </a:solidFill>
                <a:latin typeface="Arial"/>
                <a:ea typeface="Arial"/>
                <a:cs typeface="Arial"/>
              </a:defRPr>
            </a:pPr>
            <a:r>
              <a:t>Why: context must be known at prediction time and sufficiently complete</a:t>
            </a:r>
          </a:p>
          <a:p xmlns:a="http://schemas.openxmlformats.org/drawingml/2006/main">
            <a:pPr marL="228600" indent="-114300">
              <a:spcAft>
                <a:spcPts val="1800"/>
              </a:spcAft>
              <a:buChar char="•"/>
              <a:defRPr sz="2325" b="0">
                <a:solidFill>
                  <a:srgbClr val="152C3B"/>
                </a:solidFill>
                <a:latin typeface="Arial"/>
                <a:ea typeface="Arial"/>
                <a:cs typeface="Arial"/>
              </a:defRPr>
            </a:pPr>
            <a:r>
              <a:t>Deferred the extension: retrospective role timing and generic item values were unresolved</a:t>
            </a:r>
          </a:p>
          <a:p xmlns:a="http://schemas.openxmlformats.org/drawingml/2006/main">
            <a:pPr marL="228600" indent="-114300">
              <a:spcAft>
                <a:spcPts val="1800"/>
              </a:spcAft>
              <a:buChar char="•"/>
              <a:defRPr sz="2325" b="0">
                <a:solidFill>
                  <a:srgbClr val="152C3B"/>
                </a:solidFill>
                <a:latin typeface="Arial"/>
                <a:ea typeface="Arial"/>
                <a:cs typeface="Arial"/>
              </a:defRPr>
            </a:pPr>
            <a:r>
              <a:t>Hero identities supported team mapping; they did not validate behavioural role labels</a:t>
            </a:r>
          </a:p>
        </p:txBody>
      </p:sp>
    </p:spTree>
    <p:extLst>
      <p:ext uri="{BB962C8B-B14F-4D97-AF65-F5344CB8AC3E}">
        <p14:creationId xmlns:p14="http://schemas.microsoft.com/office/powerpoint/2010/main" val="2063229287"/>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63">
            <a:extLst xmlns:a="http://schemas.openxmlformats.org/drawingml/2006/main">
              <a:ext uri="{FF2B5EF4-FFF2-40B4-BE49-F238E27FC236}">
                <a16:creationId xmlns:a16="http://schemas.microsoft.com/office/drawing/2014/main" id="{995105FD-DAD8-42C0-9CCE-F33E9A6B80D4}"/>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What can these findings not establish?</a:t>
            </a:r>
          </a:p>
        </p:txBody>
      </p:sp>
      <p:sp>
        <p:nvSpPr>
          <p:cNvPr id="3" name="Answer bullets">
            <a:extLst xmlns:a="http://schemas.openxmlformats.org/drawingml/2006/main">
              <a:ext uri="{FF2B5EF4-FFF2-40B4-BE49-F238E27FC236}">
                <a16:creationId xmlns:a16="http://schemas.microsoft.com/office/drawing/2014/main" id="{7320D2D1-9B52-4B3F-BA6A-7C3A62D9F10E}"/>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The Dota results do not numerically reproduce the LoL paper</a:t>
            </a:r>
          </a:p>
          <a:p xmlns:a="http://schemas.openxmlformats.org/drawingml/2006/main">
            <a:pPr marL="228600" indent="-114300">
              <a:spcAft>
                <a:spcPts val="1800"/>
              </a:spcAft>
              <a:buChar char="•"/>
              <a:defRPr sz="2325" b="0">
                <a:solidFill>
                  <a:srgbClr val="152C3B"/>
                </a:solidFill>
                <a:latin typeface="Arial"/>
                <a:ea typeface="Arial"/>
                <a:cs typeface="Arial"/>
              </a:defRPr>
            </a:pPr>
            <a:r>
              <a:t>Predictive importance does not show that changing a statistic causes winning</a:t>
            </a:r>
          </a:p>
          <a:p xmlns:a="http://schemas.openxmlformats.org/drawingml/2006/main">
            <a:pPr marL="228600" indent="-114300">
              <a:spcAft>
                <a:spcPts val="1800"/>
              </a:spcAft>
              <a:buChar char="•"/>
              <a:defRPr sz="2325" b="0">
                <a:solidFill>
                  <a:srgbClr val="152C3B"/>
                </a:solidFill>
                <a:latin typeface="Arial"/>
                <a:ea typeface="Arial"/>
                <a:cs typeface="Arial"/>
              </a:defRPr>
            </a:pPr>
            <a:r>
              <a:t>Repeated teams, absent series identifiers and patches limit generalisation</a:t>
            </a:r>
          </a:p>
          <a:p xmlns:a="http://schemas.openxmlformats.org/drawingml/2006/main">
            <a:pPr marL="228600" indent="-114300">
              <a:spcAft>
                <a:spcPts val="1800"/>
              </a:spcAft>
              <a:buChar char="•"/>
              <a:defRPr sz="2325" b="0">
                <a:solidFill>
                  <a:srgbClr val="152C3B"/>
                </a:solidFill>
                <a:latin typeface="Arial"/>
                <a:ea typeface="Arial"/>
                <a:cs typeface="Arial"/>
              </a:defRPr>
            </a:pPr>
            <a:r>
              <a:t>Movement was not added to the predictor; its accuracy effect remains unanswered</a:t>
            </a:r>
          </a:p>
          <a:p xmlns:a="http://schemas.openxmlformats.org/drawingml/2006/main">
            <a:pPr marL="228600" indent="-114300">
              <a:spcAft>
                <a:spcPts val="1800"/>
              </a:spcAft>
              <a:buChar char="•"/>
              <a:defRPr sz="2325" b="0">
                <a:solidFill>
                  <a:srgbClr val="152C3B"/>
                </a:solidFill>
                <a:latin typeface="Arial"/>
                <a:ea typeface="Arial"/>
                <a:cs typeface="Arial"/>
              </a:defRPr>
            </a:pPr>
            <a:r>
              <a:t>New extensions need a new untouched test period; rugby requires a separate dataset</a:t>
            </a:r>
          </a:p>
        </p:txBody>
      </p:sp>
    </p:spTree>
    <p:extLst>
      <p:ext uri="{BB962C8B-B14F-4D97-AF65-F5344CB8AC3E}">
        <p14:creationId xmlns:p14="http://schemas.microsoft.com/office/powerpoint/2010/main" val="1550897070"/>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Question 64">
            <a:extLst xmlns:a="http://schemas.openxmlformats.org/drawingml/2006/main">
              <a:ext uri="{FF2B5EF4-FFF2-40B4-BE49-F238E27FC236}">
                <a16:creationId xmlns:a16="http://schemas.microsoft.com/office/drawing/2014/main" id="{B48BF338-7FEC-4CE6-92DE-76AEDBB5D172}"/>
              </a:ext>
            </a:extLst>
          </p:cNvPr>
          <p:cNvSpPr>
            <a:spLocks xmlns:a="http://schemas.openxmlformats.org/drawingml/2006/main" noGrp="1"/>
          </p:cNvSpPr>
          <p:nvPr/>
        </p:nvSpPr>
        <p:spPr>
          <a:xfrm xmlns:a="http://schemas.openxmlformats.org/drawingml/2006/main">
            <a:off x="552450" y="4000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52C3B"/>
                </a:solidFill>
                <a:latin typeface="Arial"/>
                <a:ea typeface="Arial"/>
                <a:cs typeface="Arial"/>
              </a:defRPr>
            </a:defPPr>
            <a:lvl1pPr>
              <a:defRPr sz="3300" b="1">
                <a:solidFill>
                  <a:srgbClr val="152C3B"/>
                </a:solidFill>
                <a:latin typeface="Arial"/>
                <a:ea typeface="Arial"/>
                <a:cs typeface="Arial"/>
              </a:defRPr>
            </a:lvl1pPr>
            <a:lvl2pPr>
              <a:defRPr sz="3300" b="1">
                <a:solidFill>
                  <a:srgbClr val="152C3B"/>
                </a:solidFill>
                <a:latin typeface="Arial"/>
                <a:ea typeface="Arial"/>
                <a:cs typeface="Arial"/>
              </a:defRPr>
            </a:lvl2pPr>
            <a:lvl3pPr>
              <a:defRPr sz="3300" b="1">
                <a:solidFill>
                  <a:srgbClr val="152C3B"/>
                </a:solidFill>
                <a:latin typeface="Arial"/>
                <a:ea typeface="Arial"/>
                <a:cs typeface="Arial"/>
              </a:defRPr>
            </a:lvl3pPr>
            <a:lvl4pPr>
              <a:defRPr sz="3300" b="1">
                <a:solidFill>
                  <a:srgbClr val="152C3B"/>
                </a:solidFill>
                <a:latin typeface="Arial"/>
                <a:ea typeface="Arial"/>
                <a:cs typeface="Arial"/>
              </a:defRPr>
            </a:lvl4pPr>
            <a:lvl5pPr>
              <a:defRPr sz="3300" b="1">
                <a:solidFill>
                  <a:srgbClr val="152C3B"/>
                </a:solidFill>
                <a:latin typeface="Arial"/>
                <a:ea typeface="Arial"/>
                <a:cs typeface="Arial"/>
              </a:defRPr>
            </a:lvl5pPr>
            <a:lvl6pPr>
              <a:defRPr sz="3300" b="1">
                <a:solidFill>
                  <a:srgbClr val="152C3B"/>
                </a:solidFill>
                <a:latin typeface="Arial"/>
                <a:ea typeface="Arial"/>
                <a:cs typeface="Arial"/>
              </a:defRPr>
            </a:lvl6pPr>
            <a:lvl7pPr>
              <a:defRPr sz="3300" b="1">
                <a:solidFill>
                  <a:srgbClr val="152C3B"/>
                </a:solidFill>
                <a:latin typeface="Arial"/>
                <a:ea typeface="Arial"/>
                <a:cs typeface="Arial"/>
              </a:defRPr>
            </a:lvl7pPr>
            <a:lvl8pPr>
              <a:defRPr sz="3300" b="1">
                <a:solidFill>
                  <a:srgbClr val="152C3B"/>
                </a:solidFill>
                <a:latin typeface="Arial"/>
                <a:ea typeface="Arial"/>
                <a:cs typeface="Arial"/>
              </a:defRPr>
            </a:lvl8pPr>
            <a:lvl9pPr>
              <a:defRPr sz="3300" b="1">
                <a:solidFill>
                  <a:srgbClr val="152C3B"/>
                </a:solidFill>
                <a:latin typeface="Arial"/>
                <a:ea typeface="Arial"/>
                <a:cs typeface="Arial"/>
              </a:defRPr>
            </a:lvl9pPr>
          </a:lstStyle>
          <a:p xmlns:a="http://schemas.openxmlformats.org/drawingml/2006/main">
            <a:pPr>
              <a:defRPr sz="3300" b="1">
                <a:solidFill>
                  <a:srgbClr val="152C3B"/>
                </a:solidFill>
                <a:latin typeface="Arial"/>
                <a:ea typeface="Arial"/>
                <a:cs typeface="Arial"/>
              </a:defRPr>
            </a:pPr>
            <a:r>
              <a:rPr sz="3300" b="1">
                <a:solidFill>
                  <a:srgbClr val="152C3B"/>
                </a:solidFill>
                <a:latin typeface="Arial"/>
                <a:ea typeface="Arial"/>
                <a:cs typeface="Arial"/>
              </a:rPr>
              <a:t>Where can each answer be checked?</a:t>
            </a:r>
          </a:p>
        </p:txBody>
      </p:sp>
      <p:sp>
        <p:nvSpPr>
          <p:cNvPr id="3" name="Answer bullets">
            <a:extLst xmlns:a="http://schemas.openxmlformats.org/drawingml/2006/main">
              <a:ext uri="{FF2B5EF4-FFF2-40B4-BE49-F238E27FC236}">
                <a16:creationId xmlns:a16="http://schemas.microsoft.com/office/drawing/2014/main" id="{6EE5A3AD-318C-4D99-8D90-30A1A49E90E8}"/>
              </a:ext>
            </a:extLst>
          </p:cNvPr>
          <p:cNvSpPr>
            <a:spLocks xmlns:a="http://schemas.openxmlformats.org/drawingml/2006/main" noGrp="1"/>
          </p:cNvSpPr>
          <p:nvPr/>
        </p:nvSpPr>
        <p:spPr>
          <a:xfrm xmlns:a="http://schemas.openxmlformats.org/drawingml/2006/main">
            <a:off x="723900" y="1809750"/>
            <a:ext cx="107061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2C3B"/>
                </a:solidFill>
                <a:latin typeface="Arial"/>
                <a:ea typeface="Arial"/>
                <a:cs typeface="Arial"/>
              </a:defRPr>
            </a:defPPr>
            <a:lvl1pPr>
              <a:defRPr sz="2325" b="0">
                <a:solidFill>
                  <a:srgbClr val="152C3B"/>
                </a:solidFill>
                <a:latin typeface="Arial"/>
                <a:ea typeface="Arial"/>
                <a:cs typeface="Arial"/>
              </a:defRPr>
            </a:lvl1pPr>
            <a:lvl2pPr>
              <a:defRPr sz="2325" b="0">
                <a:solidFill>
                  <a:srgbClr val="152C3B"/>
                </a:solidFill>
                <a:latin typeface="Arial"/>
                <a:ea typeface="Arial"/>
                <a:cs typeface="Arial"/>
              </a:defRPr>
            </a:lvl2pPr>
            <a:lvl3pPr>
              <a:defRPr sz="2325" b="0">
                <a:solidFill>
                  <a:srgbClr val="152C3B"/>
                </a:solidFill>
                <a:latin typeface="Arial"/>
                <a:ea typeface="Arial"/>
                <a:cs typeface="Arial"/>
              </a:defRPr>
            </a:lvl3pPr>
            <a:lvl4pPr>
              <a:defRPr sz="2325" b="0">
                <a:solidFill>
                  <a:srgbClr val="152C3B"/>
                </a:solidFill>
                <a:latin typeface="Arial"/>
                <a:ea typeface="Arial"/>
                <a:cs typeface="Arial"/>
              </a:defRPr>
            </a:lvl4pPr>
            <a:lvl5pPr>
              <a:defRPr sz="2325" b="0">
                <a:solidFill>
                  <a:srgbClr val="152C3B"/>
                </a:solidFill>
                <a:latin typeface="Arial"/>
                <a:ea typeface="Arial"/>
                <a:cs typeface="Arial"/>
              </a:defRPr>
            </a:lvl5pPr>
            <a:lvl6pPr>
              <a:defRPr sz="2325" b="0">
                <a:solidFill>
                  <a:srgbClr val="152C3B"/>
                </a:solidFill>
                <a:latin typeface="Arial"/>
                <a:ea typeface="Arial"/>
                <a:cs typeface="Arial"/>
              </a:defRPr>
            </a:lvl6pPr>
            <a:lvl7pPr>
              <a:defRPr sz="2325" b="0">
                <a:solidFill>
                  <a:srgbClr val="152C3B"/>
                </a:solidFill>
                <a:latin typeface="Arial"/>
                <a:ea typeface="Arial"/>
                <a:cs typeface="Arial"/>
              </a:defRPr>
            </a:lvl7pPr>
            <a:lvl8pPr>
              <a:defRPr sz="2325" b="0">
                <a:solidFill>
                  <a:srgbClr val="152C3B"/>
                </a:solidFill>
                <a:latin typeface="Arial"/>
                <a:ea typeface="Arial"/>
                <a:cs typeface="Arial"/>
              </a:defRPr>
            </a:lvl8pPr>
            <a:lvl9pPr>
              <a:defRPr sz="2325" b="0">
                <a:solidFill>
                  <a:srgbClr val="152C3B"/>
                </a:solidFill>
                <a:latin typeface="Arial"/>
                <a:ea typeface="Arial"/>
                <a:cs typeface="Arial"/>
              </a:defRPr>
            </a:lvl9pPr>
          </a:lstStyle>
          <a:p xmlns:a="http://schemas.openxmlformats.org/drawingml/2006/main">
            <a:pPr marL="228600" indent="-114300">
              <a:spcAft>
                <a:spcPts val="1800"/>
              </a:spcAft>
              <a:buChar char="•"/>
              <a:defRPr sz="2325" b="0">
                <a:solidFill>
                  <a:srgbClr val="152C3B"/>
                </a:solidFill>
                <a:latin typeface="Arial"/>
                <a:ea typeface="Arial"/>
                <a:cs typeface="Arial"/>
              </a:defRPr>
            </a:pPr>
            <a:r>
              <a:t>Did: saved per seed results, predictions, figures and integrity checks</a:t>
            </a:r>
          </a:p>
          <a:p xmlns:a="http://schemas.openxmlformats.org/drawingml/2006/main">
            <a:pPr marL="228600" indent="-114300">
              <a:spcAft>
                <a:spcPts val="1800"/>
              </a:spcAft>
              <a:buChar char="•"/>
              <a:defRPr sz="2325" b="0">
                <a:solidFill>
                  <a:srgbClr val="152C3B"/>
                </a:solidFill>
                <a:latin typeface="Arial"/>
                <a:ea typeface="Arial"/>
                <a:cs typeface="Arial"/>
              </a:defRPr>
            </a:pPr>
            <a:r>
              <a:t>Why: every claim should lead back to code and measured evidence</a:t>
            </a:r>
          </a:p>
          <a:p xmlns:a="http://schemas.openxmlformats.org/drawingml/2006/main">
            <a:pPr marL="228600" indent="-114300">
              <a:spcAft>
                <a:spcPts val="1800"/>
              </a:spcAft>
              <a:buChar char="•"/>
              <a:defRPr sz="2325" b="0">
                <a:solidFill>
                  <a:srgbClr val="152C3B"/>
                </a:solidFill>
                <a:latin typeface="Arial"/>
                <a:ea typeface="Arial"/>
                <a:cs typeface="Arial"/>
              </a:defRPr>
            </a:pPr>
            <a:r>
              <a:t>Seven executed notebooks explain the computations and their limits</a:t>
            </a:r>
          </a:p>
          <a:p xmlns:a="http://schemas.openxmlformats.org/drawingml/2006/main">
            <a:pPr marL="228600" indent="-114300">
              <a:spcAft>
                <a:spcPts val="1800"/>
              </a:spcAft>
              <a:buChar char="•"/>
              <a:defRPr sz="2325" b="0">
                <a:solidFill>
                  <a:srgbClr val="152C3B"/>
                </a:solidFill>
                <a:latin typeface="Arial"/>
                <a:ea typeface="Arial"/>
                <a:cs typeface="Arial"/>
              </a:defRPr>
            </a:pPr>
            <a:r>
              <a:t>The Excel tracker records literature sources, searches and abstract summaries</a:t>
            </a:r>
          </a:p>
          <a:p xmlns:a="http://schemas.openxmlformats.org/drawingml/2006/main">
            <a:pPr marL="228600" indent="-114300">
              <a:spcAft>
                <a:spcPts val="1800"/>
              </a:spcAft>
              <a:buChar char="•"/>
              <a:defRPr sz="2325" b="0">
                <a:solidFill>
                  <a:srgbClr val="152C3B"/>
                </a:solidFill>
                <a:latin typeface="Arial"/>
                <a:ea typeface="Arial"/>
                <a:cs typeface="Arial"/>
              </a:defRPr>
            </a:pPr>
            <a:r>
              <a:t>Repository: github.com/forhadsde/Sports_KPI_Self_Study</a:t>
            </a:r>
          </a:p>
        </p:txBody>
      </p:sp>
    </p:spTree>
    <p:extLst>
      <p:ext uri="{BB962C8B-B14F-4D97-AF65-F5344CB8AC3E}">
        <p14:creationId xmlns:p14="http://schemas.microsoft.com/office/powerpoint/2010/main" val="5142088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64</ns0:Slides>
  <ns0:Notes>64</ns0:Notes>
  <ns0:HiddenSlides>0</ns0:HiddenSlides>
  <ns0:SharedDoc>false</ns0:SharedDoc>
  <ns0:DocSecurity>0</ns0:DocSecurity>
</ns0:Properties>
</file>

<file path=docProps/core.xml><?xml version="1.0" encoding="utf-8"?>
<cp:coreProperties xmlns:cp="http://schemas.openxmlformats.org/package/2006/metadata/core-properties" xmlns:dc="http://purl.org/dc/elements/1.1/" xmlns:dcterms="http://purl.org/dc/terms/" xmlns:xsi="http://www.w3.org/2001/XMLSchema-instance">
  <dc:creator>Md Forhadul Islam</dc:creator>
  <cp:lastModifiedBy>Md Forhadul Islam</cp:lastModifiedBy>
  <dc:title>Dota 2 KPI Study: Methodology, Questions and Troubleshooting</dc:title>
  <dcterms:created xsi:type="dcterms:W3CDTF">2026-10-29T09:09:04.2470000Z</dcterms:created>
  <dcterms:modified xsi:type="dcterms:W3CDTF">2026-10-29T09:09:04.2470000Z</dcterms:modified>
</cp:coreProperties>
</file>